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94" r:id="rId3"/>
    <p:sldId id="257" r:id="rId4"/>
    <p:sldId id="258" r:id="rId5"/>
    <p:sldId id="259" r:id="rId6"/>
    <p:sldId id="260" r:id="rId7"/>
    <p:sldId id="281" r:id="rId8"/>
    <p:sldId id="290" r:id="rId9"/>
    <p:sldId id="282" r:id="rId10"/>
    <p:sldId id="283" r:id="rId11"/>
    <p:sldId id="263" r:id="rId12"/>
    <p:sldId id="285" r:id="rId13"/>
    <p:sldId id="286" r:id="rId14"/>
    <p:sldId id="266" r:id="rId15"/>
    <p:sldId id="265" r:id="rId16"/>
    <p:sldId id="267" r:id="rId17"/>
    <p:sldId id="271" r:id="rId18"/>
    <p:sldId id="270" r:id="rId19"/>
    <p:sldId id="269" r:id="rId20"/>
    <p:sldId id="268" r:id="rId21"/>
    <p:sldId id="272" r:id="rId22"/>
    <p:sldId id="275" r:id="rId23"/>
    <p:sldId id="273" r:id="rId24"/>
    <p:sldId id="274" r:id="rId25"/>
    <p:sldId id="276" r:id="rId26"/>
    <p:sldId id="289" r:id="rId27"/>
    <p:sldId id="293" r:id="rId28"/>
    <p:sldId id="296" r:id="rId29"/>
    <p:sldId id="292" r:id="rId30"/>
    <p:sldId id="279" r:id="rId31"/>
    <p:sldId id="280" r:id="rId32"/>
  </p:sldIdLst>
  <p:sldSz cx="9144000" cy="5143500" type="screen16x9"/>
  <p:notesSz cx="6858000" cy="9144000"/>
  <p:embeddedFontLst>
    <p:embeddedFont>
      <p:font typeface="Noto Sans JP" panose="020B0200000000000000" pitchFamily="34" charset="-128"/>
      <p:regular r:id="rId34"/>
      <p:bold r:id="rId35"/>
    </p:embeddedFont>
    <p:embeddedFont>
      <p:font typeface="Cambria" panose="02040503050406030204" pitchFamily="18" charset="0"/>
      <p:regular r:id="rId36"/>
      <p:bold r:id="rId37"/>
      <p:italic r:id="rId38"/>
      <p:boldItalic r:id="rId39"/>
    </p:embeddedFont>
    <p:embeddedFont>
      <p:font typeface="Consolas" panose="020B0609020204030204"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b3h6Gj+gVaJ2AdPLYTWXC3UZ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75F87A-0009-4137-B362-7513D72C4D89}">
  <a:tblStyle styleId="{1075F87A-0009-4137-B362-7513D72C4D8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621"/>
    <p:restoredTop sz="77329"/>
  </p:normalViewPr>
  <p:slideViewPr>
    <p:cSldViewPr snapToGrid="0">
      <p:cViewPr varScale="1">
        <p:scale>
          <a:sx n="129" d="100"/>
          <a:sy n="129" d="100"/>
        </p:scale>
        <p:origin x="27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お詫び、なるべくスライドを日本語で通したかったのですが、日本語、英語、チェコ語と混ざってしまいました</a:t>
            </a:r>
            <a:r>
              <a:rPr lang="en-US" dirty="0"/>
              <a:t>。</a:t>
            </a:r>
            <a:r>
              <a:rPr lang="ja-JP" altLang="en-US"/>
              <a:t>　</a:t>
            </a:r>
            <a:endParaRPr lang="en-US" dirty="0"/>
          </a:p>
        </p:txBody>
      </p:sp>
    </p:spTree>
    <p:extLst>
      <p:ext uri="{BB962C8B-B14F-4D97-AF65-F5344CB8AC3E}">
        <p14:creationId xmlns:p14="http://schemas.microsoft.com/office/powerpoint/2010/main" val="2476120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solidFill>
                  <a:schemeClr val="dk1"/>
                </a:solidFill>
              </a:rPr>
              <a:t>2.15 </a:t>
            </a:r>
            <a:r>
              <a:rPr lang="en" dirty="0" err="1">
                <a:solidFill>
                  <a:schemeClr val="dk1"/>
                </a:solidFill>
              </a:rPr>
              <a:t>bln</a:t>
            </a:r>
            <a:r>
              <a:rPr lang="en" dirty="0">
                <a:solidFill>
                  <a:schemeClr val="dk1"/>
                </a:solidFill>
              </a:rPr>
              <a:t>. </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6815bc062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6815bc062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原因になるvs。契機となる</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Denali to Mt. McKinley</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endParaRPr lang="en-US" dirty="0"/>
          </a:p>
        </p:txBody>
      </p:sp>
    </p:spTree>
    <p:extLst>
      <p:ext uri="{BB962C8B-B14F-4D97-AF65-F5344CB8AC3E}">
        <p14:creationId xmlns:p14="http://schemas.microsoft.com/office/powerpoint/2010/main" val="2761891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6815bc062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6815bc062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ja-JP" altLang="en-US" sz="1100" b="0" i="0" u="none" strike="noStrike" cap="none">
                <a:solidFill>
                  <a:srgbClr val="000000"/>
                </a:solidFill>
                <a:effectLst/>
                <a:latin typeface="Arial"/>
                <a:ea typeface="Arial"/>
                <a:cs typeface="Arial"/>
                <a:sym typeface="Arial"/>
              </a:rPr>
              <a:t>２つのキーワードのつながりは３つの変量（</a:t>
            </a:r>
            <a:r>
              <a:rPr lang="en-US" sz="1100" b="0" i="0" u="none" strike="noStrike" cap="none" dirty="0">
                <a:solidFill>
                  <a:srgbClr val="000000"/>
                </a:solidFill>
                <a:effectLst/>
                <a:latin typeface="Arial"/>
                <a:ea typeface="Arial"/>
                <a:cs typeface="Arial"/>
                <a:sym typeface="Arial"/>
              </a:rPr>
              <a:t>variable</a:t>
            </a:r>
            <a:r>
              <a:rPr lang="ja-JP" altLang="en-US" sz="1100" b="0" i="0" u="none" strike="noStrike" cap="none">
                <a:solidFill>
                  <a:srgbClr val="000000"/>
                </a:solidFill>
                <a:effectLst/>
                <a:latin typeface="Arial"/>
                <a:ea typeface="Arial"/>
                <a:cs typeface="Arial"/>
                <a:sym typeface="Arial"/>
              </a:rPr>
              <a:t>）で知ることができます。まず、サポート（</a:t>
            </a:r>
            <a:r>
              <a:rPr lang="en-US" sz="1100" b="0" i="0" u="none" strike="noStrike" cap="none" dirty="0">
                <a:solidFill>
                  <a:srgbClr val="000000"/>
                </a:solidFill>
                <a:effectLst/>
                <a:latin typeface="Arial"/>
                <a:ea typeface="Arial"/>
                <a:cs typeface="Arial"/>
                <a:sym typeface="Arial"/>
              </a:rPr>
              <a:t>Support</a:t>
            </a:r>
            <a:r>
              <a:rPr lang="ja-JP" altLang="en-US" sz="1100" b="0" i="0" u="none" strike="noStrike" cap="none">
                <a:solidFill>
                  <a:srgbClr val="000000"/>
                </a:solidFill>
                <a:effectLst/>
                <a:latin typeface="Arial"/>
                <a:ea typeface="Arial"/>
                <a:cs typeface="Arial"/>
                <a:sym typeface="Arial"/>
              </a:rPr>
              <a:t>）は、二つのキーワードが対照コーパス全体にどの程度押し並べて起こるか示します。これは２つの言葉がコーパスのごく一部にしか繋がって起こらないかどうか知ることができます。２つ目のコンフィデンス（</a:t>
            </a:r>
            <a:r>
              <a:rPr lang="en-US" sz="1100" b="0" i="0" u="none" strike="noStrike" cap="none" dirty="0">
                <a:solidFill>
                  <a:srgbClr val="000000"/>
                </a:solidFill>
                <a:effectLst/>
                <a:latin typeface="Arial"/>
                <a:ea typeface="Arial"/>
                <a:cs typeface="Arial"/>
                <a:sym typeface="Arial"/>
              </a:rPr>
              <a:t>Confidence</a:t>
            </a:r>
            <a:r>
              <a:rPr lang="ja-JP" altLang="en-US" sz="1100" b="0" i="0" u="none" strike="noStrike" cap="none">
                <a:solidFill>
                  <a:srgbClr val="000000"/>
                </a:solidFill>
                <a:effectLst/>
                <a:latin typeface="Arial"/>
                <a:ea typeface="Arial"/>
                <a:cs typeface="Arial"/>
                <a:sym typeface="Arial"/>
              </a:rPr>
              <a:t>）は、一つのキーワードがはいっているテキストのうち二番目のキーワードがどのくらい入っているか明らかにします。例えば、キーワードの</a:t>
            </a:r>
            <a:r>
              <a:rPr lang="en-US" sz="1100" b="0" i="0" u="none" strike="noStrike" cap="none" dirty="0">
                <a:solidFill>
                  <a:srgbClr val="000000"/>
                </a:solidFill>
                <a:effectLst/>
                <a:latin typeface="Arial"/>
                <a:ea typeface="Arial"/>
                <a:cs typeface="Arial"/>
                <a:sym typeface="Arial"/>
              </a:rPr>
              <a:t>NATO</a:t>
            </a:r>
            <a:r>
              <a:rPr lang="ja-JP" altLang="en-US" sz="1100" b="0" i="0" u="none" strike="noStrike" cap="none">
                <a:solidFill>
                  <a:srgbClr val="000000"/>
                </a:solidFill>
                <a:effectLst/>
                <a:latin typeface="Arial"/>
                <a:ea typeface="Arial"/>
                <a:cs typeface="Arial"/>
                <a:sym typeface="Arial"/>
              </a:rPr>
              <a:t>に対してキーワードの</a:t>
            </a:r>
            <a:r>
              <a:rPr lang="en-US" sz="1100" b="0" i="0" u="none" strike="noStrike" cap="none" dirty="0">
                <a:solidFill>
                  <a:srgbClr val="000000"/>
                </a:solidFill>
                <a:effectLst/>
                <a:latin typeface="Arial"/>
                <a:ea typeface="Arial"/>
                <a:cs typeface="Arial"/>
                <a:sym typeface="Arial"/>
              </a:rPr>
              <a:t>EU</a:t>
            </a:r>
            <a:r>
              <a:rPr lang="ja-JP" altLang="en-US" sz="1100" b="0" i="0" u="none" strike="noStrike" cap="none">
                <a:solidFill>
                  <a:srgbClr val="000000"/>
                </a:solidFill>
                <a:effectLst/>
                <a:latin typeface="Arial"/>
                <a:ea typeface="Arial"/>
                <a:cs typeface="Arial"/>
                <a:sym typeface="Arial"/>
              </a:rPr>
              <a:t>の</a:t>
            </a:r>
            <a:r>
              <a:rPr lang="en-US" sz="1100" b="0" i="0" u="none" strike="noStrike" cap="none" dirty="0">
                <a:solidFill>
                  <a:srgbClr val="000000"/>
                </a:solidFill>
                <a:effectLst/>
                <a:latin typeface="Arial"/>
                <a:ea typeface="Arial"/>
                <a:cs typeface="Arial"/>
                <a:sym typeface="Arial"/>
              </a:rPr>
              <a:t>Confidence</a:t>
            </a:r>
            <a:r>
              <a:rPr lang="ja-JP" altLang="en-US" sz="1100" b="0" i="0" u="none" strike="noStrike" cap="none">
                <a:solidFill>
                  <a:srgbClr val="000000"/>
                </a:solidFill>
                <a:effectLst/>
                <a:latin typeface="Arial"/>
                <a:ea typeface="Arial"/>
                <a:cs typeface="Arial"/>
                <a:sym typeface="Arial"/>
              </a:rPr>
              <a:t>が</a:t>
            </a:r>
            <a:r>
              <a:rPr lang="en-US" sz="1100" b="0" i="0" u="none" strike="noStrike" cap="none" dirty="0">
                <a:solidFill>
                  <a:srgbClr val="000000"/>
                </a:solidFill>
                <a:effectLst/>
                <a:latin typeface="Arial"/>
                <a:ea typeface="Arial"/>
                <a:cs typeface="Arial"/>
                <a:sym typeface="Arial"/>
              </a:rPr>
              <a:t>50</a:t>
            </a:r>
            <a:r>
              <a:rPr lang="ja-JP" altLang="en-US" sz="1100" b="0" i="0" u="none" strike="noStrike" cap="none">
                <a:solidFill>
                  <a:srgbClr val="000000"/>
                </a:solidFill>
                <a:effectLst/>
                <a:latin typeface="Arial"/>
                <a:ea typeface="Arial"/>
                <a:cs typeface="Arial"/>
                <a:sym typeface="Arial"/>
              </a:rPr>
              <a:t>％ということは</a:t>
            </a:r>
            <a:r>
              <a:rPr lang="en-US" sz="1100" b="0" i="0" u="none" strike="noStrike" cap="none" dirty="0">
                <a:solidFill>
                  <a:srgbClr val="000000"/>
                </a:solidFill>
                <a:effectLst/>
                <a:latin typeface="Arial"/>
                <a:ea typeface="Arial"/>
                <a:cs typeface="Arial"/>
                <a:sym typeface="Arial"/>
              </a:rPr>
              <a:t>NATO</a:t>
            </a:r>
            <a:r>
              <a:rPr lang="ja-JP" altLang="en-US" sz="1100" b="0" i="0" u="none" strike="noStrike" cap="none">
                <a:solidFill>
                  <a:srgbClr val="000000"/>
                </a:solidFill>
                <a:effectLst/>
                <a:latin typeface="Arial"/>
                <a:ea typeface="Arial"/>
                <a:cs typeface="Arial"/>
                <a:sym typeface="Arial"/>
              </a:rPr>
              <a:t>を含んだテキストの</a:t>
            </a:r>
            <a:r>
              <a:rPr lang="en-US" sz="1100" b="0" i="0" u="none" strike="noStrike" cap="none" dirty="0">
                <a:solidFill>
                  <a:srgbClr val="000000"/>
                </a:solidFill>
                <a:effectLst/>
                <a:latin typeface="Arial"/>
                <a:ea typeface="Arial"/>
                <a:cs typeface="Arial"/>
                <a:sym typeface="Arial"/>
              </a:rPr>
              <a:t>50</a:t>
            </a:r>
            <a:r>
              <a:rPr lang="ja-JP" altLang="en-US" sz="1100" b="0" i="0" u="none" strike="noStrike" cap="none">
                <a:solidFill>
                  <a:srgbClr val="000000"/>
                </a:solidFill>
                <a:effectLst/>
                <a:latin typeface="Arial"/>
                <a:ea typeface="Arial"/>
                <a:cs typeface="Arial"/>
                <a:sym typeface="Arial"/>
              </a:rPr>
              <a:t>％に</a:t>
            </a:r>
            <a:r>
              <a:rPr lang="en-US" sz="1100" b="0" i="0" u="none" strike="noStrike" cap="none" dirty="0">
                <a:solidFill>
                  <a:srgbClr val="000000"/>
                </a:solidFill>
                <a:effectLst/>
                <a:latin typeface="Arial"/>
                <a:ea typeface="Arial"/>
                <a:cs typeface="Arial"/>
                <a:sym typeface="Arial"/>
              </a:rPr>
              <a:t>EU</a:t>
            </a:r>
            <a:r>
              <a:rPr lang="ja-JP" altLang="en-US" sz="1100" b="0" i="0" u="none" strike="noStrike" cap="none">
                <a:solidFill>
                  <a:srgbClr val="000000"/>
                </a:solidFill>
                <a:effectLst/>
                <a:latin typeface="Arial"/>
                <a:ea typeface="Arial"/>
                <a:cs typeface="Arial"/>
                <a:sym typeface="Arial"/>
              </a:rPr>
              <a:t>が必ず含まれているということです。最後の変量はリフト（</a:t>
            </a:r>
            <a:r>
              <a:rPr lang="en-US" sz="1100" b="0" i="0" u="none" strike="noStrike" cap="none" dirty="0">
                <a:solidFill>
                  <a:srgbClr val="000000"/>
                </a:solidFill>
                <a:effectLst/>
                <a:latin typeface="Arial"/>
                <a:ea typeface="Arial"/>
                <a:cs typeface="Arial"/>
                <a:sym typeface="Arial"/>
              </a:rPr>
              <a:t>Lift</a:t>
            </a:r>
            <a:r>
              <a:rPr lang="ja-JP" altLang="en-US" sz="1100" b="0" i="0" u="none" strike="noStrike" cap="none">
                <a:solidFill>
                  <a:srgbClr val="000000"/>
                </a:solidFill>
                <a:effectLst/>
                <a:latin typeface="Arial"/>
                <a:ea typeface="Arial"/>
                <a:cs typeface="Arial"/>
                <a:sym typeface="Arial"/>
              </a:rPr>
              <a:t>）で、最終的なキーワードの絆の強さを教えてくれます。これはキーワード</a:t>
            </a:r>
            <a:r>
              <a:rPr lang="en-US" sz="1100" b="0" i="0" u="none" strike="noStrike" cap="none" dirty="0">
                <a:solidFill>
                  <a:srgbClr val="000000"/>
                </a:solidFill>
                <a:effectLst/>
                <a:latin typeface="Arial"/>
                <a:ea typeface="Arial"/>
                <a:cs typeface="Arial"/>
                <a:sym typeface="Arial"/>
              </a:rPr>
              <a:t>A</a:t>
            </a:r>
            <a:r>
              <a:rPr lang="ja-JP" altLang="en-US" sz="1100" b="0" i="0" u="none" strike="noStrike" cap="none">
                <a:solidFill>
                  <a:srgbClr val="000000"/>
                </a:solidFill>
                <a:effectLst/>
                <a:latin typeface="Arial"/>
                <a:ea typeface="Arial"/>
                <a:cs typeface="Arial"/>
                <a:sym typeface="Arial"/>
              </a:rPr>
              <a:t>と</a:t>
            </a:r>
            <a:r>
              <a:rPr lang="en-US" sz="1100" b="0" i="0" u="none" strike="noStrike" cap="none" dirty="0">
                <a:solidFill>
                  <a:srgbClr val="000000"/>
                </a:solidFill>
                <a:effectLst/>
                <a:latin typeface="Arial"/>
                <a:ea typeface="Arial"/>
                <a:cs typeface="Arial"/>
                <a:sym typeface="Arial"/>
              </a:rPr>
              <a:t>B</a:t>
            </a:r>
            <a:r>
              <a:rPr lang="ja-JP" altLang="en-US" sz="1100" b="0" i="0" u="none" strike="noStrike" cap="none">
                <a:solidFill>
                  <a:srgbClr val="000000"/>
                </a:solidFill>
                <a:effectLst/>
                <a:latin typeface="Arial"/>
                <a:ea typeface="Arial"/>
                <a:cs typeface="Arial"/>
                <a:sym typeface="Arial"/>
              </a:rPr>
              <a:t>の両方あるテキストの数を、</a:t>
            </a:r>
            <a:r>
              <a:rPr lang="en-US" sz="1100" b="0" i="0" u="none" strike="noStrike" cap="none" dirty="0">
                <a:solidFill>
                  <a:srgbClr val="000000"/>
                </a:solidFill>
                <a:effectLst/>
                <a:latin typeface="Arial"/>
                <a:ea typeface="Arial"/>
                <a:cs typeface="Arial"/>
                <a:sym typeface="Arial"/>
              </a:rPr>
              <a:t>A</a:t>
            </a:r>
            <a:r>
              <a:rPr lang="ja-JP" altLang="en-US" sz="1100" b="0" i="0" u="none" strike="noStrike" cap="none">
                <a:solidFill>
                  <a:srgbClr val="000000"/>
                </a:solidFill>
                <a:effectLst/>
                <a:latin typeface="Arial"/>
                <a:ea typeface="Arial"/>
                <a:cs typeface="Arial"/>
                <a:sym typeface="Arial"/>
              </a:rPr>
              <a:t>か</a:t>
            </a:r>
            <a:r>
              <a:rPr lang="en-US" sz="1100" b="0" i="0" u="none" strike="noStrike" cap="none" dirty="0">
                <a:solidFill>
                  <a:srgbClr val="000000"/>
                </a:solidFill>
                <a:effectLst/>
                <a:latin typeface="Arial"/>
                <a:ea typeface="Arial"/>
                <a:cs typeface="Arial"/>
                <a:sym typeface="Arial"/>
              </a:rPr>
              <a:t>B</a:t>
            </a:r>
            <a:r>
              <a:rPr lang="ja-JP" altLang="en-US" sz="1100" b="0" i="0" u="none" strike="noStrike" cap="none">
                <a:solidFill>
                  <a:srgbClr val="000000"/>
                </a:solidFill>
                <a:effectLst/>
                <a:latin typeface="Arial"/>
                <a:ea typeface="Arial"/>
                <a:cs typeface="Arial"/>
                <a:sym typeface="Arial"/>
              </a:rPr>
              <a:t>どちらかしかないテキストの数で割った数値です。（</a:t>
            </a:r>
            <a:r>
              <a:rPr lang="en-US" sz="1100" b="0" i="0" u="none" strike="noStrike" cap="none" dirty="0">
                <a:solidFill>
                  <a:srgbClr val="000000"/>
                </a:solidFill>
                <a:effectLst/>
                <a:latin typeface="Arial"/>
                <a:ea typeface="Arial"/>
                <a:cs typeface="Arial"/>
                <a:sym typeface="Arial"/>
              </a:rPr>
              <a:t>Cvrček &amp; Fidler 2022</a:t>
            </a:r>
            <a:r>
              <a:rPr lang="ja-JP" altLang="en-US" sz="1100" b="0" i="0" u="none" strike="noStrike" cap="none">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r>
              <a:rPr lang="ja-JP" altLang="en-US" sz="1100" b="0" i="0" u="none" strike="noStrike" cap="none">
                <a:solidFill>
                  <a:srgbClr val="000000"/>
                </a:solidFill>
                <a:effectLst/>
                <a:latin typeface="Arial"/>
                <a:ea typeface="Arial"/>
                <a:cs typeface="Arial"/>
                <a:sym typeface="Arial"/>
              </a:rPr>
              <a:t>　</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6815bc062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6815bc062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ja-JP" altLang="en-US" sz="1100" b="0" i="0" u="none" strike="noStrike" cap="none">
                <a:solidFill>
                  <a:srgbClr val="000000"/>
                </a:solidFill>
                <a:effectLst/>
                <a:latin typeface="Arial"/>
                <a:ea typeface="Arial"/>
                <a:cs typeface="Arial"/>
                <a:sym typeface="Arial"/>
              </a:rPr>
              <a:t>例えば、</a:t>
            </a:r>
            <a:r>
              <a:rPr lang="en-US" sz="1100" b="0" i="0" u="none" strike="noStrike" cap="none" dirty="0">
                <a:solidFill>
                  <a:srgbClr val="000000"/>
                </a:solidFill>
                <a:effectLst/>
                <a:latin typeface="Arial"/>
                <a:ea typeface="Arial"/>
                <a:cs typeface="Arial"/>
                <a:sym typeface="Arial"/>
              </a:rPr>
              <a:t>2020</a:t>
            </a:r>
            <a:r>
              <a:rPr lang="ja-JP" altLang="en-US" sz="1100" b="0" i="0" u="none" strike="noStrike" cap="none">
                <a:solidFill>
                  <a:srgbClr val="000000"/>
                </a:solidFill>
                <a:effectLst/>
                <a:latin typeface="Arial"/>
                <a:ea typeface="Arial"/>
                <a:cs typeface="Arial"/>
                <a:sym typeface="Arial"/>
              </a:rPr>
              <a:t>年６</a:t>
            </a:r>
            <a:r>
              <a:rPr lang="en-US" sz="1100" b="0" i="0" u="none" strike="noStrike" cap="none" dirty="0">
                <a:solidFill>
                  <a:srgbClr val="000000"/>
                </a:solidFill>
                <a:effectLst/>
                <a:latin typeface="Arial"/>
                <a:ea typeface="Arial"/>
                <a:cs typeface="Arial"/>
                <a:sym typeface="Arial"/>
              </a:rPr>
              <a:t>−9</a:t>
            </a:r>
            <a:r>
              <a:rPr lang="ja-JP" altLang="en-US" sz="1100" b="0" i="0" u="none" strike="noStrike" cap="none">
                <a:solidFill>
                  <a:srgbClr val="000000"/>
                </a:solidFill>
                <a:effectLst/>
                <a:latin typeface="Arial"/>
                <a:ea typeface="Arial"/>
                <a:cs typeface="Arial"/>
                <a:sym typeface="Arial"/>
              </a:rPr>
              <a:t>月</a:t>
            </a:r>
            <a:r>
              <a:rPr lang="en-US" sz="1100" b="0" i="0" u="none" strike="noStrike" cap="none" dirty="0">
                <a:solidFill>
                  <a:srgbClr val="000000"/>
                </a:solidFill>
                <a:effectLst/>
                <a:latin typeface="Arial"/>
                <a:ea typeface="Arial"/>
                <a:cs typeface="Arial"/>
                <a:sym typeface="Arial"/>
              </a:rPr>
              <a:t> </a:t>
            </a:r>
            <a:r>
              <a:rPr lang="ja-JP" altLang="en-US" sz="1100" b="0" i="0" u="none" strike="noStrike" cap="none">
                <a:solidFill>
                  <a:srgbClr val="000000"/>
                </a:solidFill>
                <a:effectLst/>
                <a:latin typeface="Arial"/>
                <a:ea typeface="Arial"/>
                <a:cs typeface="Arial"/>
                <a:sym typeface="Arial"/>
              </a:rPr>
              <a:t>の反システムメディアのテキストで、</a:t>
            </a:r>
            <a:r>
              <a:rPr lang="en-US" sz="1100" b="0" i="0" u="none" strike="noStrike" cap="none" dirty="0">
                <a:solidFill>
                  <a:srgbClr val="000000"/>
                </a:solidFill>
                <a:effectLst/>
                <a:latin typeface="Arial"/>
                <a:ea typeface="Arial"/>
                <a:cs typeface="Arial"/>
                <a:sym typeface="Arial"/>
              </a:rPr>
              <a:t>KWA</a:t>
            </a:r>
            <a:r>
              <a:rPr lang="ja-JP" altLang="en-US" sz="1100" b="0" i="0" u="none" strike="noStrike" cap="none">
                <a:solidFill>
                  <a:srgbClr val="000000"/>
                </a:solidFill>
                <a:effectLst/>
                <a:latin typeface="Arial"/>
                <a:ea typeface="Arial"/>
                <a:cs typeface="Arial"/>
                <a:sym typeface="Arial"/>
              </a:rPr>
              <a:t>で得られたキーワードの１つの「移民」（</a:t>
            </a:r>
            <a:r>
              <a:rPr lang="en-US" sz="1100" b="0" i="0" u="none" strike="noStrike" cap="none" dirty="0">
                <a:solidFill>
                  <a:srgbClr val="000000"/>
                </a:solidFill>
                <a:effectLst/>
                <a:latin typeface="Arial"/>
                <a:ea typeface="Arial"/>
                <a:cs typeface="Arial"/>
                <a:sym typeface="Arial"/>
              </a:rPr>
              <a:t>migrant</a:t>
            </a:r>
            <a:r>
              <a:rPr lang="ja-JP" altLang="en-US" sz="1100" b="0" i="0" u="none" strike="noStrike" cap="none">
                <a:solidFill>
                  <a:srgbClr val="000000"/>
                </a:solidFill>
                <a:effectLst/>
                <a:latin typeface="Arial"/>
                <a:ea typeface="Arial"/>
                <a:cs typeface="Arial"/>
                <a:sym typeface="Arial"/>
              </a:rPr>
              <a:t>）を</a:t>
            </a:r>
            <a:r>
              <a:rPr lang="en-US" sz="1100" b="0" i="0" u="none" strike="noStrike" cap="none" dirty="0">
                <a:solidFill>
                  <a:srgbClr val="000000"/>
                </a:solidFill>
                <a:effectLst/>
                <a:latin typeface="Arial"/>
                <a:ea typeface="Arial"/>
                <a:cs typeface="Arial"/>
                <a:sym typeface="Arial"/>
              </a:rPr>
              <a:t>Seed Word</a:t>
            </a:r>
            <a:r>
              <a:rPr lang="ja-JP" altLang="en-US" sz="1100" b="0" i="0" u="none" strike="noStrike" cap="none">
                <a:solidFill>
                  <a:srgbClr val="000000"/>
                </a:solidFill>
                <a:effectLst/>
                <a:latin typeface="Arial"/>
                <a:ea typeface="Arial"/>
                <a:cs typeface="Arial"/>
                <a:sym typeface="Arial"/>
              </a:rPr>
              <a:t>として設定すると「不法、亡命、国、ヨーロッパの、移住、国境」といったキーワードが強く繋がっていることがわかります。この強い繋がりのあるキーワード（</a:t>
            </a:r>
            <a:r>
              <a:rPr lang="en-US" sz="1100" b="0" i="0" u="none" strike="noStrike" cap="none" dirty="0">
                <a:solidFill>
                  <a:srgbClr val="000000"/>
                </a:solidFill>
                <a:effectLst/>
                <a:latin typeface="Arial"/>
                <a:ea typeface="Arial"/>
                <a:cs typeface="Arial"/>
                <a:sym typeface="Arial"/>
              </a:rPr>
              <a:t>Associative rules</a:t>
            </a:r>
            <a:r>
              <a:rPr lang="ja-JP" altLang="en-US" sz="1100" b="0" i="0" u="none" strike="noStrike" cap="none">
                <a:solidFill>
                  <a:srgbClr val="000000"/>
                </a:solidFill>
                <a:effectLst/>
                <a:latin typeface="Arial"/>
                <a:ea typeface="Arial"/>
                <a:cs typeface="Arial"/>
                <a:sym typeface="Arial"/>
              </a:rPr>
              <a:t>）を集計したのが、連想アレイ（</a:t>
            </a:r>
            <a:r>
              <a:rPr lang="en-US" sz="1100" b="0" i="0" u="none" strike="noStrike" cap="none" dirty="0">
                <a:solidFill>
                  <a:srgbClr val="000000"/>
                </a:solidFill>
                <a:effectLst/>
                <a:latin typeface="Arial"/>
                <a:ea typeface="Arial"/>
                <a:cs typeface="Arial"/>
                <a:sym typeface="Arial"/>
              </a:rPr>
              <a:t>Associative array</a:t>
            </a:r>
            <a:r>
              <a:rPr lang="ja-JP" altLang="en-US" sz="1100" b="0" i="0" u="none" strike="noStrike" cap="none">
                <a:solidFill>
                  <a:srgbClr val="000000"/>
                </a:solidFill>
                <a:effectLst/>
                <a:latin typeface="Arial"/>
                <a:ea typeface="Arial"/>
                <a:cs typeface="Arial"/>
                <a:sym typeface="Arial"/>
              </a:rPr>
              <a:t>）で、これが反システムメディアによる移民問題の談話の枠組みを解釈する手がかりになります。</a:t>
            </a:r>
            <a:endParaRPr lang="en-US" sz="1100" b="0" i="0" u="none" strike="noStrike" cap="none" dirty="0">
              <a:solidFill>
                <a:srgbClr val="000000"/>
              </a:solidFill>
              <a:effectLst/>
              <a:latin typeface="Arial"/>
              <a:ea typeface="Arial"/>
              <a:cs typeface="Arial"/>
              <a:sym typeface="Arial"/>
            </a:endParaRPr>
          </a:p>
          <a:p>
            <a:r>
              <a:rPr lang="ja-JP" altLang="en-US" sz="1100" b="0" i="0" u="none" strike="noStrike" cap="none">
                <a:solidFill>
                  <a:srgbClr val="000000"/>
                </a:solidFill>
                <a:effectLst/>
                <a:latin typeface="Arial"/>
                <a:ea typeface="Arial"/>
                <a:cs typeface="Arial"/>
                <a:sym typeface="Arial"/>
              </a:rPr>
              <a:t>主流メディアと反システムのコーパスは</a:t>
            </a:r>
            <a:r>
              <a:rPr lang="en-US" sz="1100" b="0" i="0" u="none" strike="noStrike" cap="none" dirty="0">
                <a:solidFill>
                  <a:srgbClr val="000000"/>
                </a:solidFill>
                <a:effectLst/>
                <a:latin typeface="Arial"/>
                <a:ea typeface="Arial"/>
                <a:cs typeface="Arial"/>
                <a:sym typeface="Arial"/>
              </a:rPr>
              <a:t>online2_archive</a:t>
            </a:r>
            <a:r>
              <a:rPr lang="ja-JP" altLang="en-US" sz="1100" b="0" i="0" u="none" strike="noStrike" cap="none">
                <a:solidFill>
                  <a:srgbClr val="000000"/>
                </a:solidFill>
                <a:effectLst/>
                <a:latin typeface="Arial"/>
                <a:ea typeface="Arial"/>
                <a:cs typeface="Arial"/>
                <a:sym typeface="Arial"/>
              </a:rPr>
              <a:t>（</a:t>
            </a:r>
            <a:r>
              <a:rPr lang="cs-CZ" sz="1100" b="0" i="0" u="none" strike="noStrike" cap="none" dirty="0">
                <a:solidFill>
                  <a:srgbClr val="000000"/>
                </a:solidFill>
                <a:effectLst/>
                <a:latin typeface="Arial"/>
                <a:ea typeface="Arial"/>
                <a:cs typeface="Arial"/>
                <a:sym typeface="Arial"/>
              </a:rPr>
              <a:t>Cvrček et al. 2022</a:t>
            </a:r>
            <a:r>
              <a:rPr lang="ja-JP" altLang="en-US" sz="1100" b="0" i="0" u="none" strike="noStrike" cap="none">
                <a:solidFill>
                  <a:srgbClr val="000000"/>
                </a:solidFill>
                <a:effectLst/>
                <a:latin typeface="Arial"/>
                <a:ea typeface="Arial"/>
                <a:cs typeface="Arial"/>
                <a:sym typeface="Arial"/>
              </a:rPr>
              <a:t>）の一部を使用。</a:t>
            </a:r>
            <a:endParaRPr lang="en-US" sz="1100" b="0" i="0" u="none" strike="noStrike" cap="none" dirty="0">
              <a:solidFill>
                <a:srgbClr val="000000"/>
              </a:solidFill>
              <a:effectLst/>
              <a:latin typeface="Arial"/>
              <a:ea typeface="Arial"/>
              <a:cs typeface="Arial"/>
              <a:sym typeface="Arial"/>
            </a:endParaRPr>
          </a:p>
          <a:p>
            <a:r>
              <a:rPr lang="ja-JP" altLang="en-US" sz="1100" b="0" i="0" u="none" strike="noStrike" cap="none">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6</a:t>
            </a:r>
            <a:r>
              <a:rPr lang="ja-JP" altLang="en-US" sz="1100" b="0" i="0" u="none" strike="noStrike" cap="none">
                <a:solidFill>
                  <a:srgbClr val="000000"/>
                </a:solidFill>
                <a:effectLst/>
                <a:latin typeface="Arial"/>
                <a:ea typeface="Arial"/>
                <a:cs typeface="Arial"/>
                <a:sym typeface="Arial"/>
              </a:rPr>
              <a:t>月から同年</a:t>
            </a:r>
            <a:r>
              <a:rPr lang="en-US" sz="1100" b="0" i="0" u="none" strike="noStrike" cap="none" dirty="0">
                <a:solidFill>
                  <a:srgbClr val="000000"/>
                </a:solidFill>
                <a:effectLst/>
                <a:latin typeface="Arial"/>
                <a:ea typeface="Arial"/>
                <a:cs typeface="Arial"/>
                <a:sym typeface="Arial"/>
              </a:rPr>
              <a:t>9</a:t>
            </a:r>
            <a:r>
              <a:rPr lang="ja-JP" altLang="en-US" sz="1100" b="0" i="0" u="none" strike="noStrike" cap="none">
                <a:solidFill>
                  <a:srgbClr val="000000"/>
                </a:solidFill>
                <a:effectLst/>
                <a:latin typeface="Arial"/>
                <a:ea typeface="Arial"/>
                <a:cs typeface="Arial"/>
                <a:sym typeface="Arial"/>
              </a:rPr>
              <a:t>月まで」など？</a:t>
            </a:r>
            <a:endParaRPr lang="en-US" altLang="ja-JP" sz="1100" b="0" i="0" u="none" strike="noStrike" cap="none" dirty="0">
              <a:solidFill>
                <a:srgbClr val="000000"/>
              </a:solidFill>
              <a:effectLst/>
              <a:latin typeface="Arial"/>
              <a:ea typeface="Arial"/>
              <a:cs typeface="Arial"/>
              <a:sym typeface="Arial"/>
            </a:endParaRPr>
          </a:p>
          <a:p>
            <a:r>
              <a:rPr lang="ja-JP" altLang="en-US" sz="1100" b="0" i="0" u="none" strike="noStrike" cap="none">
                <a:solidFill>
                  <a:srgbClr val="000000"/>
                </a:solidFill>
                <a:effectLst/>
                <a:latin typeface="Arial"/>
                <a:cs typeface="Arial"/>
                <a:sym typeface="Arial"/>
              </a:rPr>
              <a:t>ヨーロッパの、コントラスト、国境をこえてくるイメージ</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i="1" dirty="0" err="1"/>
              <a:t>Ukrajina</a:t>
            </a:r>
            <a:r>
              <a:rPr lang="en-US" sz="1100" dirty="0"/>
              <a:t> ‘Ukraine’ and </a:t>
            </a:r>
            <a:r>
              <a:rPr lang="en-US" sz="1100" i="1" dirty="0"/>
              <a:t>Rusko</a:t>
            </a:r>
            <a:r>
              <a:rPr lang="en-US" sz="1100" dirty="0"/>
              <a:t> ‘Russia’ in Czech online media (periods: 2/2020–2/2021 and 2/2022–2/2023)?</a:t>
            </a:r>
            <a:r>
              <a:rPr lang="ja-JP" altLang="en-US" sz="1100"/>
              <a:t>　</a:t>
            </a:r>
            <a:r>
              <a:rPr lang="en-US" altLang="ja-JP" sz="1100" dirty="0"/>
              <a:t>Red is most probably </a:t>
            </a:r>
            <a:r>
              <a:rPr lang="en-US" altLang="ja-JP" sz="1100" dirty="0" err="1"/>
              <a:t>Ukrajine</a:t>
            </a:r>
            <a:endParaRPr lang="en-US" sz="1100"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6815bc062e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6815bc062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6b3dc4d13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6b3dc4d13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81000" algn="l" rtl="0">
              <a:lnSpc>
                <a:spcPct val="100000"/>
              </a:lnSpc>
              <a:spcBef>
                <a:spcPts val="0"/>
              </a:spcBef>
              <a:spcAft>
                <a:spcPts val="0"/>
              </a:spcAft>
              <a:buClr>
                <a:schemeClr val="dk1"/>
              </a:buClr>
              <a:buSzPts val="2400"/>
              <a:buAutoNum type="arabicPeriod"/>
            </a:pPr>
            <a:r>
              <a:rPr lang="en-US" sz="1400" dirty="0">
                <a:solidFill>
                  <a:schemeClr val="dk1"/>
                </a:solidFill>
              </a:rPr>
              <a:t>cut-off point:</a:t>
            </a:r>
          </a:p>
          <a:p>
            <a:pPr marL="914400" lvl="0" indent="-342900" algn="l" rtl="0">
              <a:lnSpc>
                <a:spcPct val="115000"/>
              </a:lnSpc>
              <a:spcBef>
                <a:spcPts val="200"/>
              </a:spcBef>
              <a:spcAft>
                <a:spcPts val="0"/>
              </a:spcAft>
              <a:buClr>
                <a:schemeClr val="dk1"/>
              </a:buClr>
              <a:buSzPts val="1800"/>
              <a:buFont typeface="Cambria"/>
              <a:buChar char="●"/>
            </a:pPr>
            <a:r>
              <a:rPr lang="en-US" dirty="0">
                <a:solidFill>
                  <a:schemeClr val="dk1"/>
                </a:solidFill>
                <a:latin typeface="Cambria"/>
                <a:ea typeface="Cambria"/>
                <a:cs typeface="Cambria"/>
                <a:sym typeface="Cambria"/>
              </a:rPr>
              <a:t>Minimum frequency of collocates = 10</a:t>
            </a:r>
          </a:p>
          <a:p>
            <a:pPr marL="914400" lvl="0" indent="-342900" algn="l" rtl="0">
              <a:lnSpc>
                <a:spcPct val="115000"/>
              </a:lnSpc>
              <a:spcBef>
                <a:spcPts val="0"/>
              </a:spcBef>
              <a:spcAft>
                <a:spcPts val="0"/>
              </a:spcAft>
              <a:buClr>
                <a:schemeClr val="dk1"/>
              </a:buClr>
              <a:buSzPts val="1800"/>
              <a:buFont typeface="Cambria"/>
              <a:buChar char="●"/>
            </a:pPr>
            <a:r>
              <a:rPr lang="en-US" dirty="0">
                <a:solidFill>
                  <a:schemeClr val="dk1"/>
                </a:solidFill>
                <a:latin typeface="Cambria"/>
                <a:ea typeface="Cambria"/>
                <a:cs typeface="Cambria"/>
                <a:sym typeface="Cambria"/>
              </a:rPr>
              <a:t>Minimum occurrence of collocates with associated word = 5</a:t>
            </a:r>
          </a:p>
          <a:p>
            <a:pPr marL="914400" lvl="0" indent="-342900" algn="l" rtl="0">
              <a:lnSpc>
                <a:spcPct val="115000"/>
              </a:lnSpc>
              <a:spcBef>
                <a:spcPts val="0"/>
              </a:spcBef>
              <a:spcAft>
                <a:spcPts val="0"/>
              </a:spcAft>
              <a:buClr>
                <a:schemeClr val="dk1"/>
              </a:buClr>
              <a:buSzPts val="1800"/>
              <a:buFont typeface="Cambria"/>
              <a:buChar char="●"/>
            </a:pPr>
            <a:r>
              <a:rPr lang="en-US" dirty="0">
                <a:solidFill>
                  <a:schemeClr val="dk1"/>
                </a:solidFill>
                <a:latin typeface="Cambria"/>
                <a:ea typeface="Cambria"/>
                <a:cs typeface="Cambria"/>
                <a:sym typeface="Cambria"/>
              </a:rPr>
              <a:t>Maximum number of colloquies per associated word = 50</a:t>
            </a:r>
          </a:p>
          <a:p>
            <a:pPr marL="914400" lvl="0" indent="-342900" algn="l" rtl="0">
              <a:lnSpc>
                <a:spcPct val="115000"/>
              </a:lnSpc>
              <a:spcBef>
                <a:spcPts val="0"/>
              </a:spcBef>
              <a:spcAft>
                <a:spcPts val="0"/>
              </a:spcAft>
              <a:buClr>
                <a:schemeClr val="dk1"/>
              </a:buClr>
              <a:buSzPts val="1800"/>
              <a:buFont typeface="Cambria"/>
              <a:buChar char="●"/>
            </a:pPr>
            <a:r>
              <a:rPr lang="en-US" dirty="0">
                <a:solidFill>
                  <a:schemeClr val="dk1"/>
                </a:solidFill>
                <a:latin typeface="Cambria"/>
                <a:ea typeface="Cambria"/>
                <a:cs typeface="Cambria"/>
                <a:sym typeface="Cambria"/>
              </a:rPr>
              <a:t>Sorting by log-Dice</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100" b="1" dirty="0">
                <a:solidFill>
                  <a:schemeClr val="dk1"/>
                </a:solidFill>
                <a:latin typeface="Consolas"/>
                <a:ea typeface="Consolas"/>
                <a:cs typeface="Consolas"/>
                <a:sym typeface="Consolas"/>
              </a:rPr>
              <a:t>These collocates are more closely tied to East</a:t>
            </a:r>
            <a:r>
              <a:rPr lang="en" sz="1100" dirty="0">
                <a:solidFill>
                  <a:schemeClr val="dk1"/>
                </a:solidFill>
                <a:latin typeface="Consolas"/>
                <a:ea typeface="Consolas"/>
                <a:cs typeface="Consolas"/>
                <a:sym typeface="Consolas"/>
              </a:rPr>
              <a:t> rather than West, although percentages are small. </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chemeClr val="dk1"/>
              </a:buClr>
              <a:buSzPts val="1100"/>
              <a:buFont typeface="Arial"/>
              <a:buNone/>
            </a:pPr>
            <a:r>
              <a:rPr lang="en" sz="1525">
                <a:solidFill>
                  <a:schemeClr val="dk1"/>
                </a:solidFill>
                <a:latin typeface="Consolas"/>
                <a:ea typeface="Consolas"/>
                <a:cs typeface="Consolas"/>
                <a:sym typeface="Consolas"/>
              </a:rPr>
              <a:t>Collocates: consistent with the other associations = East and Eastern as a tangible space – the place of economic development and the place that is not homogeneous where there is Central Europe besides East and West Europe.</a:t>
            </a:r>
            <a:endParaRPr sz="1525">
              <a:solidFill>
                <a:schemeClr val="dk1"/>
              </a:solidFill>
              <a:latin typeface="Consolas"/>
              <a:ea typeface="Consolas"/>
              <a:cs typeface="Consolas"/>
              <a:sym typeface="Consolas"/>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1d608a5c0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61d608a5c0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Central Europe were part of West, it would face a danger of being packaged together with Germany, which considers itself Central Europe. Central Europe is the most progressive part of the East. </a:t>
            </a:r>
          </a:p>
        </p:txBody>
      </p:sp>
    </p:spTree>
    <p:extLst>
      <p:ext uri="{BB962C8B-B14F-4D97-AF65-F5344CB8AC3E}">
        <p14:creationId xmlns:p14="http://schemas.microsoft.com/office/powerpoint/2010/main" val="3685387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全てがうまくいくとは限りません</a:t>
            </a:r>
            <a:r>
              <a:rPr lang="en-US" dirty="0">
                <a:sym typeface="Wingdings" pitchFamily="2" charset="2"/>
              </a:rPr>
              <a:t></a:t>
            </a:r>
            <a:endParaRPr lang="en-US" dirty="0"/>
          </a:p>
        </p:txBody>
      </p:sp>
    </p:spTree>
    <p:extLst>
      <p:ext uri="{BB962C8B-B14F-4D97-AF65-F5344CB8AC3E}">
        <p14:creationId xmlns:p14="http://schemas.microsoft.com/office/powerpoint/2010/main" val="62291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7C35D-06DC-5233-0668-803BBAF81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97E381-BFF3-A95E-290C-15D5463B42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6C4BC-662D-47DE-BC0F-2F638F09C5E6}"/>
              </a:ext>
            </a:extLst>
          </p:cNvPr>
          <p:cNvSpPr>
            <a:spLocks noGrp="1"/>
          </p:cNvSpPr>
          <p:nvPr>
            <p:ph type="dt" sz="half" idx="10"/>
          </p:nvPr>
        </p:nvSpPr>
        <p:spPr/>
        <p:txBody>
          <a:bodyPr/>
          <a:lstStyle/>
          <a:p>
            <a:fld id="{61771EB3-8785-7C4D-A7C0-E1A49DAAD39B}" type="datetimeFigureOut">
              <a:rPr lang="en-US" smtClean="0"/>
              <a:t>5/17/26</a:t>
            </a:fld>
            <a:endParaRPr lang="en-US"/>
          </a:p>
        </p:txBody>
      </p:sp>
      <p:sp>
        <p:nvSpPr>
          <p:cNvPr id="5" name="Footer Placeholder 4">
            <a:extLst>
              <a:ext uri="{FF2B5EF4-FFF2-40B4-BE49-F238E27FC236}">
                <a16:creationId xmlns:a16="http://schemas.microsoft.com/office/drawing/2014/main" id="{D5C256DE-983F-0848-0AA6-08C31240C0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27EE0A-D1D0-9001-09EF-8CFBE40B0553}"/>
              </a:ext>
            </a:extLst>
          </p:cNvPr>
          <p:cNvSpPr>
            <a:spLocks noGrp="1"/>
          </p:cNvSpPr>
          <p:nvPr>
            <p:ph type="sldNum" sz="quarter" idx="12"/>
          </p:nvPr>
        </p:nvSpPr>
        <p:spPr/>
        <p:txBody>
          <a:bodyPr/>
          <a:lstStyle/>
          <a:p>
            <a:fld id="{0FC9D55D-ED0E-764C-ABF0-6D7E54CC6753}" type="slidenum">
              <a:rPr lang="en-US" smtClean="0"/>
              <a:t>‹#›</a:t>
            </a:fld>
            <a:endParaRPr lang="en-US"/>
          </a:p>
        </p:txBody>
      </p:sp>
    </p:spTree>
    <p:extLst>
      <p:ext uri="{BB962C8B-B14F-4D97-AF65-F5344CB8AC3E}">
        <p14:creationId xmlns:p14="http://schemas.microsoft.com/office/powerpoint/2010/main" val="124606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tandfonline.com/doi/full/10.1080/00806765.2024.2317374?src=exp-la"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53"/>
        <p:cNvGrpSpPr/>
        <p:nvPr/>
      </p:nvGrpSpPr>
      <p:grpSpPr>
        <a:xfrm>
          <a:off x="0" y="0"/>
          <a:ext cx="0" cy="0"/>
          <a:chOff x="0" y="0"/>
          <a:chExt cx="0" cy="0"/>
        </a:xfrm>
      </p:grpSpPr>
      <p:pic>
        <p:nvPicPr>
          <p:cNvPr id="3" name="Picture 2">
            <a:extLst>
              <a:ext uri="{FF2B5EF4-FFF2-40B4-BE49-F238E27FC236}">
                <a16:creationId xmlns:a16="http://schemas.microsoft.com/office/drawing/2014/main" id="{B4BB3EB9-8419-0E99-72A6-FBC296A5006A}"/>
              </a:ext>
            </a:extLst>
          </p:cNvPr>
          <p:cNvPicPr>
            <a:picLocks noChangeAspect="1"/>
          </p:cNvPicPr>
          <p:nvPr/>
        </p:nvPicPr>
        <p:blipFill>
          <a:blip r:embed="rId3">
            <a:alphaModFix amt="7000"/>
          </a:blip>
          <a:stretch>
            <a:fillRect/>
          </a:stretch>
        </p:blipFill>
        <p:spPr>
          <a:xfrm>
            <a:off x="-1" y="475"/>
            <a:ext cx="9144001" cy="5126348"/>
          </a:xfrm>
          <a:prstGeom prst="rect">
            <a:avLst/>
          </a:prstGeom>
          <a:solidFill>
            <a:schemeClr val="bg1"/>
          </a:solidFill>
        </p:spPr>
      </p:pic>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lvl="0">
              <a:lnSpc>
                <a:spcPct val="115000"/>
              </a:lnSpc>
              <a:buSzPts val="990"/>
            </a:pPr>
            <a:r>
              <a:rPr lang="ja-JP" altLang="en-US" sz="2800"/>
              <a:t>言語コーパスでテキストのフレーミングを探る</a:t>
            </a:r>
            <a:r>
              <a:rPr lang="en-US" altLang="ja-JP" sz="2800" dirty="0"/>
              <a:t>– </a:t>
            </a:r>
            <a:br>
              <a:rPr lang="en-US" altLang="ja-JP" sz="2800" dirty="0"/>
            </a:br>
            <a:r>
              <a:rPr lang="ja-JP" altLang="en-US" sz="2800"/>
              <a:t>チェコメデイアでの東と西の概念</a:t>
            </a:r>
            <a:endParaRPr sz="2800" dirty="0"/>
          </a:p>
        </p:txBody>
      </p:sp>
      <p:sp>
        <p:nvSpPr>
          <p:cNvPr id="55" name="Google Shape;55;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fontScale="92500" lnSpcReduction="10000"/>
          </a:bodyPr>
          <a:lstStyle/>
          <a:p>
            <a:pPr marL="0" indent="0">
              <a:buSzPct val="117647"/>
            </a:pPr>
            <a:r>
              <a:rPr lang="en" sz="2400" dirty="0" err="1"/>
              <a:t>フィドラー雅子</a:t>
            </a:r>
            <a:r>
              <a:rPr lang="en" sz="2400" dirty="0"/>
              <a:t> &amp; </a:t>
            </a:r>
            <a:r>
              <a:rPr lang="en" sz="2400" dirty="0" err="1"/>
              <a:t>Cvrček</a:t>
            </a:r>
            <a:r>
              <a:rPr lang="en" sz="2400" dirty="0"/>
              <a:t>, Václav</a:t>
            </a:r>
          </a:p>
          <a:p>
            <a:pPr marL="0" indent="0">
              <a:buSzPct val="117647"/>
            </a:pPr>
            <a:r>
              <a:rPr lang="en" sz="2400" dirty="0" err="1"/>
              <a:t>ブラウン大学</a:t>
            </a:r>
            <a:r>
              <a:rPr lang="en" sz="2400" dirty="0"/>
              <a:t> &amp; </a:t>
            </a:r>
            <a:r>
              <a:rPr lang="en" sz="2400" dirty="0" err="1"/>
              <a:t>カレル大学</a:t>
            </a:r>
            <a:endParaRPr lang="en" sz="2400" dirty="0"/>
          </a:p>
          <a:p>
            <a:pPr marL="0" indent="0">
              <a:buSzPct val="117647"/>
            </a:pPr>
            <a:endParaRPr lang="en" dirty="0"/>
          </a:p>
        </p:txBody>
      </p:sp>
      <p:sp>
        <p:nvSpPr>
          <p:cNvPr id="56" name="Google Shape;56;p1"/>
          <p:cNvSpPr txBox="1"/>
          <p:nvPr/>
        </p:nvSpPr>
        <p:spPr>
          <a:xfrm>
            <a:off x="3507813" y="3606325"/>
            <a:ext cx="4903800" cy="792600"/>
          </a:xfrm>
          <a:prstGeom prst="rect">
            <a:avLst/>
          </a:prstGeom>
          <a:noFill/>
          <a:ln>
            <a:noFill/>
          </a:ln>
        </p:spPr>
        <p:txBody>
          <a:bodyPr spcFirstLastPara="1" wrap="square" lIns="91425" tIns="91425" rIns="91425" bIns="91425" anchor="t" anchorCtr="0">
            <a:noAutofit/>
          </a:bodyPr>
          <a:lstStyle/>
          <a:p>
            <a:pPr lvl="0" algn="ctr">
              <a:lnSpc>
                <a:spcPct val="115000"/>
              </a:lnSpc>
              <a:buClr>
                <a:schemeClr val="dk1"/>
              </a:buClr>
              <a:buSzPts val="1100"/>
            </a:pPr>
            <a:r>
              <a:rPr lang="en" sz="1800" b="0" i="0" u="none" strike="noStrike" cap="none" dirty="0">
                <a:solidFill>
                  <a:schemeClr val="dk2"/>
                </a:solidFill>
                <a:latin typeface="Arial"/>
                <a:ea typeface="Arial"/>
                <a:cs typeface="Arial"/>
                <a:sym typeface="Arial"/>
              </a:rPr>
              <a:t> </a:t>
            </a:r>
            <a:endParaRPr lang="en" sz="1800" dirty="0">
              <a:solidFill>
                <a:schemeClr val="dk2"/>
              </a:solidFill>
            </a:endParaRPr>
          </a:p>
          <a:p>
            <a:pPr marL="0" indent="0">
              <a:buSzPct val="117647"/>
            </a:pPr>
            <a:r>
              <a:rPr lang="ja-JP" altLang="en-US" sz="1800"/>
              <a:t>５月</a:t>
            </a:r>
            <a:r>
              <a:rPr lang="en-US" altLang="ja-JP" sz="1800" dirty="0"/>
              <a:t>13</a:t>
            </a:r>
            <a:r>
              <a:rPr lang="ja-JP" altLang="en-US" sz="1800"/>
              <a:t>日</a:t>
            </a:r>
            <a:r>
              <a:rPr lang="en-US" altLang="ja-JP" sz="1800" dirty="0"/>
              <a:t> @ </a:t>
            </a:r>
            <a:r>
              <a:rPr lang="en" sz="1800" dirty="0" err="1"/>
              <a:t>大阪大学</a:t>
            </a:r>
            <a:endParaRPr lang="en" sz="1800" dirty="0"/>
          </a:p>
          <a:p>
            <a:pPr lvl="0" algn="ctr">
              <a:lnSpc>
                <a:spcPct val="115000"/>
              </a:lnSpc>
              <a:buClr>
                <a:schemeClr val="dk1"/>
              </a:buClr>
              <a:buSzPts val="1100"/>
            </a:pP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EACB4D-382D-00AC-95D0-77E6CFD70970}"/>
              </a:ext>
            </a:extLst>
          </p:cNvPr>
          <p:cNvSpPr>
            <a:spLocks noGrp="1"/>
          </p:cNvSpPr>
          <p:nvPr>
            <p:ph type="title"/>
          </p:nvPr>
        </p:nvSpPr>
        <p:spPr/>
        <p:txBody>
          <a:bodyPr>
            <a:normAutofit fontScale="90000"/>
          </a:bodyPr>
          <a:lstStyle/>
          <a:p>
            <a:r>
              <a:rPr lang="en-US" dirty="0" err="1"/>
              <a:t>お話の流れ</a:t>
            </a:r>
            <a:endParaRPr lang="en-US" dirty="0"/>
          </a:p>
        </p:txBody>
      </p:sp>
      <p:sp>
        <p:nvSpPr>
          <p:cNvPr id="4" name="Text Placeholder 3">
            <a:extLst>
              <a:ext uri="{FF2B5EF4-FFF2-40B4-BE49-F238E27FC236}">
                <a16:creationId xmlns:a16="http://schemas.microsoft.com/office/drawing/2014/main" id="{02C7101F-9E6B-C188-0FFC-57E104DB21AC}"/>
              </a:ext>
            </a:extLst>
          </p:cNvPr>
          <p:cNvSpPr>
            <a:spLocks noGrp="1"/>
          </p:cNvSpPr>
          <p:nvPr>
            <p:ph type="body" idx="1"/>
          </p:nvPr>
        </p:nvSpPr>
        <p:spPr/>
        <p:txBody>
          <a:bodyPr/>
          <a:lstStyle/>
          <a:p>
            <a:r>
              <a:rPr lang="en-US" sz="2400" dirty="0" err="1">
                <a:solidFill>
                  <a:schemeClr val="dk1"/>
                </a:solidFill>
              </a:rPr>
              <a:t>中心となる認知言語学の概念</a:t>
            </a:r>
            <a:r>
              <a:rPr lang="en-US" sz="2400" dirty="0">
                <a:solidFill>
                  <a:schemeClr val="dk1"/>
                </a:solidFill>
              </a:rPr>
              <a:t>,</a:t>
            </a:r>
            <a:r>
              <a:rPr lang="ja-JP" altLang="en-US" sz="2400">
                <a:solidFill>
                  <a:schemeClr val="dk1"/>
                </a:solidFill>
              </a:rPr>
              <a:t>　研究対象、研究者について</a:t>
            </a:r>
            <a:r>
              <a:rPr lang="en-US" sz="2400" dirty="0">
                <a:solidFill>
                  <a:schemeClr val="dk1"/>
                </a:solidFill>
              </a:rPr>
              <a:t> </a:t>
            </a:r>
            <a:endParaRPr lang="en-US" sz="2400" dirty="0">
              <a:solidFill>
                <a:schemeClr val="tx1"/>
              </a:solidFill>
            </a:endParaRPr>
          </a:p>
          <a:p>
            <a:r>
              <a:rPr lang="en-US" sz="2400" dirty="0" err="1">
                <a:solidFill>
                  <a:schemeClr val="tx1"/>
                </a:solidFill>
              </a:rPr>
              <a:t>研究方法とデータ</a:t>
            </a:r>
            <a:endParaRPr lang="en-US" sz="2400" dirty="0">
              <a:solidFill>
                <a:schemeClr val="tx1"/>
              </a:solidFill>
            </a:endParaRPr>
          </a:p>
          <a:p>
            <a:r>
              <a:rPr lang="en-US" sz="2400" dirty="0" err="1">
                <a:solidFill>
                  <a:schemeClr val="tx1"/>
                </a:solidFill>
              </a:rPr>
              <a:t>結果について</a:t>
            </a:r>
            <a:endParaRPr lang="en-US" sz="2400" dirty="0">
              <a:solidFill>
                <a:schemeClr val="tx1"/>
              </a:solidFill>
            </a:endParaRPr>
          </a:p>
          <a:p>
            <a:r>
              <a:rPr lang="en-US" sz="2400" dirty="0" err="1">
                <a:solidFill>
                  <a:schemeClr val="tx1"/>
                </a:solidFill>
              </a:rPr>
              <a:t>結論、残る問題</a:t>
            </a:r>
            <a:endParaRPr lang="en-US" sz="2400" dirty="0"/>
          </a:p>
        </p:txBody>
      </p:sp>
    </p:spTree>
    <p:extLst>
      <p:ext uri="{BB962C8B-B14F-4D97-AF65-F5344CB8AC3E}">
        <p14:creationId xmlns:p14="http://schemas.microsoft.com/office/powerpoint/2010/main" val="372755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80410" y="11125"/>
            <a:ext cx="8520600" cy="572700"/>
          </a:xfrm>
          <a:prstGeom prst="rect">
            <a:avLst/>
          </a:prstGeom>
          <a:solidFill>
            <a:schemeClr val="accent6">
              <a:lumMod val="20000"/>
              <a:lumOff val="80000"/>
            </a:schemeClr>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err="1"/>
              <a:t>はじめに</a:t>
            </a:r>
            <a:endParaRPr dirty="0"/>
          </a:p>
        </p:txBody>
      </p:sp>
      <p:sp>
        <p:nvSpPr>
          <p:cNvPr id="62" name="Google Shape;62;p2"/>
          <p:cNvSpPr txBox="1">
            <a:spLocks noGrp="1"/>
          </p:cNvSpPr>
          <p:nvPr>
            <p:ph type="body" idx="1"/>
          </p:nvPr>
        </p:nvSpPr>
        <p:spPr>
          <a:xfrm>
            <a:off x="80410" y="583825"/>
            <a:ext cx="8983180" cy="382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dirty="0" err="1">
                <a:solidFill>
                  <a:schemeClr val="tx1"/>
                </a:solidFill>
              </a:rPr>
              <a:t>中心となる認知言語学の概念</a:t>
            </a:r>
            <a:endParaRPr lang="en-US" dirty="0">
              <a:solidFill>
                <a:schemeClr val="tx1"/>
              </a:solidFill>
            </a:endParaRPr>
          </a:p>
          <a:p>
            <a:pPr marL="0" lvl="0" indent="0" algn="l" rtl="0">
              <a:lnSpc>
                <a:spcPct val="115000"/>
              </a:lnSpc>
              <a:spcBef>
                <a:spcPts val="0"/>
              </a:spcBef>
              <a:spcAft>
                <a:spcPts val="0"/>
              </a:spcAft>
              <a:buSzPts val="1800"/>
              <a:buNone/>
            </a:pPr>
            <a:r>
              <a:rPr lang="en" dirty="0">
                <a:solidFill>
                  <a:schemeClr val="tx1"/>
                </a:solidFill>
                <a:latin typeface="Noto Sans JP"/>
                <a:ea typeface="Noto Sans JP"/>
                <a:cs typeface="Noto Sans JP"/>
                <a:sym typeface="Noto Sans JP"/>
              </a:rPr>
              <a:t>Frames, image schemas and conceptual metaphors</a:t>
            </a:r>
            <a:r>
              <a:rPr lang="ja-JP" altLang="en-US">
                <a:solidFill>
                  <a:schemeClr val="tx1"/>
                </a:solidFill>
                <a:latin typeface="Noto Sans JP"/>
                <a:ea typeface="Noto Sans JP"/>
                <a:cs typeface="Noto Sans JP"/>
                <a:sym typeface="Noto Sans JP"/>
              </a:rPr>
              <a:t>　</a:t>
            </a:r>
            <a:r>
              <a:rPr lang="en" dirty="0">
                <a:solidFill>
                  <a:schemeClr val="tx1"/>
                </a:solidFill>
                <a:latin typeface="Noto Sans JP"/>
                <a:ea typeface="Noto Sans JP"/>
                <a:cs typeface="Noto Sans JP"/>
                <a:sym typeface="Noto Sans JP"/>
              </a:rPr>
              <a:t>in cognitive linguistics (Lakoff, 1987; Lakoff &amp; Johnson, 1980; </a:t>
            </a:r>
            <a:r>
              <a:rPr lang="en" dirty="0" err="1">
                <a:solidFill>
                  <a:schemeClr val="tx1"/>
                </a:solidFill>
                <a:latin typeface="Noto Sans JP"/>
                <a:ea typeface="Noto Sans JP"/>
                <a:cs typeface="Noto Sans JP"/>
                <a:sym typeface="Noto Sans JP"/>
              </a:rPr>
              <a:t>Langacker</a:t>
            </a:r>
            <a:r>
              <a:rPr lang="en" dirty="0">
                <a:solidFill>
                  <a:schemeClr val="tx1"/>
                </a:solidFill>
                <a:latin typeface="Noto Sans JP"/>
                <a:ea typeface="Noto Sans JP"/>
                <a:cs typeface="Noto Sans JP"/>
                <a:sym typeface="Noto Sans JP"/>
              </a:rPr>
              <a:t>, 1987, 1991, 1999/2010) </a:t>
            </a:r>
            <a:endParaRPr dirty="0">
              <a:solidFill>
                <a:schemeClr val="tx1"/>
              </a:solidFill>
              <a:latin typeface="Noto Sans JP"/>
              <a:ea typeface="Noto Sans JP"/>
              <a:cs typeface="Noto Sans JP"/>
              <a:sym typeface="Noto Sans JP"/>
            </a:endParaRPr>
          </a:p>
          <a:p>
            <a:pPr marL="457200" lvl="0" indent="0" algn="just" rtl="0">
              <a:lnSpc>
                <a:spcPct val="115000"/>
              </a:lnSpc>
              <a:spcBef>
                <a:spcPts val="0"/>
              </a:spcBef>
              <a:spcAft>
                <a:spcPts val="0"/>
              </a:spcAft>
              <a:buSzPts val="1800"/>
              <a:buNone/>
            </a:pPr>
            <a:r>
              <a:rPr lang="en" dirty="0">
                <a:solidFill>
                  <a:schemeClr val="tx1"/>
                </a:solidFill>
                <a:latin typeface="Noto Sans JP"/>
                <a:ea typeface="Noto Sans JP"/>
                <a:cs typeface="Noto Sans JP"/>
                <a:sym typeface="Noto Sans JP"/>
              </a:rPr>
              <a:t>→ </a:t>
            </a:r>
            <a:r>
              <a:rPr lang="en" dirty="0" err="1">
                <a:solidFill>
                  <a:schemeClr val="tx1"/>
                </a:solidFill>
                <a:latin typeface="Noto Sans JP"/>
                <a:ea typeface="Noto Sans JP"/>
                <a:cs typeface="Noto Sans JP"/>
                <a:sym typeface="Noto Sans JP"/>
              </a:rPr>
              <a:t>談話論に適用</a:t>
            </a:r>
            <a:r>
              <a:rPr lang="en" dirty="0">
                <a:solidFill>
                  <a:schemeClr val="tx1"/>
                </a:solidFill>
                <a:latin typeface="Noto Sans JP"/>
                <a:ea typeface="Noto Sans JP"/>
                <a:cs typeface="Noto Sans JP"/>
                <a:sym typeface="Noto Sans JP"/>
              </a:rPr>
              <a:t>(Hart 2010). </a:t>
            </a:r>
            <a:endParaRPr dirty="0">
              <a:solidFill>
                <a:schemeClr val="tx1"/>
              </a:solidFill>
              <a:latin typeface="Noto Sans JP"/>
              <a:ea typeface="Noto Sans JP"/>
              <a:cs typeface="Noto Sans JP"/>
              <a:sym typeface="Noto Sans JP"/>
            </a:endParaRPr>
          </a:p>
          <a:p>
            <a:pPr marL="0" lvl="0" indent="0" algn="just" rtl="0">
              <a:lnSpc>
                <a:spcPct val="115000"/>
              </a:lnSpc>
              <a:spcBef>
                <a:spcPts val="0"/>
              </a:spcBef>
              <a:spcAft>
                <a:spcPts val="0"/>
              </a:spcAft>
              <a:buSzPts val="1800"/>
              <a:buNone/>
            </a:pPr>
            <a:endParaRPr lang="en" dirty="0">
              <a:solidFill>
                <a:schemeClr val="tx1"/>
              </a:solidFill>
              <a:latin typeface="Noto Sans JP"/>
              <a:ea typeface="Noto Sans JP"/>
              <a:cs typeface="Noto Sans JP"/>
              <a:sym typeface="Noto Sans JP"/>
            </a:endParaRPr>
          </a:p>
          <a:p>
            <a:pPr marL="0" lvl="0" indent="0" algn="just" rtl="0">
              <a:lnSpc>
                <a:spcPct val="115000"/>
              </a:lnSpc>
              <a:spcBef>
                <a:spcPts val="0"/>
              </a:spcBef>
              <a:spcAft>
                <a:spcPts val="0"/>
              </a:spcAft>
              <a:buSzPts val="1800"/>
              <a:buNone/>
            </a:pPr>
            <a:r>
              <a:rPr lang="en" dirty="0">
                <a:solidFill>
                  <a:schemeClr val="tx1"/>
                </a:solidFill>
                <a:latin typeface="Noto Sans JP"/>
                <a:ea typeface="Noto Sans JP"/>
                <a:cs typeface="Noto Sans JP"/>
                <a:sym typeface="Noto Sans JP"/>
              </a:rPr>
              <a:t>Prototype: </a:t>
            </a:r>
            <a:r>
              <a:rPr lang="en" dirty="0" err="1">
                <a:solidFill>
                  <a:schemeClr val="tx1"/>
                </a:solidFill>
                <a:latin typeface="Noto Sans JP"/>
                <a:ea typeface="Noto Sans JP"/>
                <a:cs typeface="Noto Sans JP"/>
                <a:sym typeface="Noto Sans JP"/>
              </a:rPr>
              <a:t>チェコメデイアから西と東という概念がどのようフレ-ミングされているか、Discourse</a:t>
            </a:r>
            <a:r>
              <a:rPr lang="en" dirty="0">
                <a:solidFill>
                  <a:schemeClr val="tx1"/>
                </a:solidFill>
                <a:latin typeface="Noto Sans JP"/>
                <a:ea typeface="Noto Sans JP"/>
                <a:cs typeface="Noto Sans JP"/>
                <a:sym typeface="Noto Sans JP"/>
              </a:rPr>
              <a:t> </a:t>
            </a:r>
            <a:r>
              <a:rPr lang="en" dirty="0" err="1">
                <a:solidFill>
                  <a:schemeClr val="tx1"/>
                </a:solidFill>
                <a:latin typeface="Noto Sans JP"/>
                <a:ea typeface="Noto Sans JP"/>
                <a:cs typeface="Noto Sans JP"/>
                <a:sym typeface="Noto Sans JP"/>
              </a:rPr>
              <a:t>prototypesの存在</a:t>
            </a:r>
            <a:r>
              <a:rPr lang="en" dirty="0">
                <a:solidFill>
                  <a:schemeClr val="tx1"/>
                </a:solidFill>
                <a:latin typeface="Noto Sans JP"/>
                <a:ea typeface="Noto Sans JP"/>
                <a:cs typeface="Noto Sans JP"/>
                <a:sym typeface="Noto Sans JP"/>
              </a:rPr>
              <a:t>? (cf. Baker 2011, consistency in discourse)</a:t>
            </a:r>
            <a:endParaRPr dirty="0">
              <a:solidFill>
                <a:schemeClr val="tx1"/>
              </a:solidFill>
              <a:latin typeface="Noto Sans JP"/>
              <a:ea typeface="Noto Sans JP"/>
              <a:cs typeface="Noto Sans JP"/>
              <a:sym typeface="Noto Sans JP"/>
            </a:endParaRPr>
          </a:p>
          <a:p>
            <a:pPr marL="114300" lvl="0" indent="0" algn="just">
              <a:buNone/>
            </a:pPr>
            <a:r>
              <a:rPr lang="en" dirty="0">
                <a:solidFill>
                  <a:schemeClr val="tx1"/>
                </a:solidFill>
                <a:latin typeface="Noto Sans JP"/>
                <a:ea typeface="Noto Sans JP"/>
                <a:cs typeface="Noto Sans JP"/>
                <a:sym typeface="Noto Sans JP"/>
              </a:rPr>
              <a:t>＝</a:t>
            </a:r>
            <a:r>
              <a:rPr lang="ja-JP" altLang="en-US" b="1">
                <a:solidFill>
                  <a:schemeClr val="tx1"/>
                </a:solidFill>
              </a:rPr>
              <a:t>縦断研究 </a:t>
            </a:r>
            <a:r>
              <a:rPr lang="en" dirty="0">
                <a:solidFill>
                  <a:schemeClr val="tx1"/>
                </a:solidFill>
                <a:latin typeface="Noto Sans JP"/>
                <a:ea typeface="Noto Sans JP"/>
                <a:cs typeface="Noto Sans JP"/>
                <a:sym typeface="Noto Sans JP"/>
              </a:rPr>
              <a:t>Longitudinal study</a:t>
            </a:r>
            <a:r>
              <a:rPr lang="ja-JP" altLang="en-US">
                <a:solidFill>
                  <a:schemeClr val="tx1"/>
                </a:solidFill>
                <a:latin typeface="Noto Sans JP"/>
                <a:ea typeface="Noto Sans JP"/>
                <a:cs typeface="Noto Sans JP"/>
                <a:sym typeface="Noto Sans JP"/>
              </a:rPr>
              <a:t> 　</a:t>
            </a:r>
            <a:endParaRPr dirty="0">
              <a:solidFill>
                <a:schemeClr val="tx1"/>
              </a:solidFill>
              <a:latin typeface="Noto Sans JP"/>
              <a:ea typeface="Noto Sans JP"/>
              <a:cs typeface="Noto Sans JP"/>
              <a:sym typeface="Noto Sans JP"/>
            </a:endParaRPr>
          </a:p>
          <a:p>
            <a:pPr marL="0" lvl="0" indent="0" algn="l" rtl="0">
              <a:lnSpc>
                <a:spcPct val="115000"/>
              </a:lnSpc>
              <a:spcBef>
                <a:spcPts val="0"/>
              </a:spcBef>
              <a:spcAft>
                <a:spcPts val="1200"/>
              </a:spcAft>
              <a:buSzPts val="1800"/>
              <a:buNone/>
            </a:pPr>
            <a:endParaRPr lang="en-US" dirty="0"/>
          </a:p>
          <a:p>
            <a:pPr marL="0" lvl="0" indent="0" algn="l" rtl="0">
              <a:lnSpc>
                <a:spcPct val="115000"/>
              </a:lnSpc>
              <a:spcBef>
                <a:spcPts val="0"/>
              </a:spcBef>
              <a:spcAft>
                <a:spcPts val="1200"/>
              </a:spcAft>
              <a:buSzPts val="1800"/>
              <a:buNone/>
            </a:pPr>
            <a:r>
              <a:rPr lang="en-US" dirty="0" err="1">
                <a:solidFill>
                  <a:schemeClr val="tx1"/>
                </a:solidFill>
              </a:rPr>
              <a:t>共同研究</a:t>
            </a:r>
            <a:r>
              <a:rPr lang="en-US" dirty="0">
                <a:solidFill>
                  <a:schemeClr val="tx1"/>
                </a:solidFill>
              </a:rPr>
              <a:t>（＋</a:t>
            </a:r>
            <a:r>
              <a:rPr lang="en-US" dirty="0" err="1">
                <a:solidFill>
                  <a:schemeClr val="tx1"/>
                </a:solidFill>
              </a:rPr>
              <a:t>カレル大学言語学学科コーパス部門</a:t>
            </a:r>
            <a:endParaRPr lang="en-US" dirty="0">
              <a:solidFill>
                <a:schemeClr val="tx1"/>
              </a:solidFill>
            </a:endParaRPr>
          </a:p>
          <a:p>
            <a:pPr marL="0" lvl="0" indent="0" algn="l" rtl="0">
              <a:lnSpc>
                <a:spcPct val="115000"/>
              </a:lnSpc>
              <a:spcBef>
                <a:spcPts val="0"/>
              </a:spcBef>
              <a:spcAft>
                <a:spcPts val="1200"/>
              </a:spcAft>
              <a:buSzPts val="1800"/>
              <a:buNone/>
            </a:pPr>
            <a:r>
              <a:rPr lang="en-US" dirty="0" err="1">
                <a:solidFill>
                  <a:schemeClr val="tx1"/>
                </a:solidFill>
              </a:rPr>
              <a:t>ツヴルチェック教授</a:t>
            </a:r>
            <a:r>
              <a:rPr lang="en-US" dirty="0">
                <a:solidFill>
                  <a:schemeClr val="tx1"/>
                </a:solidFill>
              </a:rPr>
              <a:t>）</a:t>
            </a:r>
            <a:endParaRPr dirty="0">
              <a:solidFill>
                <a:schemeClr val="tx1"/>
              </a:solidFill>
            </a:endParaRPr>
          </a:p>
        </p:txBody>
      </p:sp>
      <p:pic>
        <p:nvPicPr>
          <p:cNvPr id="2" name="Picture 1">
            <a:extLst>
              <a:ext uri="{FF2B5EF4-FFF2-40B4-BE49-F238E27FC236}">
                <a16:creationId xmlns:a16="http://schemas.microsoft.com/office/drawing/2014/main" id="{871BB7FD-EF39-8804-AA75-80DFBEA98C6E}"/>
              </a:ext>
            </a:extLst>
          </p:cNvPr>
          <p:cNvPicPr>
            <a:picLocks noChangeAspect="1"/>
          </p:cNvPicPr>
          <p:nvPr/>
        </p:nvPicPr>
        <p:blipFill>
          <a:blip r:embed="rId3"/>
          <a:stretch>
            <a:fillRect/>
          </a:stretch>
        </p:blipFill>
        <p:spPr>
          <a:xfrm>
            <a:off x="6182130" y="3050049"/>
            <a:ext cx="2579701" cy="19347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6"/>
        <p:cNvGrpSpPr/>
        <p:nvPr/>
      </p:nvGrpSpPr>
      <p:grpSpPr>
        <a:xfrm>
          <a:off x="0" y="0"/>
          <a:ext cx="0" cy="0"/>
          <a:chOff x="0" y="0"/>
          <a:chExt cx="0" cy="0"/>
        </a:xfrm>
      </p:grpSpPr>
      <p:sp>
        <p:nvSpPr>
          <p:cNvPr id="67" name="Google Shape;67;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dirty="0" err="1"/>
              <a:t>研究方法とデータ</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Corpora used</a:t>
            </a:r>
            <a:endParaRPr/>
          </a:p>
        </p:txBody>
      </p:sp>
      <p:sp>
        <p:nvSpPr>
          <p:cNvPr id="73" name="Google Shape;73;p4"/>
          <p:cNvSpPr txBox="1">
            <a:spLocks noGrp="1"/>
          </p:cNvSpPr>
          <p:nvPr>
            <p:ph type="body" idx="1"/>
          </p:nvPr>
        </p:nvSpPr>
        <p:spPr>
          <a:xfrm>
            <a:off x="311700" y="1017725"/>
            <a:ext cx="8520600" cy="34164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800"/>
              <a:buNone/>
            </a:pPr>
            <a:r>
              <a:rPr lang="en" dirty="0">
                <a:solidFill>
                  <a:schemeClr val="dk1"/>
                </a:solidFill>
              </a:rPr>
              <a:t>SYNv12 (</a:t>
            </a:r>
            <a:r>
              <a:rPr lang="en" dirty="0" err="1">
                <a:solidFill>
                  <a:schemeClr val="dk1"/>
                </a:solidFill>
              </a:rPr>
              <a:t>現代チェコ語</a:t>
            </a:r>
            <a:r>
              <a:rPr lang="en" dirty="0">
                <a:solidFill>
                  <a:schemeClr val="dk1"/>
                </a:solidFill>
              </a:rPr>
              <a:t>, 全部で語数52億)</a:t>
            </a:r>
            <a:endParaRPr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dirty="0" err="1">
                <a:solidFill>
                  <a:schemeClr val="dk1"/>
                </a:solidFill>
              </a:rPr>
              <a:t>チェコ全土で配布されている新聞</a:t>
            </a:r>
            <a:endParaRPr lang="en-US" dirty="0">
              <a:solidFill>
                <a:schemeClr val="dk1"/>
              </a:solidFill>
            </a:endParaRPr>
          </a:p>
          <a:p>
            <a:pPr marL="457200" lvl="0" indent="-342900" algn="l" rtl="0">
              <a:lnSpc>
                <a:spcPct val="115000"/>
              </a:lnSpc>
              <a:spcAft>
                <a:spcPts val="0"/>
              </a:spcAft>
              <a:buClr>
                <a:schemeClr val="dk1"/>
              </a:buClr>
              <a:buSzPts val="1800"/>
              <a:buChar char="-"/>
            </a:pPr>
            <a:r>
              <a:rPr lang="en" dirty="0">
                <a:solidFill>
                  <a:schemeClr val="dk1"/>
                </a:solidFill>
              </a:rPr>
              <a:t>1991–2022</a:t>
            </a:r>
            <a:endParaRPr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 dirty="0" err="1">
                <a:solidFill>
                  <a:schemeClr val="dk1"/>
                </a:solidFill>
              </a:rPr>
              <a:t>語数</a:t>
            </a:r>
            <a:r>
              <a:rPr lang="en" dirty="0">
                <a:solidFill>
                  <a:schemeClr val="dk1"/>
                </a:solidFill>
              </a:rPr>
              <a:t> 20億+ </a:t>
            </a:r>
            <a:endParaRPr dirty="0">
              <a:solidFill>
                <a:schemeClr val="dk1"/>
              </a:solidFill>
            </a:endParaRPr>
          </a:p>
          <a:p>
            <a:pPr lvl="0">
              <a:buClr>
                <a:schemeClr val="dk1"/>
              </a:buClr>
              <a:buChar char="-"/>
            </a:pPr>
            <a:r>
              <a:rPr lang="en" dirty="0" err="1">
                <a:solidFill>
                  <a:schemeClr val="dk1"/>
                </a:solidFill>
              </a:rPr>
              <a:t>テキスト</a:t>
            </a:r>
            <a:r>
              <a:rPr lang="en" dirty="0">
                <a:solidFill>
                  <a:schemeClr val="dk1"/>
                </a:solidFill>
              </a:rPr>
              <a:t> (</a:t>
            </a:r>
            <a:r>
              <a:rPr lang="en" dirty="0" err="1">
                <a:solidFill>
                  <a:schemeClr val="dk1"/>
                </a:solidFill>
              </a:rPr>
              <a:t>記事</a:t>
            </a:r>
            <a:r>
              <a:rPr lang="en" dirty="0">
                <a:solidFill>
                  <a:schemeClr val="dk1"/>
                </a:solidFill>
              </a:rPr>
              <a:t>)（530万）</a:t>
            </a:r>
            <a:endParaRPr dirty="0">
              <a:solidFill>
                <a:schemeClr val="dk1"/>
              </a:solidFill>
            </a:endParaRPr>
          </a:p>
          <a:p>
            <a:pPr marL="0" lvl="0" indent="0" algn="l" rtl="0">
              <a:lnSpc>
                <a:spcPct val="115000"/>
              </a:lnSpc>
              <a:spcBef>
                <a:spcPts val="1200"/>
              </a:spcBef>
              <a:spcAft>
                <a:spcPts val="0"/>
              </a:spcAft>
              <a:buSzPts val="1800"/>
              <a:buNone/>
            </a:pPr>
            <a:r>
              <a:rPr lang="en" dirty="0">
                <a:solidFill>
                  <a:schemeClr val="dk1"/>
                </a:solidFill>
              </a:rPr>
              <a:t>Seed words: </a:t>
            </a:r>
            <a:endParaRPr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 i="1" dirty="0" err="1">
                <a:solidFill>
                  <a:schemeClr val="dk1"/>
                </a:solidFill>
              </a:rPr>
              <a:t>Východ</a:t>
            </a:r>
            <a:r>
              <a:rPr lang="en" dirty="0">
                <a:solidFill>
                  <a:schemeClr val="dk1"/>
                </a:solidFill>
              </a:rPr>
              <a:t> ‘</a:t>
            </a:r>
            <a:r>
              <a:rPr lang="en" dirty="0" err="1">
                <a:solidFill>
                  <a:schemeClr val="dk1"/>
                </a:solidFill>
              </a:rPr>
              <a:t>東</a:t>
            </a:r>
            <a:r>
              <a:rPr lang="en" dirty="0">
                <a:solidFill>
                  <a:schemeClr val="dk1"/>
                </a:solidFill>
              </a:rPr>
              <a:t>’ </a:t>
            </a:r>
            <a:r>
              <a:rPr lang="en" dirty="0" err="1">
                <a:solidFill>
                  <a:schemeClr val="dk1"/>
                </a:solidFill>
              </a:rPr>
              <a:t>名詞</a:t>
            </a:r>
            <a:r>
              <a:rPr lang="en" dirty="0">
                <a:solidFill>
                  <a:schemeClr val="dk1"/>
                </a:solidFill>
              </a:rPr>
              <a:t>, </a:t>
            </a:r>
            <a:endParaRPr dirty="0">
              <a:solidFill>
                <a:schemeClr val="dk1"/>
              </a:solidFill>
            </a:endParaRPr>
          </a:p>
          <a:p>
            <a:pPr lvl="0">
              <a:buClr>
                <a:schemeClr val="dk1"/>
              </a:buClr>
            </a:pPr>
            <a:r>
              <a:rPr lang="en" i="1" dirty="0" err="1">
                <a:solidFill>
                  <a:schemeClr val="dk1"/>
                </a:solidFill>
              </a:rPr>
              <a:t>Západ</a:t>
            </a:r>
            <a:r>
              <a:rPr lang="en" dirty="0">
                <a:solidFill>
                  <a:schemeClr val="dk1"/>
                </a:solidFill>
              </a:rPr>
              <a:t> ‘</a:t>
            </a:r>
            <a:r>
              <a:rPr lang="en" dirty="0" err="1">
                <a:solidFill>
                  <a:schemeClr val="dk1"/>
                </a:solidFill>
              </a:rPr>
              <a:t>西</a:t>
            </a:r>
            <a:r>
              <a:rPr lang="en" dirty="0">
                <a:solidFill>
                  <a:schemeClr val="dk1"/>
                </a:solidFill>
              </a:rPr>
              <a:t>’ </a:t>
            </a:r>
            <a:r>
              <a:rPr lang="en" dirty="0" err="1">
                <a:solidFill>
                  <a:schemeClr val="dk1"/>
                </a:solidFill>
              </a:rPr>
              <a:t>名詞</a:t>
            </a:r>
            <a:r>
              <a:rPr lang="en" dirty="0">
                <a:solidFill>
                  <a:schemeClr val="dk1"/>
                </a:solidFill>
              </a:rPr>
              <a:t>, </a:t>
            </a:r>
            <a:endParaRPr dirty="0">
              <a:solidFill>
                <a:schemeClr val="dk1"/>
              </a:solidFill>
            </a:endParaRPr>
          </a:p>
          <a:p>
            <a:pPr lvl="0">
              <a:buClr>
                <a:schemeClr val="dk1"/>
              </a:buClr>
            </a:pPr>
            <a:r>
              <a:rPr lang="en" i="1" dirty="0" err="1">
                <a:solidFill>
                  <a:schemeClr val="dk1"/>
                </a:solidFill>
              </a:rPr>
              <a:t>východní</a:t>
            </a:r>
            <a:r>
              <a:rPr lang="en" dirty="0">
                <a:solidFill>
                  <a:schemeClr val="dk1"/>
                </a:solidFill>
              </a:rPr>
              <a:t> ‘</a:t>
            </a:r>
            <a:r>
              <a:rPr lang="en" dirty="0" err="1">
                <a:solidFill>
                  <a:schemeClr val="dk1"/>
                </a:solidFill>
              </a:rPr>
              <a:t>東の</a:t>
            </a:r>
            <a:r>
              <a:rPr lang="en" dirty="0">
                <a:solidFill>
                  <a:schemeClr val="dk1"/>
                </a:solidFill>
              </a:rPr>
              <a:t>’ </a:t>
            </a:r>
            <a:r>
              <a:rPr lang="en" dirty="0" err="1">
                <a:solidFill>
                  <a:schemeClr val="dk1"/>
                </a:solidFill>
              </a:rPr>
              <a:t>形容詞</a:t>
            </a:r>
            <a:endParaRPr dirty="0">
              <a:solidFill>
                <a:schemeClr val="dk1"/>
              </a:solidFill>
            </a:endParaRPr>
          </a:p>
          <a:p>
            <a:pPr lvl="0">
              <a:buClr>
                <a:schemeClr val="dk1"/>
              </a:buClr>
            </a:pPr>
            <a:r>
              <a:rPr lang="en" i="1" dirty="0" err="1">
                <a:solidFill>
                  <a:schemeClr val="dk1"/>
                </a:solidFill>
              </a:rPr>
              <a:t>západní</a:t>
            </a:r>
            <a:r>
              <a:rPr lang="en" dirty="0">
                <a:solidFill>
                  <a:schemeClr val="dk1"/>
                </a:solidFill>
              </a:rPr>
              <a:t> ‘</a:t>
            </a:r>
            <a:r>
              <a:rPr lang="en" dirty="0" err="1">
                <a:solidFill>
                  <a:schemeClr val="dk1"/>
                </a:solidFill>
              </a:rPr>
              <a:t>西の</a:t>
            </a:r>
            <a:r>
              <a:rPr lang="en" dirty="0">
                <a:solidFill>
                  <a:schemeClr val="dk1"/>
                </a:solidFill>
              </a:rPr>
              <a:t>’ </a:t>
            </a:r>
            <a:r>
              <a:rPr lang="en" dirty="0" err="1">
                <a:solidFill>
                  <a:schemeClr val="dk1"/>
                </a:solidFill>
              </a:rPr>
              <a:t>形容詞</a:t>
            </a:r>
            <a:endParaRPr lang="en" dirty="0">
              <a:solidFill>
                <a:schemeClr val="dk1"/>
              </a:solidFill>
            </a:endParaRPr>
          </a:p>
          <a:p>
            <a:pPr marL="114300" lvl="0" indent="0">
              <a:buClr>
                <a:schemeClr val="dk1"/>
              </a:buClr>
              <a:buNone/>
            </a:pPr>
            <a:endParaRPr lang="en-US"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5"/>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err="1"/>
              <a:t>コーパスに使われる方法</a:t>
            </a:r>
            <a:endParaRPr dirty="0"/>
          </a:p>
        </p:txBody>
      </p:sp>
      <p:sp>
        <p:nvSpPr>
          <p:cNvPr id="2" name="Text Placeholder 1">
            <a:extLst>
              <a:ext uri="{FF2B5EF4-FFF2-40B4-BE49-F238E27FC236}">
                <a16:creationId xmlns:a16="http://schemas.microsoft.com/office/drawing/2014/main" id="{678746DF-B765-32CC-0223-C755E873AB14}"/>
              </a:ext>
            </a:extLst>
          </p:cNvPr>
          <p:cNvSpPr>
            <a:spLocks noGrp="1"/>
          </p:cNvSpPr>
          <p:nvPr>
            <p:ph type="body" idx="1"/>
          </p:nvPr>
        </p:nvSpPr>
        <p:spPr/>
        <p:txBody>
          <a:bodyPr/>
          <a:lstStyle/>
          <a:p>
            <a:pPr fontAlgn="t"/>
            <a:r>
              <a:rPr lang="en-US" dirty="0" err="1">
                <a:solidFill>
                  <a:schemeClr val="tx1"/>
                </a:solidFill>
              </a:rPr>
              <a:t>キーワード分析</a:t>
            </a:r>
            <a:r>
              <a:rPr lang="en-US" dirty="0">
                <a:solidFill>
                  <a:schemeClr val="tx1"/>
                </a:solidFill>
              </a:rPr>
              <a:t>(Keyword Analysis, KWA)</a:t>
            </a:r>
          </a:p>
          <a:p>
            <a:pPr fontAlgn="t"/>
            <a:r>
              <a:rPr lang="en-US" dirty="0" err="1">
                <a:solidFill>
                  <a:schemeClr val="tx1"/>
                </a:solidFill>
              </a:rPr>
              <a:t>マーケットバスケット分析</a:t>
            </a:r>
            <a:r>
              <a:rPr lang="en-US" dirty="0">
                <a:solidFill>
                  <a:schemeClr val="tx1"/>
                </a:solidFill>
              </a:rPr>
              <a:t>(Market Basket Analysis, MBA)</a:t>
            </a:r>
          </a:p>
          <a:p>
            <a:pPr fontAlgn="t"/>
            <a:r>
              <a:rPr lang="en-US" dirty="0" err="1">
                <a:solidFill>
                  <a:schemeClr val="tx1"/>
                </a:solidFill>
              </a:rPr>
              <a:t>コンパニオン（Companions</a:t>
            </a:r>
            <a:r>
              <a:rPr lang="en-US" dirty="0">
                <a:solidFill>
                  <a:schemeClr val="tx1"/>
                </a:solidFill>
              </a:rPr>
              <a:t>）</a:t>
            </a:r>
          </a:p>
          <a:p>
            <a:pPr fontAlgn="t"/>
            <a:r>
              <a:rPr lang="en-US" dirty="0" err="1">
                <a:solidFill>
                  <a:schemeClr val="tx1"/>
                </a:solidFill>
              </a:rPr>
              <a:t>コロケーション分析</a:t>
            </a:r>
            <a:r>
              <a:rPr lang="en-US" dirty="0">
                <a:solidFill>
                  <a:schemeClr val="tx1"/>
                </a:solidFill>
              </a:rPr>
              <a:t>(Collocation Analysis, CA)</a:t>
            </a:r>
          </a:p>
          <a:p>
            <a:pPr marL="114300" indent="0">
              <a:buNone/>
            </a:pPr>
            <a:endParaRPr lang="en-US" dirty="0"/>
          </a:p>
        </p:txBody>
      </p:sp>
      <p:sp>
        <p:nvSpPr>
          <p:cNvPr id="80" name="Google Shape;80;p5"/>
          <p:cNvSpPr txBox="1"/>
          <p:nvPr/>
        </p:nvSpPr>
        <p:spPr>
          <a:xfrm>
            <a:off x="166067" y="4201395"/>
            <a:ext cx="7499100" cy="53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Collocation analysis (CA)</a:t>
            </a:r>
            <a:r>
              <a:rPr lang="ja-JP" altLang="en-US"/>
              <a:t>　</a:t>
            </a:r>
            <a:endParaRPr dirty="0"/>
          </a:p>
        </p:txBody>
      </p:sp>
      <p:sp>
        <p:nvSpPr>
          <p:cNvPr id="99" name="Google Shape;99;p20"/>
          <p:cNvSpPr txBox="1"/>
          <p:nvPr/>
        </p:nvSpPr>
        <p:spPr>
          <a:xfrm>
            <a:off x="152400" y="1017725"/>
            <a:ext cx="4119521" cy="3964800"/>
          </a:xfrm>
          <a:prstGeom prst="rect">
            <a:avLst/>
          </a:prstGeom>
          <a:noFill/>
          <a:ln>
            <a:noFill/>
          </a:ln>
        </p:spPr>
        <p:txBody>
          <a:bodyPr spcFirstLastPara="1" wrap="square" lIns="91425" tIns="91425" rIns="91425" bIns="91425" anchor="t" anchorCtr="0">
            <a:noAutofit/>
          </a:bodyPr>
          <a:lstStyle/>
          <a:p>
            <a:pPr marL="400050" lvl="0" indent="-285750">
              <a:buClr>
                <a:schemeClr val="dk1"/>
              </a:buClr>
              <a:buSzPts val="1800"/>
              <a:buFont typeface="Arial" panose="020B0604020202020204" pitchFamily="34" charset="0"/>
              <a:buChar char="•"/>
            </a:pPr>
            <a:r>
              <a:rPr lang="en-US" sz="1800" dirty="0" err="1">
                <a:solidFill>
                  <a:schemeClr val="dk1"/>
                </a:solidFill>
              </a:rPr>
              <a:t>隣接するコンテキストにフォーカス</a:t>
            </a:r>
            <a:r>
              <a:rPr lang="en" sz="1800" dirty="0">
                <a:solidFill>
                  <a:schemeClr val="dk1"/>
                </a:solidFill>
              </a:rPr>
              <a:t> </a:t>
            </a:r>
          </a:p>
          <a:p>
            <a:pPr marL="114300" lvl="0">
              <a:buClr>
                <a:schemeClr val="dk1"/>
              </a:buClr>
              <a:buSzPts val="1800"/>
            </a:pPr>
            <a:r>
              <a:rPr lang="en" sz="1800" dirty="0" err="1">
                <a:solidFill>
                  <a:schemeClr val="dk1"/>
                </a:solidFill>
              </a:rPr>
              <a:t>コロケートでわかること</a:t>
            </a:r>
            <a:endParaRPr lang="en" sz="1800" dirty="0">
              <a:solidFill>
                <a:schemeClr val="dk1"/>
              </a:solidFill>
            </a:endParaRPr>
          </a:p>
          <a:p>
            <a:pPr marL="400050" lvl="0" indent="-285750">
              <a:buClr>
                <a:schemeClr val="dk1"/>
              </a:buClr>
              <a:buSzPts val="1800"/>
              <a:buFont typeface="Arial" panose="020B0604020202020204" pitchFamily="34" charset="0"/>
              <a:buChar char="•"/>
            </a:pPr>
            <a:r>
              <a:rPr lang="en" sz="1800" dirty="0" err="1">
                <a:solidFill>
                  <a:schemeClr val="dk1"/>
                </a:solidFill>
              </a:rPr>
              <a:t>複単語表現</a:t>
            </a:r>
            <a:r>
              <a:rPr lang="ja-JP" altLang="en-US" sz="1800">
                <a:solidFill>
                  <a:schemeClr val="dk1"/>
                </a:solidFill>
              </a:rPr>
              <a:t>　</a:t>
            </a:r>
            <a:r>
              <a:rPr lang="en" sz="1800" dirty="0">
                <a:solidFill>
                  <a:schemeClr val="dk1"/>
                </a:solidFill>
              </a:rPr>
              <a:t>(collocations)</a:t>
            </a:r>
          </a:p>
          <a:p>
            <a:pPr marL="114300" lvl="0">
              <a:buClr>
                <a:schemeClr val="dk1"/>
              </a:buClr>
              <a:buSzPts val="1800"/>
            </a:pPr>
            <a:r>
              <a:rPr lang="en" sz="1800" dirty="0">
                <a:solidFill>
                  <a:schemeClr val="dk1"/>
                </a:solidFill>
              </a:rPr>
              <a:t>(put: together, forward, up, on, into..) </a:t>
            </a:r>
            <a:r>
              <a:rPr lang="ja-JP" altLang="en-US" sz="1800">
                <a:solidFill>
                  <a:schemeClr val="dk1"/>
                </a:solidFill>
              </a:rPr>
              <a:t>　</a:t>
            </a:r>
            <a:r>
              <a:rPr lang="en" sz="1800" dirty="0">
                <a:solidFill>
                  <a:schemeClr val="dk1"/>
                </a:solidFill>
              </a:rPr>
              <a:t> </a:t>
            </a:r>
          </a:p>
          <a:p>
            <a:pPr marL="400050" lvl="0" indent="-285750" algn="l" rtl="0">
              <a:spcBef>
                <a:spcPts val="0"/>
              </a:spcBef>
              <a:spcAft>
                <a:spcPts val="0"/>
              </a:spcAft>
              <a:buClr>
                <a:schemeClr val="dk1"/>
              </a:buClr>
              <a:buSzPts val="1800"/>
              <a:buFont typeface="Arial" panose="020B0604020202020204" pitchFamily="34" charset="0"/>
              <a:buChar char="•"/>
            </a:pPr>
            <a:r>
              <a:rPr lang="ja-JP" altLang="en-US" sz="1800"/>
              <a:t>意味 </a:t>
            </a:r>
            <a:r>
              <a:rPr lang="en-US" altLang="ja-JP" sz="1800" dirty="0"/>
              <a:t>(disambiguation of senses)</a:t>
            </a:r>
          </a:p>
          <a:p>
            <a:pPr marL="114300" lvl="0" algn="l" rtl="0">
              <a:spcBef>
                <a:spcPts val="0"/>
              </a:spcBef>
              <a:spcAft>
                <a:spcPts val="0"/>
              </a:spcAft>
              <a:buClr>
                <a:schemeClr val="dk1"/>
              </a:buClr>
              <a:buSzPts val="1800"/>
            </a:pPr>
            <a:r>
              <a:rPr lang="en-US" altLang="ja-JP" sz="1800" dirty="0"/>
              <a:t>(like: </a:t>
            </a:r>
          </a:p>
          <a:p>
            <a:pPr marL="114300" lvl="0" algn="l" rtl="0">
              <a:spcBef>
                <a:spcPts val="0"/>
              </a:spcBef>
              <a:spcAft>
                <a:spcPts val="0"/>
              </a:spcAft>
              <a:buClr>
                <a:schemeClr val="dk1"/>
              </a:buClr>
              <a:buSzPts val="1800"/>
            </a:pPr>
            <a:r>
              <a:rPr lang="en-US" altLang="ja-JP" sz="1800" dirty="0"/>
              <a:t>look, feel, I’d, don’t</a:t>
            </a:r>
            <a:r>
              <a:rPr lang="en-US" sz="1800" dirty="0"/>
              <a:t>.)</a:t>
            </a:r>
            <a:endParaRPr lang="en-US" sz="1800" b="1" dirty="0"/>
          </a:p>
          <a:p>
            <a:pPr marL="285750" indent="-285750" fontAlgn="base">
              <a:buFont typeface="Arial" panose="020B0604020202020204" pitchFamily="34" charset="0"/>
              <a:buChar char="•"/>
            </a:pPr>
            <a:r>
              <a:rPr lang="en-US" sz="1800" b="1" dirty="0" err="1"/>
              <a:t>コノテーション</a:t>
            </a:r>
            <a:r>
              <a:rPr lang="en-US" sz="1800" b="1" dirty="0"/>
              <a:t> </a:t>
            </a:r>
          </a:p>
          <a:p>
            <a:pPr fontAlgn="base"/>
            <a:r>
              <a:rPr lang="en-US" altLang="ja-JP" sz="1800" b="1" dirty="0">
                <a:solidFill>
                  <a:schemeClr val="dk1"/>
                </a:solidFill>
              </a:rPr>
              <a:t>(</a:t>
            </a:r>
            <a:r>
              <a:rPr lang="en-US" altLang="ja-JP" sz="1800" dirty="0">
                <a:solidFill>
                  <a:schemeClr val="dk1"/>
                </a:solidFill>
              </a:rPr>
              <a:t>cause: </a:t>
            </a:r>
          </a:p>
          <a:p>
            <a:pPr fontAlgn="base"/>
            <a:r>
              <a:rPr lang="en-US" altLang="ja-JP" sz="1800" dirty="0">
                <a:solidFill>
                  <a:schemeClr val="dk1"/>
                </a:solidFill>
              </a:rPr>
              <a:t>death, damage, trouble, problems, pain, injury...)</a:t>
            </a:r>
            <a:endParaRPr lang="en-US" sz="1800" dirty="0">
              <a:solidFill>
                <a:schemeClr val="dk1"/>
              </a:solidFill>
            </a:endParaRPr>
          </a:p>
        </p:txBody>
      </p:sp>
      <p:pic>
        <p:nvPicPr>
          <p:cNvPr id="100" name="Google Shape;100;p20" title="konkordance_kolokace.png"/>
          <p:cNvPicPr preferRelativeResize="0"/>
          <p:nvPr/>
        </p:nvPicPr>
        <p:blipFill>
          <a:blip r:embed="rId3">
            <a:alphaModFix/>
          </a:blip>
          <a:stretch>
            <a:fillRect/>
          </a:stretch>
        </p:blipFill>
        <p:spPr>
          <a:xfrm>
            <a:off x="4386625" y="1101949"/>
            <a:ext cx="4757375" cy="38122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9">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D2E50-7348-F804-2A10-17336526DB25}"/>
              </a:ext>
            </a:extLst>
          </p:cNvPr>
          <p:cNvSpPr>
            <a:spLocks noGrp="1"/>
          </p:cNvSpPr>
          <p:nvPr>
            <p:ph type="title"/>
          </p:nvPr>
        </p:nvSpPr>
        <p:spPr>
          <a:xfrm>
            <a:off x="154272" y="180569"/>
            <a:ext cx="5302174" cy="572700"/>
          </a:xfrm>
        </p:spPr>
        <p:txBody>
          <a:bodyPr>
            <a:normAutofit fontScale="90000"/>
          </a:bodyPr>
          <a:lstStyle/>
          <a:p>
            <a:r>
              <a:rPr lang="ja-JP" altLang="en-US">
                <a:solidFill>
                  <a:srgbClr val="0000FF"/>
                </a:solidFill>
              </a:rPr>
              <a:t>キーワード分析</a:t>
            </a:r>
            <a:br>
              <a:rPr lang="en-US" altLang="ja-JP" dirty="0">
                <a:solidFill>
                  <a:srgbClr val="0000FF"/>
                </a:solidFill>
              </a:rPr>
            </a:br>
            <a:r>
              <a:rPr lang="en-US" altLang="ja-JP" dirty="0">
                <a:solidFill>
                  <a:srgbClr val="0000FF"/>
                </a:solidFill>
              </a:rPr>
              <a:t>(Keyword Analysis, </a:t>
            </a:r>
            <a:r>
              <a:rPr lang="en-US" dirty="0">
                <a:solidFill>
                  <a:srgbClr val="0000FF"/>
                </a:solidFill>
              </a:rPr>
              <a:t>KWA)</a:t>
            </a:r>
            <a:br>
              <a:rPr lang="en-US" dirty="0">
                <a:solidFill>
                  <a:srgbClr val="0000FF"/>
                </a:solidFill>
              </a:rPr>
            </a:br>
            <a:endParaRPr lang="en-US" dirty="0"/>
          </a:p>
        </p:txBody>
      </p:sp>
      <p:sp>
        <p:nvSpPr>
          <p:cNvPr id="3" name="Text Placeholder 2">
            <a:extLst>
              <a:ext uri="{FF2B5EF4-FFF2-40B4-BE49-F238E27FC236}">
                <a16:creationId xmlns:a16="http://schemas.microsoft.com/office/drawing/2014/main" id="{600E0120-59C7-3680-3D5D-EB5AFEFC9FAA}"/>
              </a:ext>
            </a:extLst>
          </p:cNvPr>
          <p:cNvSpPr>
            <a:spLocks noGrp="1"/>
          </p:cNvSpPr>
          <p:nvPr>
            <p:ph type="body" idx="1"/>
          </p:nvPr>
        </p:nvSpPr>
        <p:spPr>
          <a:xfrm>
            <a:off x="154272" y="1041115"/>
            <a:ext cx="5073944" cy="3416400"/>
          </a:xfrm>
        </p:spPr>
        <p:txBody>
          <a:bodyPr/>
          <a:lstStyle/>
          <a:p>
            <a:pPr fontAlgn="t"/>
            <a:r>
              <a:rPr lang="en-US" dirty="0" err="1">
                <a:solidFill>
                  <a:schemeClr val="tx1"/>
                </a:solidFill>
              </a:rPr>
              <a:t>参照コーパスと比べて、対照コーパスで期待以上に多い語彙、キーワード</a:t>
            </a:r>
            <a:r>
              <a:rPr lang="en-US" dirty="0">
                <a:solidFill>
                  <a:schemeClr val="tx1"/>
                </a:solidFill>
              </a:rPr>
              <a:t>(Keywords, KWs)  </a:t>
            </a:r>
            <a:r>
              <a:rPr lang="ja-JP" altLang="en-US">
                <a:solidFill>
                  <a:schemeClr val="tx1"/>
                </a:solidFill>
              </a:rPr>
              <a:t>　</a:t>
            </a:r>
            <a:endParaRPr lang="en-US" dirty="0">
              <a:solidFill>
                <a:schemeClr val="tx1"/>
              </a:solidFill>
            </a:endParaRPr>
          </a:p>
          <a:p>
            <a:pPr fontAlgn="t"/>
            <a:r>
              <a:rPr lang="en-US" dirty="0" err="1">
                <a:solidFill>
                  <a:schemeClr val="tx1"/>
                </a:solidFill>
              </a:rPr>
              <a:t>キーワードはテキストのトピックを示唆</a:t>
            </a:r>
            <a:r>
              <a:rPr lang="ja-JP" altLang="en-US">
                <a:solidFill>
                  <a:schemeClr val="tx1"/>
                </a:solidFill>
              </a:rPr>
              <a:t>　</a:t>
            </a:r>
            <a:endParaRPr lang="en-US" dirty="0">
              <a:solidFill>
                <a:schemeClr val="tx1"/>
              </a:solidFill>
            </a:endParaRPr>
          </a:p>
          <a:p>
            <a:endParaRPr lang="en-US" dirty="0"/>
          </a:p>
        </p:txBody>
      </p:sp>
      <p:sp>
        <p:nvSpPr>
          <p:cNvPr id="6" name="TextBox 5">
            <a:extLst>
              <a:ext uri="{FF2B5EF4-FFF2-40B4-BE49-F238E27FC236}">
                <a16:creationId xmlns:a16="http://schemas.microsoft.com/office/drawing/2014/main" id="{FA847109-4967-3990-1F41-41EAAF19C25E}"/>
              </a:ext>
            </a:extLst>
          </p:cNvPr>
          <p:cNvSpPr txBox="1"/>
          <p:nvPr/>
        </p:nvSpPr>
        <p:spPr>
          <a:xfrm>
            <a:off x="0" y="4468362"/>
            <a:ext cx="4446932" cy="553998"/>
          </a:xfrm>
          <a:prstGeom prst="rect">
            <a:avLst/>
          </a:prstGeom>
          <a:noFill/>
        </p:spPr>
        <p:txBody>
          <a:bodyPr wrap="square" rtlCol="0">
            <a:spAutoFit/>
          </a:bodyPr>
          <a:lstStyle/>
          <a:p>
            <a:pPr lvl="0">
              <a:buSzPts val="1400"/>
            </a:pPr>
            <a:r>
              <a:rPr lang="en-US" sz="1000" dirty="0">
                <a:solidFill>
                  <a:schemeClr val="dk1"/>
                </a:solidFill>
              </a:rPr>
              <a:t>Re: use of KWA and CA </a:t>
            </a:r>
            <a:r>
              <a:rPr lang="en-US" sz="1000" dirty="0" err="1">
                <a:solidFill>
                  <a:schemeClr val="dk1"/>
                </a:solidFill>
              </a:rPr>
              <a:t>Gabrielatos</a:t>
            </a:r>
            <a:r>
              <a:rPr lang="en-US" sz="1000" dirty="0">
                <a:solidFill>
                  <a:schemeClr val="dk1"/>
                </a:solidFill>
              </a:rPr>
              <a:t> et al 2012, McEnery et al 2019, discussion in Fidler &amp; </a:t>
            </a:r>
            <a:r>
              <a:rPr lang="en-US" sz="1000" dirty="0" err="1">
                <a:solidFill>
                  <a:schemeClr val="dk1"/>
                </a:solidFill>
              </a:rPr>
              <a:t>Cvrček</a:t>
            </a:r>
            <a:r>
              <a:rPr lang="en-US" sz="1000" dirty="0">
                <a:solidFill>
                  <a:schemeClr val="dk1"/>
                </a:solidFill>
              </a:rPr>
              <a:t> 2023. </a:t>
            </a:r>
          </a:p>
          <a:p>
            <a:pPr lvl="0">
              <a:buSzPts val="1400"/>
            </a:pPr>
            <a:r>
              <a:rPr lang="en-US" sz="1000" dirty="0">
                <a:solidFill>
                  <a:schemeClr val="dk1"/>
                </a:solidFill>
              </a:rPr>
              <a:t>Re: dispersion Egbert &amp; Biber 2019; Gries 2024</a:t>
            </a:r>
          </a:p>
        </p:txBody>
      </p:sp>
      <p:graphicFrame>
        <p:nvGraphicFramePr>
          <p:cNvPr id="7" name="Table 6">
            <a:extLst>
              <a:ext uri="{FF2B5EF4-FFF2-40B4-BE49-F238E27FC236}">
                <a16:creationId xmlns:a16="http://schemas.microsoft.com/office/drawing/2014/main" id="{237717E5-FB8C-227A-855B-0C074DDF29DE}"/>
              </a:ext>
            </a:extLst>
          </p:cNvPr>
          <p:cNvGraphicFramePr>
            <a:graphicFrameLocks noGrp="1"/>
          </p:cNvGraphicFramePr>
          <p:nvPr>
            <p:extLst>
              <p:ext uri="{D42A27DB-BD31-4B8C-83A1-F6EECF244321}">
                <p14:modId xmlns:p14="http://schemas.microsoft.com/office/powerpoint/2010/main" val="1732043436"/>
              </p:ext>
            </p:extLst>
          </p:nvPr>
        </p:nvGraphicFramePr>
        <p:xfrm>
          <a:off x="5614742" y="158763"/>
          <a:ext cx="3438891" cy="4541148"/>
        </p:xfrm>
        <a:graphic>
          <a:graphicData uri="http://schemas.openxmlformats.org/drawingml/2006/table">
            <a:tbl>
              <a:tblPr/>
              <a:tblGrid>
                <a:gridCol w="1992889">
                  <a:extLst>
                    <a:ext uri="{9D8B030D-6E8A-4147-A177-3AD203B41FA5}">
                      <a16:colId xmlns:a16="http://schemas.microsoft.com/office/drawing/2014/main" val="3580344727"/>
                    </a:ext>
                  </a:extLst>
                </a:gridCol>
                <a:gridCol w="1446002">
                  <a:extLst>
                    <a:ext uri="{9D8B030D-6E8A-4147-A177-3AD203B41FA5}">
                      <a16:colId xmlns:a16="http://schemas.microsoft.com/office/drawing/2014/main" val="3855554627"/>
                    </a:ext>
                  </a:extLst>
                </a:gridCol>
              </a:tblGrid>
              <a:tr h="318112">
                <a:tc>
                  <a:txBody>
                    <a:bodyPr/>
                    <a:lstStyle/>
                    <a:p>
                      <a:pPr algn="l">
                        <a:buNone/>
                      </a:pPr>
                      <a:r>
                        <a:rPr lang="en-US" sz="1600" dirty="0">
                          <a:effectLst/>
                        </a:rPr>
                        <a:t>lemma</a:t>
                      </a:r>
                    </a:p>
                  </a:txBody>
                  <a:tcPr marL="55701" marR="55701" marT="27850" marB="27850" anchor="ctr">
                    <a:lnL>
                      <a:noFill/>
                    </a:lnL>
                    <a:lnR>
                      <a:noFill/>
                    </a:lnR>
                    <a:lnT>
                      <a:noFill/>
                    </a:lnT>
                    <a:lnB>
                      <a:noFill/>
                    </a:lnB>
                    <a:solidFill>
                      <a:srgbClr val="FFFFFF"/>
                    </a:solidFill>
                  </a:tcPr>
                </a:tc>
                <a:tc>
                  <a:txBody>
                    <a:bodyPr/>
                    <a:lstStyle/>
                    <a:p>
                      <a:pPr algn="r">
                        <a:buNone/>
                      </a:pPr>
                      <a:r>
                        <a:rPr lang="en-US" sz="900" dirty="0">
                          <a:effectLst/>
                        </a:rPr>
                        <a:t>Effect size</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3651801029"/>
                  </a:ext>
                </a:extLst>
              </a:tr>
              <a:tr h="318112">
                <a:tc>
                  <a:txBody>
                    <a:bodyPr/>
                    <a:lstStyle/>
                    <a:p>
                      <a:pPr algn="l">
                        <a:buNone/>
                      </a:pPr>
                      <a:r>
                        <a:rPr lang="en-US" sz="1600" dirty="0">
                          <a:effectLst/>
                        </a:rPr>
                        <a:t>McKinley</a:t>
                      </a:r>
                    </a:p>
                  </a:txBody>
                  <a:tcPr marL="55701" marR="55701" marT="27850" marB="27850" anchor="ctr">
                    <a:lnL>
                      <a:noFill/>
                    </a:lnL>
                    <a:lnR>
                      <a:noFill/>
                    </a:lnR>
                    <a:lnT>
                      <a:noFill/>
                    </a:lnT>
                    <a:lnB>
                      <a:noFill/>
                    </a:lnB>
                    <a:solidFill>
                      <a:srgbClr val="FFFFFF"/>
                    </a:solidFill>
                  </a:tcPr>
                </a:tc>
                <a:tc>
                  <a:txBody>
                    <a:bodyPr/>
                    <a:lstStyle/>
                    <a:p>
                      <a:pPr algn="r">
                        <a:buNone/>
                      </a:pPr>
                      <a:r>
                        <a:rPr lang="en-US" sz="900" dirty="0">
                          <a:effectLst/>
                        </a:rPr>
                        <a:t>99.72</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144917817"/>
                  </a:ext>
                </a:extLst>
              </a:tr>
              <a:tr h="318112">
                <a:tc>
                  <a:txBody>
                    <a:bodyPr/>
                    <a:lstStyle/>
                    <a:p>
                      <a:pPr algn="l">
                        <a:buNone/>
                      </a:pPr>
                      <a:r>
                        <a:rPr lang="en-US" sz="1600" dirty="0">
                          <a:effectLst/>
                        </a:rPr>
                        <a:t>Panama</a:t>
                      </a:r>
                    </a:p>
                  </a:txBody>
                  <a:tcPr marL="55701" marR="55701" marT="27850" marB="27850" anchor="ctr">
                    <a:lnL>
                      <a:noFill/>
                    </a:lnL>
                    <a:lnR>
                      <a:noFill/>
                    </a:lnR>
                    <a:lnT>
                      <a:noFill/>
                    </a:lnT>
                    <a:lnB>
                      <a:noFill/>
                    </a:lnB>
                    <a:solidFill>
                      <a:srgbClr val="F5F9FF"/>
                    </a:solidFill>
                  </a:tcPr>
                </a:tc>
                <a:tc>
                  <a:txBody>
                    <a:bodyPr/>
                    <a:lstStyle/>
                    <a:p>
                      <a:pPr algn="r">
                        <a:buNone/>
                      </a:pPr>
                      <a:r>
                        <a:rPr lang="en-US" sz="900" dirty="0">
                          <a:effectLst/>
                        </a:rPr>
                        <a:t>99.69</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613490641"/>
                  </a:ext>
                </a:extLst>
              </a:tr>
              <a:tr h="318112">
                <a:tc>
                  <a:txBody>
                    <a:bodyPr/>
                    <a:lstStyle/>
                    <a:p>
                      <a:pPr algn="l">
                        <a:buNone/>
                      </a:pPr>
                      <a:r>
                        <a:rPr lang="en-US" sz="1600" dirty="0">
                          <a:effectLst/>
                        </a:rPr>
                        <a:t>Canal</a:t>
                      </a:r>
                    </a:p>
                  </a:txBody>
                  <a:tcPr marL="55701" marR="55701" marT="27850" marB="27850" anchor="ctr">
                    <a:lnL>
                      <a:noFill/>
                    </a:lnL>
                    <a:lnR>
                      <a:noFill/>
                    </a:lnR>
                    <a:lnT>
                      <a:noFill/>
                    </a:lnT>
                    <a:lnB>
                      <a:noFill/>
                    </a:lnB>
                    <a:solidFill>
                      <a:srgbClr val="FFFFFF"/>
                    </a:solidFill>
                  </a:tcPr>
                </a:tc>
                <a:tc>
                  <a:txBody>
                    <a:bodyPr/>
                    <a:lstStyle/>
                    <a:p>
                      <a:pPr algn="r">
                        <a:buNone/>
                      </a:pPr>
                      <a:r>
                        <a:rPr lang="en-US" sz="900">
                          <a:effectLst/>
                        </a:rPr>
                        <a:t>99.64</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2353380507"/>
                  </a:ext>
                </a:extLst>
              </a:tr>
              <a:tr h="318112">
                <a:tc>
                  <a:txBody>
                    <a:bodyPr/>
                    <a:lstStyle/>
                    <a:p>
                      <a:pPr algn="l">
                        <a:buNone/>
                      </a:pPr>
                      <a:r>
                        <a:rPr lang="en-US" sz="1600" dirty="0">
                          <a:effectLst/>
                        </a:rPr>
                        <a:t>reclaim</a:t>
                      </a:r>
                    </a:p>
                  </a:txBody>
                  <a:tcPr marL="55701" marR="55701" marT="27850" marB="27850" anchor="ctr">
                    <a:lnL>
                      <a:noFill/>
                    </a:lnL>
                    <a:lnR>
                      <a:noFill/>
                    </a:lnR>
                    <a:lnT>
                      <a:noFill/>
                    </a:lnT>
                    <a:lnB>
                      <a:noFill/>
                    </a:lnB>
                    <a:solidFill>
                      <a:srgbClr val="FFFFFF"/>
                    </a:solidFill>
                  </a:tcPr>
                </a:tc>
                <a:tc>
                  <a:txBody>
                    <a:bodyPr/>
                    <a:lstStyle/>
                    <a:p>
                      <a:pPr algn="r">
                        <a:buNone/>
                      </a:pPr>
                      <a:r>
                        <a:rPr lang="en-US" sz="900" dirty="0">
                          <a:effectLst/>
                        </a:rPr>
                        <a:t>99.43</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3982626847"/>
                  </a:ext>
                </a:extLst>
              </a:tr>
              <a:tr h="318112">
                <a:tc>
                  <a:txBody>
                    <a:bodyPr/>
                    <a:lstStyle/>
                    <a:p>
                      <a:pPr algn="l">
                        <a:buNone/>
                      </a:pPr>
                      <a:r>
                        <a:rPr lang="en-US" sz="1600" dirty="0">
                          <a:effectLst/>
                        </a:rPr>
                        <a:t>nation</a:t>
                      </a:r>
                    </a:p>
                  </a:txBody>
                  <a:tcPr marL="55701" marR="55701" marT="27850" marB="27850" anchor="ctr">
                    <a:lnL>
                      <a:noFill/>
                    </a:lnL>
                    <a:lnR>
                      <a:noFill/>
                    </a:lnR>
                    <a:lnT>
                      <a:noFill/>
                    </a:lnT>
                    <a:lnB>
                      <a:noFill/>
                    </a:lnB>
                    <a:solidFill>
                      <a:srgbClr val="F5F9FF"/>
                    </a:solidFill>
                  </a:tcPr>
                </a:tc>
                <a:tc>
                  <a:txBody>
                    <a:bodyPr/>
                    <a:lstStyle/>
                    <a:p>
                      <a:pPr algn="r">
                        <a:buNone/>
                      </a:pPr>
                      <a:r>
                        <a:rPr lang="en-US" sz="900">
                          <a:effectLst/>
                        </a:rPr>
                        <a:t>98.87</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75066725"/>
                  </a:ext>
                </a:extLst>
              </a:tr>
              <a:tr h="318112">
                <a:tc>
                  <a:txBody>
                    <a:bodyPr/>
                    <a:lstStyle/>
                    <a:p>
                      <a:pPr algn="l">
                        <a:buNone/>
                      </a:pPr>
                      <a:r>
                        <a:rPr lang="en-US" sz="1600" dirty="0">
                          <a:effectLst/>
                        </a:rPr>
                        <a:t>restore</a:t>
                      </a:r>
                    </a:p>
                  </a:txBody>
                  <a:tcPr marL="55701" marR="55701" marT="27850" marB="27850" anchor="ctr">
                    <a:lnL>
                      <a:noFill/>
                    </a:lnL>
                    <a:lnR>
                      <a:noFill/>
                    </a:lnR>
                    <a:lnT>
                      <a:noFill/>
                    </a:lnT>
                    <a:lnB>
                      <a:noFill/>
                    </a:lnB>
                    <a:solidFill>
                      <a:srgbClr val="F5F9FF"/>
                    </a:solidFill>
                  </a:tcPr>
                </a:tc>
                <a:tc>
                  <a:txBody>
                    <a:bodyPr/>
                    <a:lstStyle/>
                    <a:p>
                      <a:pPr algn="r">
                        <a:buNone/>
                      </a:pPr>
                      <a:r>
                        <a:rPr lang="en-US" sz="900" dirty="0">
                          <a:effectLst/>
                        </a:rPr>
                        <a:t>97.95</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875699404"/>
                  </a:ext>
                </a:extLst>
              </a:tr>
              <a:tr h="318112">
                <a:tc>
                  <a:txBody>
                    <a:bodyPr/>
                    <a:lstStyle/>
                    <a:p>
                      <a:pPr algn="l">
                        <a:buNone/>
                      </a:pPr>
                      <a:r>
                        <a:rPr lang="en-US" sz="1600" dirty="0">
                          <a:effectLst/>
                        </a:rPr>
                        <a:t>America</a:t>
                      </a:r>
                    </a:p>
                  </a:txBody>
                  <a:tcPr marL="55701" marR="55701" marT="27850" marB="27850" anchor="ctr">
                    <a:lnL>
                      <a:noFill/>
                    </a:lnL>
                    <a:lnR>
                      <a:noFill/>
                    </a:lnR>
                    <a:lnT>
                      <a:noFill/>
                    </a:lnT>
                    <a:lnB>
                      <a:noFill/>
                    </a:lnB>
                    <a:solidFill>
                      <a:srgbClr val="FFFFFF"/>
                    </a:solidFill>
                  </a:tcPr>
                </a:tc>
                <a:tc>
                  <a:txBody>
                    <a:bodyPr/>
                    <a:lstStyle/>
                    <a:p>
                      <a:pPr algn="r">
                        <a:buNone/>
                      </a:pPr>
                      <a:r>
                        <a:rPr lang="en-US" sz="900">
                          <a:effectLst/>
                        </a:rPr>
                        <a:t>97.67</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473619102"/>
                  </a:ext>
                </a:extLst>
              </a:tr>
              <a:tr h="318112">
                <a:tc>
                  <a:txBody>
                    <a:bodyPr/>
                    <a:lstStyle/>
                    <a:p>
                      <a:pPr algn="l">
                        <a:buNone/>
                      </a:pPr>
                      <a:r>
                        <a:rPr lang="en-US" sz="1600" dirty="0">
                          <a:effectLst/>
                        </a:rPr>
                        <a:t>mandate</a:t>
                      </a:r>
                    </a:p>
                  </a:txBody>
                  <a:tcPr marL="55701" marR="55701" marT="27850" marB="27850" anchor="ctr">
                    <a:lnL>
                      <a:noFill/>
                    </a:lnL>
                    <a:lnR>
                      <a:noFill/>
                    </a:lnR>
                    <a:lnT>
                      <a:noFill/>
                    </a:lnT>
                    <a:lnB>
                      <a:noFill/>
                    </a:lnB>
                    <a:solidFill>
                      <a:srgbClr val="F5F9FF"/>
                    </a:solidFill>
                  </a:tcPr>
                </a:tc>
                <a:tc>
                  <a:txBody>
                    <a:bodyPr/>
                    <a:lstStyle/>
                    <a:p>
                      <a:pPr algn="r">
                        <a:buNone/>
                      </a:pPr>
                      <a:r>
                        <a:rPr lang="en-US" sz="900">
                          <a:effectLst/>
                        </a:rPr>
                        <a:t>97.64</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419642966"/>
                  </a:ext>
                </a:extLst>
              </a:tr>
              <a:tr h="318112">
                <a:tc>
                  <a:txBody>
                    <a:bodyPr/>
                    <a:lstStyle/>
                    <a:p>
                      <a:pPr algn="l">
                        <a:buNone/>
                      </a:pPr>
                      <a:r>
                        <a:rPr lang="en-US" sz="1600" dirty="0">
                          <a:effectLst/>
                        </a:rPr>
                        <a:t>American</a:t>
                      </a:r>
                    </a:p>
                  </a:txBody>
                  <a:tcPr marL="55701" marR="55701" marT="27850" marB="27850" anchor="ctr">
                    <a:lnL>
                      <a:noFill/>
                    </a:lnL>
                    <a:lnR>
                      <a:noFill/>
                    </a:lnR>
                    <a:lnT>
                      <a:noFill/>
                    </a:lnT>
                    <a:lnB>
                      <a:noFill/>
                    </a:lnB>
                    <a:solidFill>
                      <a:srgbClr val="FFFFFF"/>
                    </a:solidFill>
                  </a:tcPr>
                </a:tc>
                <a:tc>
                  <a:txBody>
                    <a:bodyPr/>
                    <a:lstStyle/>
                    <a:p>
                      <a:pPr algn="r">
                        <a:buNone/>
                      </a:pPr>
                      <a:r>
                        <a:rPr lang="en-US" sz="900">
                          <a:effectLst/>
                        </a:rPr>
                        <a:t>96.56</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3841261899"/>
                  </a:ext>
                </a:extLst>
              </a:tr>
              <a:tr h="318112">
                <a:tc>
                  <a:txBody>
                    <a:bodyPr/>
                    <a:lstStyle/>
                    <a:p>
                      <a:pPr algn="l">
                        <a:buNone/>
                      </a:pPr>
                      <a:r>
                        <a:rPr lang="en-US" sz="1600" dirty="0">
                          <a:effectLst/>
                        </a:rPr>
                        <a:t>wealth</a:t>
                      </a:r>
                    </a:p>
                  </a:txBody>
                  <a:tcPr marL="55701" marR="55701" marT="27850" marB="27850" anchor="ctr">
                    <a:lnL>
                      <a:noFill/>
                    </a:lnL>
                    <a:lnR>
                      <a:noFill/>
                    </a:lnR>
                    <a:lnT>
                      <a:noFill/>
                    </a:lnT>
                    <a:lnB>
                      <a:noFill/>
                    </a:lnB>
                    <a:solidFill>
                      <a:srgbClr val="F5F9FF"/>
                    </a:solidFill>
                  </a:tcPr>
                </a:tc>
                <a:tc>
                  <a:txBody>
                    <a:bodyPr/>
                    <a:lstStyle/>
                    <a:p>
                      <a:pPr algn="r">
                        <a:buNone/>
                      </a:pPr>
                      <a:r>
                        <a:rPr lang="en-US" sz="900">
                          <a:effectLst/>
                        </a:rPr>
                        <a:t>96.40</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2600743434"/>
                  </a:ext>
                </a:extLst>
              </a:tr>
              <a:tr h="405692">
                <a:tc>
                  <a:txBody>
                    <a:bodyPr/>
                    <a:lstStyle/>
                    <a:p>
                      <a:pPr algn="l">
                        <a:buNone/>
                      </a:pPr>
                      <a:r>
                        <a:rPr lang="en-US" sz="1600" dirty="0">
                          <a:effectLst/>
                        </a:rPr>
                        <a:t>administration</a:t>
                      </a:r>
                    </a:p>
                  </a:txBody>
                  <a:tcPr marL="55701" marR="55701" marT="27850" marB="27850" anchor="ctr">
                    <a:lnL>
                      <a:noFill/>
                    </a:lnL>
                    <a:lnR>
                      <a:noFill/>
                    </a:lnR>
                    <a:lnT>
                      <a:noFill/>
                    </a:lnT>
                    <a:lnB>
                      <a:noFill/>
                    </a:lnB>
                    <a:solidFill>
                      <a:srgbClr val="FFFFFF"/>
                    </a:solidFill>
                  </a:tcPr>
                </a:tc>
                <a:tc>
                  <a:txBody>
                    <a:bodyPr/>
                    <a:lstStyle/>
                    <a:p>
                      <a:pPr algn="r">
                        <a:buNone/>
                      </a:pPr>
                      <a:r>
                        <a:rPr lang="en-US" sz="900">
                          <a:effectLst/>
                        </a:rPr>
                        <a:t>96.28</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485417313"/>
                  </a:ext>
                </a:extLst>
              </a:tr>
              <a:tr h="318112">
                <a:tc>
                  <a:txBody>
                    <a:bodyPr/>
                    <a:lstStyle/>
                    <a:p>
                      <a:pPr algn="l">
                        <a:buNone/>
                      </a:pPr>
                      <a:r>
                        <a:rPr lang="en-US" sz="1600" dirty="0">
                          <a:effectLst/>
                        </a:rPr>
                        <a:t>defeat</a:t>
                      </a:r>
                    </a:p>
                  </a:txBody>
                  <a:tcPr marL="55701" marR="55701" marT="27850" marB="27850" anchor="ctr">
                    <a:lnL>
                      <a:noFill/>
                    </a:lnL>
                    <a:lnR>
                      <a:noFill/>
                    </a:lnR>
                    <a:lnT>
                      <a:noFill/>
                    </a:lnT>
                    <a:lnB>
                      <a:noFill/>
                    </a:lnB>
                    <a:solidFill>
                      <a:srgbClr val="F5F9FF"/>
                    </a:solidFill>
                  </a:tcPr>
                </a:tc>
                <a:tc>
                  <a:txBody>
                    <a:bodyPr/>
                    <a:lstStyle/>
                    <a:p>
                      <a:pPr algn="r">
                        <a:buNone/>
                      </a:pPr>
                      <a:r>
                        <a:rPr lang="en-US" sz="900">
                          <a:effectLst/>
                        </a:rPr>
                        <a:t>96.03</a:t>
                      </a:r>
                    </a:p>
                  </a:txBody>
                  <a:tcPr marL="55701" marR="55701" marT="27850" marB="27850" anchor="ctr">
                    <a:lnL>
                      <a:noFill/>
                    </a:lnL>
                    <a:lnR>
                      <a:noFill/>
                    </a:lnR>
                    <a:lnT>
                      <a:noFill/>
                    </a:lnT>
                    <a:lnB>
                      <a:noFill/>
                    </a:lnB>
                    <a:solidFill>
                      <a:srgbClr val="F5F9FF"/>
                    </a:solidFill>
                  </a:tcPr>
                </a:tc>
                <a:extLst>
                  <a:ext uri="{0D108BD9-81ED-4DB2-BD59-A6C34878D82A}">
                    <a16:rowId xmlns:a16="http://schemas.microsoft.com/office/drawing/2014/main" val="918072316"/>
                  </a:ext>
                </a:extLst>
              </a:tr>
              <a:tr h="318112">
                <a:tc>
                  <a:txBody>
                    <a:bodyPr/>
                    <a:lstStyle/>
                    <a:p>
                      <a:pPr algn="l">
                        <a:buNone/>
                      </a:pPr>
                      <a:r>
                        <a:rPr lang="en-US" sz="1600" dirty="0">
                          <a:effectLst/>
                        </a:rPr>
                        <a:t>tariff</a:t>
                      </a:r>
                    </a:p>
                  </a:txBody>
                  <a:tcPr marL="55701" marR="55701" marT="27850" marB="27850" anchor="ctr">
                    <a:lnL>
                      <a:noFill/>
                    </a:lnL>
                    <a:lnR>
                      <a:noFill/>
                    </a:lnR>
                    <a:lnT>
                      <a:noFill/>
                    </a:lnT>
                    <a:lnB>
                      <a:noFill/>
                    </a:lnB>
                    <a:solidFill>
                      <a:srgbClr val="FFFFFF"/>
                    </a:solidFill>
                  </a:tcPr>
                </a:tc>
                <a:tc>
                  <a:txBody>
                    <a:bodyPr/>
                    <a:lstStyle/>
                    <a:p>
                      <a:pPr algn="r">
                        <a:buNone/>
                      </a:pPr>
                      <a:r>
                        <a:rPr lang="en-US" sz="900" dirty="0">
                          <a:effectLst/>
                        </a:rPr>
                        <a:t>95.93</a:t>
                      </a:r>
                    </a:p>
                  </a:txBody>
                  <a:tcPr marL="55701" marR="55701" marT="27850" marB="27850" anchor="ctr">
                    <a:lnL>
                      <a:noFill/>
                    </a:lnL>
                    <a:lnR>
                      <a:noFill/>
                    </a:lnR>
                    <a:lnT>
                      <a:noFill/>
                    </a:lnT>
                    <a:lnB>
                      <a:noFill/>
                    </a:lnB>
                    <a:solidFill>
                      <a:srgbClr val="FFFFFF"/>
                    </a:solidFill>
                  </a:tcPr>
                </a:tc>
                <a:extLst>
                  <a:ext uri="{0D108BD9-81ED-4DB2-BD59-A6C34878D82A}">
                    <a16:rowId xmlns:a16="http://schemas.microsoft.com/office/drawing/2014/main" val="240538453"/>
                  </a:ext>
                </a:extLst>
              </a:tr>
            </a:tbl>
          </a:graphicData>
        </a:graphic>
      </p:graphicFrame>
      <p:sp>
        <p:nvSpPr>
          <p:cNvPr id="9" name="TextBox 8">
            <a:extLst>
              <a:ext uri="{FF2B5EF4-FFF2-40B4-BE49-F238E27FC236}">
                <a16:creationId xmlns:a16="http://schemas.microsoft.com/office/drawing/2014/main" id="{47F4B5F6-E4DA-C9D9-5C71-12DD1F9ADC13}"/>
              </a:ext>
            </a:extLst>
          </p:cNvPr>
          <p:cNvSpPr txBox="1"/>
          <p:nvPr/>
        </p:nvSpPr>
        <p:spPr>
          <a:xfrm>
            <a:off x="5674425" y="4699911"/>
            <a:ext cx="2409245" cy="307777"/>
          </a:xfrm>
          <a:prstGeom prst="rect">
            <a:avLst/>
          </a:prstGeom>
          <a:noFill/>
        </p:spPr>
        <p:txBody>
          <a:bodyPr wrap="square" rtlCol="0">
            <a:spAutoFit/>
          </a:bodyPr>
          <a:lstStyle/>
          <a:p>
            <a:r>
              <a:rPr lang="en-US" dirty="0" err="1"/>
              <a:t>例（抜粋</a:t>
            </a:r>
            <a:r>
              <a:rPr lang="en-US" dirty="0"/>
              <a:t>）</a:t>
            </a:r>
          </a:p>
        </p:txBody>
      </p:sp>
    </p:spTree>
    <p:extLst>
      <p:ext uri="{BB962C8B-B14F-4D97-AF65-F5344CB8AC3E}">
        <p14:creationId xmlns:p14="http://schemas.microsoft.com/office/powerpoint/2010/main" val="197138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276462" y="12229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err="1"/>
              <a:t>マーケットバスケット分析</a:t>
            </a:r>
            <a:r>
              <a:rPr lang="en" dirty="0"/>
              <a:t>(MBA)</a:t>
            </a:r>
            <a:endParaRPr dirty="0"/>
          </a:p>
        </p:txBody>
      </p:sp>
      <p:sp>
        <p:nvSpPr>
          <p:cNvPr id="106" name="Google Shape;106;p21"/>
          <p:cNvSpPr txBox="1"/>
          <p:nvPr/>
        </p:nvSpPr>
        <p:spPr>
          <a:xfrm>
            <a:off x="70477" y="598176"/>
            <a:ext cx="4536762" cy="4423028"/>
          </a:xfrm>
          <a:prstGeom prst="rect">
            <a:avLst/>
          </a:prstGeom>
          <a:noFill/>
          <a:ln>
            <a:noFill/>
          </a:ln>
        </p:spPr>
        <p:txBody>
          <a:bodyPr spcFirstLastPara="1" wrap="square" lIns="91425" tIns="91425" rIns="91425" bIns="91425" anchor="t" anchorCtr="0">
            <a:noAutofit/>
          </a:bodyPr>
          <a:lstStyle/>
          <a:p>
            <a:pPr marL="419100" indent="-285750">
              <a:lnSpc>
                <a:spcPct val="115000"/>
              </a:lnSpc>
              <a:buClr>
                <a:schemeClr val="dk1"/>
              </a:buClr>
              <a:buSzPts val="1500"/>
              <a:buFont typeface="Arial" panose="020B0604020202020204" pitchFamily="34" charset="0"/>
              <a:buChar char="•"/>
            </a:pPr>
            <a:r>
              <a:rPr lang="en-US" sz="1600" dirty="0" err="1"/>
              <a:t>キーワードと</a:t>
            </a:r>
            <a:r>
              <a:rPr lang="en-US" sz="1600" dirty="0"/>
              <a:t> </a:t>
            </a:r>
            <a:r>
              <a:rPr lang="en-US" sz="1600" dirty="0" err="1"/>
              <a:t>キーワードの繋がり</a:t>
            </a:r>
            <a:r>
              <a:rPr lang="en-US" sz="1600" dirty="0"/>
              <a:t>（≈</a:t>
            </a:r>
            <a:r>
              <a:rPr lang="en-US" sz="1600" dirty="0" err="1"/>
              <a:t>トピックの繋がり</a:t>
            </a:r>
            <a:r>
              <a:rPr lang="en-US" sz="1600" dirty="0"/>
              <a:t>）</a:t>
            </a:r>
            <a:endParaRPr lang="en-US" sz="1800" dirty="0">
              <a:solidFill>
                <a:schemeClr val="dk1"/>
              </a:solidFill>
            </a:endParaRPr>
          </a:p>
          <a:p>
            <a:pPr marL="419100" lvl="0" indent="-285750" algn="l" rtl="0">
              <a:lnSpc>
                <a:spcPct val="115000"/>
              </a:lnSpc>
              <a:spcBef>
                <a:spcPts val="0"/>
              </a:spcBef>
              <a:spcAft>
                <a:spcPts val="0"/>
              </a:spcAft>
              <a:buClr>
                <a:schemeClr val="dk1"/>
              </a:buClr>
              <a:buSzPts val="1500"/>
              <a:buFont typeface="Arial" panose="020B0604020202020204" pitchFamily="34" charset="0"/>
              <a:buChar char="•"/>
            </a:pPr>
            <a:r>
              <a:rPr lang="en" sz="1500" dirty="0" err="1">
                <a:solidFill>
                  <a:schemeClr val="dk1"/>
                </a:solidFill>
              </a:rPr>
              <a:t>どのトピックがテキスト中に共存するか数値的に示す</a:t>
            </a:r>
            <a:endParaRPr lang="en" sz="1500" dirty="0">
              <a:solidFill>
                <a:schemeClr val="dk1"/>
              </a:solidFill>
            </a:endParaRPr>
          </a:p>
          <a:p>
            <a:pPr marL="419100" lvl="0" indent="-285750" algn="l" rtl="0">
              <a:lnSpc>
                <a:spcPct val="115000"/>
              </a:lnSpc>
              <a:spcBef>
                <a:spcPts val="0"/>
              </a:spcBef>
              <a:spcAft>
                <a:spcPts val="0"/>
              </a:spcAft>
              <a:buClr>
                <a:schemeClr val="dk1"/>
              </a:buClr>
              <a:buSzPts val="1500"/>
              <a:buFont typeface="Arial" panose="020B0604020202020204" pitchFamily="34" charset="0"/>
              <a:buChar char="•"/>
            </a:pPr>
            <a:r>
              <a:rPr lang="en" sz="1500" dirty="0" err="1">
                <a:solidFill>
                  <a:schemeClr val="dk1"/>
                </a:solidFill>
              </a:rPr>
              <a:t>基礎となるのは連想</a:t>
            </a:r>
            <a:r>
              <a:rPr lang="en" sz="1500" dirty="0">
                <a:solidFill>
                  <a:schemeClr val="dk1"/>
                </a:solidFill>
              </a:rPr>
              <a:t> link</a:t>
            </a:r>
            <a:r>
              <a:rPr lang="ja-JP" altLang="en-US" sz="1500">
                <a:solidFill>
                  <a:schemeClr val="dk1"/>
                </a:solidFill>
              </a:rPr>
              <a:t>　（</a:t>
            </a:r>
            <a:r>
              <a:rPr lang="en-US" altLang="ja-JP" sz="1500" dirty="0">
                <a:solidFill>
                  <a:schemeClr val="dk1"/>
                </a:solidFill>
              </a:rPr>
              <a:t>Associative Links)</a:t>
            </a:r>
            <a:r>
              <a:rPr lang="en" sz="1500" dirty="0">
                <a:solidFill>
                  <a:schemeClr val="dk1"/>
                </a:solidFill>
              </a:rPr>
              <a:t>: </a:t>
            </a:r>
          </a:p>
          <a:p>
            <a:pPr marL="133350" lvl="0" algn="l" rtl="0">
              <a:lnSpc>
                <a:spcPct val="115000"/>
              </a:lnSpc>
              <a:spcBef>
                <a:spcPts val="0"/>
              </a:spcBef>
              <a:spcAft>
                <a:spcPts val="0"/>
              </a:spcAft>
              <a:buClr>
                <a:schemeClr val="dk1"/>
              </a:buClr>
              <a:buSzPts val="1500"/>
            </a:pPr>
            <a:r>
              <a:rPr lang="ja-JP" altLang="en-US" sz="1500">
                <a:solidFill>
                  <a:schemeClr val="dk1"/>
                </a:solidFill>
              </a:rPr>
              <a:t>　　　</a:t>
            </a:r>
            <a:r>
              <a:rPr lang="en" sz="1500" dirty="0">
                <a:solidFill>
                  <a:schemeClr val="dk1"/>
                </a:solidFill>
              </a:rPr>
              <a:t>Antecedent (LHS) → Consequent (RHS)</a:t>
            </a:r>
          </a:p>
          <a:p>
            <a:pPr marL="419100" indent="-285750">
              <a:lnSpc>
                <a:spcPct val="115000"/>
              </a:lnSpc>
              <a:buClr>
                <a:schemeClr val="dk1"/>
              </a:buClr>
              <a:buSzPts val="1500"/>
              <a:buFont typeface="Arial" panose="020B0604020202020204" pitchFamily="34" charset="0"/>
              <a:buChar char="•"/>
            </a:pPr>
            <a:r>
              <a:rPr lang="en-US" sz="1500" dirty="0" err="1">
                <a:solidFill>
                  <a:schemeClr val="dk1"/>
                </a:solidFill>
              </a:rPr>
              <a:t>繋がりを図る変量</a:t>
            </a:r>
            <a:r>
              <a:rPr lang="en-US" sz="1500" dirty="0">
                <a:solidFill>
                  <a:schemeClr val="dk1"/>
                </a:solidFill>
              </a:rPr>
              <a:t>(variable)</a:t>
            </a:r>
            <a:endParaRPr sz="1500"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 dirty="0">
                <a:solidFill>
                  <a:schemeClr val="dk1"/>
                </a:solidFill>
              </a:rPr>
              <a:t>Support = </a:t>
            </a:r>
            <a:r>
              <a:rPr lang="en" dirty="0" err="1">
                <a:solidFill>
                  <a:schemeClr val="dk1"/>
                </a:solidFill>
              </a:rPr>
              <a:t>コーパス全体に押し並べて起こるか</a:t>
            </a:r>
            <a:endParaRPr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 dirty="0">
                <a:solidFill>
                  <a:schemeClr val="dk1"/>
                </a:solidFill>
              </a:rPr>
              <a:t>Confidence = KW</a:t>
            </a:r>
            <a:r>
              <a:rPr lang="en" baseline="30000" dirty="0">
                <a:solidFill>
                  <a:schemeClr val="dk1"/>
                </a:solidFill>
              </a:rPr>
              <a:t>1</a:t>
            </a:r>
            <a:r>
              <a:rPr lang="en" dirty="0">
                <a:solidFill>
                  <a:schemeClr val="dk1"/>
                </a:solidFill>
              </a:rPr>
              <a:t>が入っているテキストのうち二番目のKW</a:t>
            </a:r>
            <a:r>
              <a:rPr lang="en" baseline="30000" dirty="0">
                <a:solidFill>
                  <a:schemeClr val="dk1"/>
                </a:solidFill>
              </a:rPr>
              <a:t>2</a:t>
            </a:r>
            <a:r>
              <a:rPr lang="en" dirty="0">
                <a:solidFill>
                  <a:schemeClr val="dk1"/>
                </a:solidFill>
              </a:rPr>
              <a:t>がどの程度入っているか(</a:t>
            </a:r>
            <a:r>
              <a:rPr lang="en-US" dirty="0">
                <a:solidFill>
                  <a:schemeClr val="dk1"/>
                </a:solidFill>
              </a:rPr>
              <a:t>%)</a:t>
            </a:r>
            <a:endParaRPr dirty="0">
              <a:solidFill>
                <a:schemeClr val="dk1"/>
              </a:solidFill>
            </a:endParaRPr>
          </a:p>
          <a:p>
            <a:pPr marL="914400" lvl="1" indent="-323850">
              <a:lnSpc>
                <a:spcPct val="115000"/>
              </a:lnSpc>
              <a:buClr>
                <a:schemeClr val="dk1"/>
              </a:buClr>
              <a:buSzPts val="1500"/>
              <a:buChar char="○"/>
            </a:pPr>
            <a:r>
              <a:rPr lang="en" dirty="0">
                <a:solidFill>
                  <a:schemeClr val="dk1"/>
                </a:solidFill>
              </a:rPr>
              <a:t>Lift = 最終的な繋がりの強さを示す。KW</a:t>
            </a:r>
            <a:r>
              <a:rPr lang="en" baseline="30000" dirty="0">
                <a:solidFill>
                  <a:schemeClr val="dk1"/>
                </a:solidFill>
              </a:rPr>
              <a:t>１</a:t>
            </a:r>
            <a:r>
              <a:rPr lang="en" dirty="0">
                <a:solidFill>
                  <a:schemeClr val="dk1"/>
                </a:solidFill>
              </a:rPr>
              <a:t>とKW</a:t>
            </a:r>
            <a:r>
              <a:rPr lang="en" baseline="30000" dirty="0">
                <a:solidFill>
                  <a:schemeClr val="dk1"/>
                </a:solidFill>
              </a:rPr>
              <a:t>2</a:t>
            </a:r>
            <a:r>
              <a:rPr lang="en" dirty="0">
                <a:solidFill>
                  <a:schemeClr val="dk1"/>
                </a:solidFill>
              </a:rPr>
              <a:t> </a:t>
            </a:r>
            <a:r>
              <a:rPr lang="en" dirty="0" err="1">
                <a:solidFill>
                  <a:schemeClr val="dk1"/>
                </a:solidFill>
              </a:rPr>
              <a:t>両方含むテキストの数</a:t>
            </a:r>
            <a:r>
              <a:rPr lang="en" dirty="0">
                <a:solidFill>
                  <a:schemeClr val="dk1"/>
                </a:solidFill>
              </a:rPr>
              <a:t>  ÷ KW</a:t>
            </a:r>
            <a:r>
              <a:rPr lang="en" baseline="30000" dirty="0">
                <a:solidFill>
                  <a:schemeClr val="dk1"/>
                </a:solidFill>
              </a:rPr>
              <a:t>１</a:t>
            </a:r>
            <a:r>
              <a:rPr lang="en" dirty="0">
                <a:solidFill>
                  <a:schemeClr val="dk1"/>
                </a:solidFill>
              </a:rPr>
              <a:t> かKW</a:t>
            </a:r>
            <a:r>
              <a:rPr lang="en" baseline="30000" dirty="0">
                <a:solidFill>
                  <a:schemeClr val="dk1"/>
                </a:solidFill>
              </a:rPr>
              <a:t>2</a:t>
            </a:r>
            <a:r>
              <a:rPr lang="en" dirty="0">
                <a:solidFill>
                  <a:schemeClr val="dk1"/>
                </a:solidFill>
              </a:rPr>
              <a:t> </a:t>
            </a:r>
            <a:r>
              <a:rPr lang="en" dirty="0" err="1">
                <a:solidFill>
                  <a:schemeClr val="dk1"/>
                </a:solidFill>
              </a:rPr>
              <a:t>どちらか一つ含むテキストの数</a:t>
            </a:r>
            <a:r>
              <a:rPr lang="ja-JP" altLang="en-US"/>
              <a:t>　</a:t>
            </a:r>
            <a:endParaRPr lang="en" dirty="0">
              <a:solidFill>
                <a:schemeClr val="dk1"/>
              </a:solidFill>
            </a:endParaRPr>
          </a:p>
          <a:p>
            <a:pPr marL="590550">
              <a:lnSpc>
                <a:spcPct val="115000"/>
              </a:lnSpc>
              <a:buClr>
                <a:schemeClr val="dk1"/>
              </a:buClr>
              <a:buSzPts val="1500"/>
            </a:pPr>
            <a:endParaRPr lang="en" sz="1500" dirty="0">
              <a:solidFill>
                <a:schemeClr val="dk1"/>
              </a:solidFill>
            </a:endParaRPr>
          </a:p>
          <a:p>
            <a:pPr marL="590550">
              <a:lnSpc>
                <a:spcPct val="115000"/>
              </a:lnSpc>
              <a:buClr>
                <a:schemeClr val="dk1"/>
              </a:buClr>
              <a:buSzPts val="1500"/>
            </a:pPr>
            <a:r>
              <a:rPr lang="en" sz="1500" dirty="0" err="1">
                <a:solidFill>
                  <a:schemeClr val="dk1"/>
                </a:solidFill>
              </a:rPr>
              <a:t>xs</a:t>
            </a:r>
            <a:endParaRPr lang="en" sz="1500" dirty="0">
              <a:solidFill>
                <a:schemeClr val="dk1"/>
              </a:solidFill>
            </a:endParaRPr>
          </a:p>
        </p:txBody>
      </p:sp>
      <p:pic>
        <p:nvPicPr>
          <p:cNvPr id="107" name="Google Shape;107;p21" title="mba-col.png"/>
          <p:cNvPicPr preferRelativeResize="0"/>
          <p:nvPr/>
        </p:nvPicPr>
        <p:blipFill>
          <a:blip r:embed="rId3">
            <a:alphaModFix/>
          </a:blip>
          <a:stretch>
            <a:fillRect/>
          </a:stretch>
        </p:blipFill>
        <p:spPr>
          <a:xfrm>
            <a:off x="4704058" y="899203"/>
            <a:ext cx="4283172" cy="3820974"/>
          </a:xfrm>
          <a:prstGeom prst="rect">
            <a:avLst/>
          </a:prstGeom>
          <a:noFill/>
          <a:ln>
            <a:noFill/>
          </a:ln>
        </p:spPr>
      </p:pic>
      <p:sp>
        <p:nvSpPr>
          <p:cNvPr id="108" name="Google Shape;108;p21"/>
          <p:cNvSpPr txBox="1"/>
          <p:nvPr/>
        </p:nvSpPr>
        <p:spPr>
          <a:xfrm>
            <a:off x="6748825" y="4349825"/>
            <a:ext cx="18369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rPr>
              <a:t>(Used in Cvrček &amp; Fidler 2024)</a:t>
            </a:r>
            <a:r>
              <a:rPr lang="en" sz="1300">
                <a:solidFill>
                  <a:schemeClr val="dk2"/>
                </a:solidFill>
              </a:rPr>
              <a:t> </a:t>
            </a:r>
            <a:endParaRPr sz="13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Associative links and associative arrays</a:t>
            </a:r>
            <a:endParaRPr dirty="0"/>
          </a:p>
        </p:txBody>
      </p:sp>
      <p:sp>
        <p:nvSpPr>
          <p:cNvPr id="114" name="Google Shape;114;p22"/>
          <p:cNvSpPr txBox="1">
            <a:spLocks noGrp="1"/>
          </p:cNvSpPr>
          <p:nvPr>
            <p:ph type="body" idx="1"/>
          </p:nvPr>
        </p:nvSpPr>
        <p:spPr>
          <a:xfrm>
            <a:off x="311699" y="1152474"/>
            <a:ext cx="8775275" cy="3796043"/>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None/>
            </a:pPr>
            <a:r>
              <a:rPr lang="en" dirty="0">
                <a:solidFill>
                  <a:schemeClr val="dk1"/>
                </a:solidFill>
              </a:rPr>
              <a:t>(6–9/2020)</a:t>
            </a:r>
            <a:r>
              <a:rPr lang="ja-JP" altLang="en-US">
                <a:solidFill>
                  <a:schemeClr val="dk1"/>
                </a:solidFill>
              </a:rPr>
              <a:t>　反システムメデイア</a:t>
            </a:r>
            <a:endParaRPr lang="en"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Clr>
                <a:schemeClr val="dk1"/>
              </a:buClr>
              <a:buSzPct val="61111"/>
              <a:buFont typeface="Arial"/>
              <a:buNone/>
            </a:pP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lvl="0" indent="-457200">
              <a:spcBef>
                <a:spcPts val="1200"/>
              </a:spcBef>
              <a:spcAft>
                <a:spcPts val="1200"/>
              </a:spcAft>
              <a:buFont typeface="Wingdings" pitchFamily="2" charset="2"/>
              <a:buChar char="à"/>
            </a:pPr>
            <a:r>
              <a:rPr lang="en" sz="2900" dirty="0">
                <a:solidFill>
                  <a:schemeClr val="dk1"/>
                </a:solidFill>
              </a:rPr>
              <a:t>Associative array (AA): </a:t>
            </a:r>
            <a:r>
              <a:rPr lang="en" sz="2900" dirty="0" err="1">
                <a:solidFill>
                  <a:schemeClr val="dk1"/>
                </a:solidFill>
              </a:rPr>
              <a:t>Antecedentを集合させたもの＝その一つ一つをアソシエーションとみなす</a:t>
            </a:r>
            <a:r>
              <a:rPr lang="en" sz="2900" dirty="0">
                <a:solidFill>
                  <a:schemeClr val="dk1"/>
                </a:solidFill>
              </a:rPr>
              <a:t>。</a:t>
            </a:r>
          </a:p>
          <a:p>
            <a:pPr marL="0" lvl="0" indent="0">
              <a:spcBef>
                <a:spcPts val="1200"/>
              </a:spcBef>
              <a:spcAft>
                <a:spcPts val="1200"/>
              </a:spcAft>
              <a:buNone/>
            </a:pPr>
            <a:r>
              <a:rPr lang="ja-JP" altLang="en-US" sz="2900">
                <a:solidFill>
                  <a:schemeClr val="dk1"/>
                </a:solidFill>
              </a:rPr>
              <a:t>アソシエーションを総合して考え、移民のフレーミングは、</a:t>
            </a:r>
            <a:r>
              <a:rPr lang="en-US" altLang="ja-JP" sz="2900" dirty="0">
                <a:solidFill>
                  <a:schemeClr val="dk1"/>
                </a:solidFill>
              </a:rPr>
              <a:t> EU</a:t>
            </a:r>
            <a:r>
              <a:rPr lang="ja-JP" altLang="en-US" sz="2900">
                <a:solidFill>
                  <a:schemeClr val="dk1"/>
                </a:solidFill>
              </a:rPr>
              <a:t>の国境を越え、自分の国からアサイラムを求め、不法にヨーロッパに来る存在だという可能性を見出せる。</a:t>
            </a:r>
            <a:endParaRPr sz="2900" i="1" dirty="0">
              <a:solidFill>
                <a:schemeClr val="dk1"/>
              </a:solidFill>
            </a:endParaRPr>
          </a:p>
        </p:txBody>
      </p:sp>
      <p:graphicFrame>
        <p:nvGraphicFramePr>
          <p:cNvPr id="115" name="Google Shape;115;p22"/>
          <p:cNvGraphicFramePr/>
          <p:nvPr>
            <p:extLst>
              <p:ext uri="{D42A27DB-BD31-4B8C-83A1-F6EECF244321}">
                <p14:modId xmlns:p14="http://schemas.microsoft.com/office/powerpoint/2010/main" val="2373147041"/>
              </p:ext>
            </p:extLst>
          </p:nvPr>
        </p:nvGraphicFramePr>
        <p:xfrm>
          <a:off x="1071750" y="1568175"/>
          <a:ext cx="6430425" cy="2175614"/>
        </p:xfrm>
        <a:graphic>
          <a:graphicData uri="http://schemas.openxmlformats.org/drawingml/2006/table">
            <a:tbl>
              <a:tblPr>
                <a:noFill/>
              </a:tblPr>
              <a:tblGrid>
                <a:gridCol w="4649850">
                  <a:extLst>
                    <a:ext uri="{9D8B030D-6E8A-4147-A177-3AD203B41FA5}">
                      <a16:colId xmlns:a16="http://schemas.microsoft.com/office/drawing/2014/main" val="20000"/>
                    </a:ext>
                  </a:extLst>
                </a:gridCol>
                <a:gridCol w="17805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sz="1600" b="1">
                          <a:solidFill>
                            <a:schemeClr val="dk1"/>
                          </a:solidFill>
                        </a:rPr>
                        <a:t>Antecedent</a:t>
                      </a:r>
                      <a:endParaRPr sz="1600" b="1">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sz="1600" b="1">
                          <a:solidFill>
                            <a:schemeClr val="dk1"/>
                          </a:solidFill>
                        </a:rPr>
                        <a:t>Consequent</a:t>
                      </a:r>
                      <a:endParaRPr sz="1600" b="1">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r" rtl="0">
                        <a:lnSpc>
                          <a:spcPct val="115000"/>
                        </a:lnSpc>
                        <a:spcBef>
                          <a:spcPts val="0"/>
                        </a:spcBef>
                        <a:spcAft>
                          <a:spcPts val="0"/>
                        </a:spcAft>
                        <a:buClr>
                          <a:schemeClr val="dk1"/>
                        </a:buClr>
                        <a:buSzPts val="1100"/>
                        <a:buFont typeface="Arial"/>
                        <a:buNone/>
                      </a:pPr>
                      <a:r>
                        <a:rPr lang="en" sz="1600" i="1" dirty="0" err="1">
                          <a:solidFill>
                            <a:schemeClr val="dk1"/>
                          </a:solidFill>
                        </a:rPr>
                        <a:t>nelegální</a:t>
                      </a:r>
                      <a:r>
                        <a:rPr lang="en" sz="1600" dirty="0">
                          <a:solidFill>
                            <a:schemeClr val="dk1"/>
                          </a:solidFill>
                        </a:rPr>
                        <a:t> ‘</a:t>
                      </a:r>
                      <a:r>
                        <a:rPr lang="en" sz="1600" dirty="0" err="1">
                          <a:solidFill>
                            <a:schemeClr val="dk1"/>
                          </a:solidFill>
                        </a:rPr>
                        <a:t>不法</a:t>
                      </a:r>
                      <a:r>
                        <a:rPr lang="en" sz="1600" dirty="0">
                          <a:solidFill>
                            <a:schemeClr val="dk1"/>
                          </a:solidFill>
                        </a:rPr>
                        <a:t>’ → </a:t>
                      </a:r>
                      <a:endParaRPr sz="160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US" sz="1600" i="1" dirty="0">
                          <a:solidFill>
                            <a:schemeClr val="dk1"/>
                          </a:solidFill>
                        </a:rPr>
                        <a:t>m</a:t>
                      </a:r>
                      <a:r>
                        <a:rPr lang="en" sz="1600" i="1" dirty="0" err="1">
                          <a:solidFill>
                            <a:schemeClr val="dk1"/>
                          </a:solidFill>
                        </a:rPr>
                        <a:t>igrant</a:t>
                      </a:r>
                      <a:r>
                        <a:rPr lang="en" sz="1600" i="1" dirty="0">
                          <a:solidFill>
                            <a:schemeClr val="dk1"/>
                          </a:solidFill>
                        </a:rPr>
                        <a:t> ‘’</a:t>
                      </a:r>
                      <a:r>
                        <a:rPr lang="en" sz="1600" i="0" dirty="0" err="1">
                          <a:solidFill>
                            <a:schemeClr val="dk1"/>
                          </a:solidFill>
                        </a:rPr>
                        <a:t>移民</a:t>
                      </a:r>
                      <a:r>
                        <a:rPr lang="en" sz="1600" i="0" dirty="0">
                          <a:solidFill>
                            <a:schemeClr val="dk1"/>
                          </a:solidFill>
                        </a:rPr>
                        <a:t>’</a:t>
                      </a:r>
                      <a:endParaRPr sz="1600" i="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r" rtl="0">
                        <a:lnSpc>
                          <a:spcPct val="115000"/>
                        </a:lnSpc>
                        <a:spcBef>
                          <a:spcPts val="0"/>
                        </a:spcBef>
                        <a:spcAft>
                          <a:spcPts val="0"/>
                        </a:spcAft>
                        <a:buClr>
                          <a:schemeClr val="dk1"/>
                        </a:buClr>
                        <a:buSzPts val="1100"/>
                        <a:buFont typeface="Arial"/>
                        <a:buNone/>
                      </a:pPr>
                      <a:r>
                        <a:rPr lang="en" sz="1600" i="1" dirty="0" err="1">
                          <a:solidFill>
                            <a:schemeClr val="dk1"/>
                          </a:solidFill>
                        </a:rPr>
                        <a:t>azyl</a:t>
                      </a:r>
                      <a:r>
                        <a:rPr lang="en" sz="1600" dirty="0">
                          <a:solidFill>
                            <a:schemeClr val="dk1"/>
                          </a:solidFill>
                        </a:rPr>
                        <a:t> ’</a:t>
                      </a:r>
                      <a:r>
                        <a:rPr lang="en" sz="1600" dirty="0" err="1">
                          <a:solidFill>
                            <a:schemeClr val="dk1"/>
                          </a:solidFill>
                        </a:rPr>
                        <a:t>亡命</a:t>
                      </a:r>
                      <a:r>
                        <a:rPr lang="en" sz="1600" dirty="0">
                          <a:solidFill>
                            <a:schemeClr val="dk1"/>
                          </a:solidFill>
                        </a:rPr>
                        <a:t>’, </a:t>
                      </a:r>
                      <a:r>
                        <a:rPr lang="en" sz="1600" i="1" dirty="0" err="1">
                          <a:solidFill>
                            <a:schemeClr val="dk1"/>
                          </a:solidFill>
                        </a:rPr>
                        <a:t>země</a:t>
                      </a:r>
                      <a:r>
                        <a:rPr lang="en" sz="1600" dirty="0">
                          <a:solidFill>
                            <a:schemeClr val="dk1"/>
                          </a:solidFill>
                        </a:rPr>
                        <a:t> ‘</a:t>
                      </a:r>
                      <a:r>
                        <a:rPr lang="en" sz="1600" dirty="0" err="1">
                          <a:solidFill>
                            <a:schemeClr val="dk1"/>
                          </a:solidFill>
                        </a:rPr>
                        <a:t>国</a:t>
                      </a:r>
                      <a:r>
                        <a:rPr lang="en" sz="1600" dirty="0">
                          <a:solidFill>
                            <a:schemeClr val="dk1"/>
                          </a:solidFill>
                        </a:rPr>
                        <a:t>’ →</a:t>
                      </a:r>
                      <a:endParaRPr sz="160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i="1" dirty="0">
                          <a:solidFill>
                            <a:schemeClr val="dk1"/>
                          </a:solidFill>
                        </a:rPr>
                        <a:t>‘’</a:t>
                      </a:r>
                      <a:r>
                        <a:rPr lang="en" sz="1600" i="0" dirty="0" err="1">
                          <a:solidFill>
                            <a:schemeClr val="dk1"/>
                          </a:solidFill>
                        </a:rPr>
                        <a:t>移民</a:t>
                      </a:r>
                      <a:r>
                        <a:rPr lang="en" sz="1600" i="0" dirty="0">
                          <a:solidFill>
                            <a:schemeClr val="dk1"/>
                          </a:solidFill>
                        </a:rPr>
                        <a:t>’</a:t>
                      </a:r>
                      <a:endParaRPr sz="1600" i="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r" rtl="0">
                        <a:lnSpc>
                          <a:spcPct val="115000"/>
                        </a:lnSpc>
                        <a:spcBef>
                          <a:spcPts val="0"/>
                        </a:spcBef>
                        <a:spcAft>
                          <a:spcPts val="0"/>
                        </a:spcAft>
                        <a:buClr>
                          <a:schemeClr val="dk1"/>
                        </a:buClr>
                        <a:buSzPts val="1100"/>
                        <a:buFont typeface="Arial"/>
                        <a:buNone/>
                      </a:pPr>
                      <a:r>
                        <a:rPr lang="en" sz="1600" i="1" dirty="0" err="1">
                          <a:solidFill>
                            <a:schemeClr val="dk1"/>
                          </a:solidFill>
                        </a:rPr>
                        <a:t>evropský</a:t>
                      </a:r>
                      <a:r>
                        <a:rPr lang="en" sz="1600" dirty="0">
                          <a:solidFill>
                            <a:schemeClr val="dk1"/>
                          </a:solidFill>
                        </a:rPr>
                        <a:t> ’</a:t>
                      </a:r>
                      <a:r>
                        <a:rPr lang="en" sz="1600" dirty="0" err="1">
                          <a:solidFill>
                            <a:schemeClr val="dk1"/>
                          </a:solidFill>
                        </a:rPr>
                        <a:t>ヨーロッパの</a:t>
                      </a:r>
                      <a:r>
                        <a:rPr lang="en" sz="1600" dirty="0">
                          <a:solidFill>
                            <a:schemeClr val="dk1"/>
                          </a:solidFill>
                        </a:rPr>
                        <a:t>’, </a:t>
                      </a:r>
                      <a:r>
                        <a:rPr lang="en" sz="1600" i="1" dirty="0" err="1">
                          <a:solidFill>
                            <a:schemeClr val="dk1"/>
                          </a:solidFill>
                        </a:rPr>
                        <a:t>migrace</a:t>
                      </a:r>
                      <a:r>
                        <a:rPr lang="en" sz="1600" dirty="0">
                          <a:solidFill>
                            <a:schemeClr val="dk1"/>
                          </a:solidFill>
                        </a:rPr>
                        <a:t> ‘</a:t>
                      </a:r>
                      <a:r>
                        <a:rPr lang="en" sz="1600" dirty="0" err="1">
                          <a:solidFill>
                            <a:schemeClr val="dk1"/>
                          </a:solidFill>
                        </a:rPr>
                        <a:t>移住</a:t>
                      </a:r>
                      <a:r>
                        <a:rPr lang="en" sz="1600" dirty="0">
                          <a:solidFill>
                            <a:schemeClr val="dk1"/>
                          </a:solidFill>
                        </a:rPr>
                        <a:t>’ →</a:t>
                      </a:r>
                      <a:endParaRPr sz="160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i="1" dirty="0">
                          <a:solidFill>
                            <a:schemeClr val="dk1"/>
                          </a:solidFill>
                        </a:rPr>
                        <a:t>‘’</a:t>
                      </a:r>
                      <a:r>
                        <a:rPr lang="en" sz="1600" i="0" dirty="0" err="1">
                          <a:solidFill>
                            <a:schemeClr val="dk1"/>
                          </a:solidFill>
                        </a:rPr>
                        <a:t>移民</a:t>
                      </a:r>
                      <a:r>
                        <a:rPr lang="en" sz="1600" i="0" dirty="0">
                          <a:solidFill>
                            <a:schemeClr val="dk1"/>
                          </a:solidFill>
                        </a:rPr>
                        <a:t>’</a:t>
                      </a:r>
                      <a:endParaRPr sz="1600" i="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r" rtl="0">
                        <a:lnSpc>
                          <a:spcPct val="115000"/>
                        </a:lnSpc>
                        <a:spcBef>
                          <a:spcPts val="0"/>
                        </a:spcBef>
                        <a:spcAft>
                          <a:spcPts val="0"/>
                        </a:spcAft>
                        <a:buClr>
                          <a:schemeClr val="dk1"/>
                        </a:buClr>
                        <a:buSzPts val="1100"/>
                        <a:buFont typeface="Arial"/>
                        <a:buNone/>
                      </a:pPr>
                      <a:r>
                        <a:rPr lang="en" sz="1600" i="1" dirty="0">
                          <a:solidFill>
                            <a:schemeClr val="dk1"/>
                          </a:solidFill>
                        </a:rPr>
                        <a:t>EU</a:t>
                      </a:r>
                      <a:r>
                        <a:rPr lang="en" sz="1600" dirty="0">
                          <a:solidFill>
                            <a:schemeClr val="dk1"/>
                          </a:solidFill>
                        </a:rPr>
                        <a:t>, </a:t>
                      </a:r>
                      <a:r>
                        <a:rPr lang="en" sz="1600" i="1" dirty="0" err="1">
                          <a:solidFill>
                            <a:schemeClr val="dk1"/>
                          </a:solidFill>
                        </a:rPr>
                        <a:t>evropský</a:t>
                      </a:r>
                      <a:r>
                        <a:rPr lang="en" sz="1600" dirty="0">
                          <a:solidFill>
                            <a:schemeClr val="dk1"/>
                          </a:solidFill>
                        </a:rPr>
                        <a:t> ’ </a:t>
                      </a:r>
                      <a:r>
                        <a:rPr lang="en" sz="1600" dirty="0" err="1">
                          <a:solidFill>
                            <a:schemeClr val="dk1"/>
                          </a:solidFill>
                        </a:rPr>
                        <a:t>ヨーロッパの</a:t>
                      </a:r>
                      <a:r>
                        <a:rPr lang="en" sz="1600" dirty="0">
                          <a:solidFill>
                            <a:schemeClr val="dk1"/>
                          </a:solidFill>
                        </a:rPr>
                        <a:t>’, </a:t>
                      </a:r>
                      <a:r>
                        <a:rPr lang="en" sz="1600" i="1" dirty="0" err="1">
                          <a:solidFill>
                            <a:schemeClr val="dk1"/>
                          </a:solidFill>
                        </a:rPr>
                        <a:t>hranice</a:t>
                      </a:r>
                      <a:r>
                        <a:rPr lang="en" sz="1600" dirty="0">
                          <a:solidFill>
                            <a:schemeClr val="dk1"/>
                          </a:solidFill>
                        </a:rPr>
                        <a:t> ‘</a:t>
                      </a:r>
                      <a:r>
                        <a:rPr lang="en" sz="1600" dirty="0" err="1">
                          <a:solidFill>
                            <a:schemeClr val="dk1"/>
                          </a:solidFill>
                        </a:rPr>
                        <a:t>国境</a:t>
                      </a:r>
                      <a:r>
                        <a:rPr lang="en" sz="1600" dirty="0">
                          <a:solidFill>
                            <a:schemeClr val="dk1"/>
                          </a:solidFill>
                        </a:rPr>
                        <a:t>’ →</a:t>
                      </a:r>
                      <a:endParaRPr sz="160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i="1" dirty="0">
                          <a:solidFill>
                            <a:schemeClr val="dk1"/>
                          </a:solidFill>
                        </a:rPr>
                        <a:t>‘’</a:t>
                      </a:r>
                      <a:r>
                        <a:rPr lang="en" sz="1600" i="0" dirty="0" err="1">
                          <a:solidFill>
                            <a:schemeClr val="dk1"/>
                          </a:solidFill>
                        </a:rPr>
                        <a:t>移民</a:t>
                      </a:r>
                      <a:r>
                        <a:rPr lang="en" sz="1600" i="0" dirty="0">
                          <a:solidFill>
                            <a:schemeClr val="dk1"/>
                          </a:solidFill>
                        </a:rPr>
                        <a:t>’</a:t>
                      </a:r>
                      <a:endParaRPr sz="1600" i="0" dirty="0">
                        <a:solidFill>
                          <a:schemeClr val="dk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6" name="Google Shape;116;p22"/>
          <p:cNvSpPr txBox="1"/>
          <p:nvPr/>
        </p:nvSpPr>
        <p:spPr>
          <a:xfrm>
            <a:off x="6147275" y="4705875"/>
            <a:ext cx="29397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(Cf. Cvrček &amp; Fidler 2022)</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100"/>
        <p:cNvGrpSpPr/>
        <p:nvPr/>
      </p:nvGrpSpPr>
      <p:grpSpPr>
        <a:xfrm>
          <a:off x="0" y="0"/>
          <a:ext cx="0" cy="0"/>
          <a:chOff x="0" y="0"/>
          <a:chExt cx="0" cy="0"/>
        </a:xfrm>
      </p:grpSpPr>
      <p:sp>
        <p:nvSpPr>
          <p:cNvPr id="101" name="Google Shape;101;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Companions</a:t>
            </a:r>
            <a:endParaRPr dirty="0"/>
          </a:p>
        </p:txBody>
      </p:sp>
      <p:sp>
        <p:nvSpPr>
          <p:cNvPr id="102" name="Google Shape;102;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US" dirty="0">
                <a:solidFill>
                  <a:schemeClr val="dk1"/>
                </a:solidFill>
              </a:rPr>
              <a:t>Associations based on frequency pattern similarity (Spearman correlation)</a:t>
            </a:r>
          </a:p>
          <a:p>
            <a:pPr marL="0" lvl="0" indent="0" algn="l" rtl="0">
              <a:lnSpc>
                <a:spcPct val="115000"/>
              </a:lnSpc>
              <a:spcBef>
                <a:spcPts val="0"/>
              </a:spcBef>
              <a:spcAft>
                <a:spcPts val="0"/>
              </a:spcAft>
              <a:buSzPts val="1800"/>
              <a:buNone/>
            </a:pPr>
            <a:r>
              <a:rPr lang="en-US" dirty="0" err="1">
                <a:solidFill>
                  <a:srgbClr val="FF0000"/>
                </a:solidFill>
              </a:rPr>
              <a:t>Ukrajina</a:t>
            </a:r>
            <a:r>
              <a:rPr lang="en-US" dirty="0">
                <a:solidFill>
                  <a:schemeClr val="dk1"/>
                </a:solidFill>
              </a:rPr>
              <a:t> ‘Ukraine‘</a:t>
            </a:r>
            <a:r>
              <a:rPr lang="ja-JP" altLang="en-US">
                <a:solidFill>
                  <a:schemeClr val="dk1"/>
                </a:solidFill>
              </a:rPr>
              <a:t>と　もう一つの</a:t>
            </a:r>
            <a:r>
              <a:rPr lang="en-US" altLang="ja-JP" dirty="0">
                <a:solidFill>
                  <a:schemeClr val="dk1"/>
                </a:solidFill>
              </a:rPr>
              <a:t>Lemma</a:t>
            </a:r>
            <a:r>
              <a:rPr lang="ja-JP" altLang="en-US">
                <a:solidFill>
                  <a:schemeClr val="dk1"/>
                </a:solidFill>
              </a:rPr>
              <a:t>は</a:t>
            </a:r>
            <a:r>
              <a:rPr lang="ja-JP" altLang="en-US">
                <a:solidFill>
                  <a:srgbClr val="FF0000"/>
                </a:solidFill>
              </a:rPr>
              <a:t>どういう言葉でしょう？</a:t>
            </a:r>
            <a:endParaRPr lang="en-US" dirty="0">
              <a:solidFill>
                <a:srgbClr val="FF0000"/>
              </a:solidFill>
            </a:endParaRPr>
          </a:p>
        </p:txBody>
      </p:sp>
      <p:pic>
        <p:nvPicPr>
          <p:cNvPr id="103" name="Google Shape;103;p8" title="UKR-RUS_pred.png"/>
          <p:cNvPicPr preferRelativeResize="0"/>
          <p:nvPr/>
        </p:nvPicPr>
        <p:blipFill rotWithShape="1">
          <a:blip r:embed="rId3">
            <a:alphaModFix/>
          </a:blip>
          <a:srcRect/>
          <a:stretch/>
        </p:blipFill>
        <p:spPr>
          <a:xfrm>
            <a:off x="86061" y="2053274"/>
            <a:ext cx="4175415" cy="2645201"/>
          </a:xfrm>
          <a:prstGeom prst="rect">
            <a:avLst/>
          </a:prstGeom>
          <a:noFill/>
          <a:ln>
            <a:noFill/>
          </a:ln>
        </p:spPr>
      </p:pic>
      <p:pic>
        <p:nvPicPr>
          <p:cNvPr id="104" name="Google Shape;104;p8" title="UKR-RUS_po.png"/>
          <p:cNvPicPr preferRelativeResize="0"/>
          <p:nvPr/>
        </p:nvPicPr>
        <p:blipFill rotWithShape="1">
          <a:blip r:embed="rId4">
            <a:alphaModFix/>
          </a:blip>
          <a:srcRect/>
          <a:stretch/>
        </p:blipFill>
        <p:spPr>
          <a:xfrm>
            <a:off x="4572000" y="2081748"/>
            <a:ext cx="4084804" cy="2709602"/>
          </a:xfrm>
          <a:prstGeom prst="rect">
            <a:avLst/>
          </a:prstGeom>
          <a:noFill/>
          <a:ln>
            <a:noFill/>
          </a:ln>
        </p:spPr>
      </p:pic>
      <p:sp>
        <p:nvSpPr>
          <p:cNvPr id="107" name="Google Shape;107;p8"/>
          <p:cNvSpPr txBox="1"/>
          <p:nvPr/>
        </p:nvSpPr>
        <p:spPr>
          <a:xfrm>
            <a:off x="371695" y="4698475"/>
            <a:ext cx="1921500" cy="34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Arial"/>
                <a:ea typeface="Arial"/>
                <a:cs typeface="Arial"/>
                <a:sym typeface="Arial"/>
              </a:rPr>
              <a:t>Correlation rho = 0.076</a:t>
            </a:r>
            <a:endParaRPr sz="1300" b="0" i="0" u="none" strike="noStrike" cap="none">
              <a:solidFill>
                <a:schemeClr val="dk1"/>
              </a:solidFill>
              <a:latin typeface="Arial"/>
              <a:ea typeface="Arial"/>
              <a:cs typeface="Arial"/>
              <a:sym typeface="Arial"/>
            </a:endParaRPr>
          </a:p>
        </p:txBody>
      </p:sp>
      <p:sp>
        <p:nvSpPr>
          <p:cNvPr id="108" name="Google Shape;108;p8"/>
          <p:cNvSpPr txBox="1"/>
          <p:nvPr/>
        </p:nvSpPr>
        <p:spPr>
          <a:xfrm>
            <a:off x="4882157" y="4826008"/>
            <a:ext cx="1921500" cy="34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dirty="0">
                <a:solidFill>
                  <a:schemeClr val="dk1"/>
                </a:solidFill>
                <a:latin typeface="Arial"/>
                <a:ea typeface="Arial"/>
                <a:cs typeface="Arial"/>
                <a:sym typeface="Arial"/>
              </a:rPr>
              <a:t>Correlation rho = 0.846</a:t>
            </a:r>
            <a:endParaRPr sz="1300" b="0" i="0" u="none" strike="noStrike" cap="none" dirty="0">
              <a:solidFill>
                <a:schemeClr val="dk1"/>
              </a:solidFill>
              <a:latin typeface="Arial"/>
              <a:ea typeface="Arial"/>
              <a:cs typeface="Arial"/>
              <a:sym typeface="Arial"/>
            </a:endParaRPr>
          </a:p>
        </p:txBody>
      </p:sp>
      <p:sp>
        <p:nvSpPr>
          <p:cNvPr id="109" name="Google Shape;109;p8"/>
          <p:cNvSpPr txBox="1"/>
          <p:nvPr/>
        </p:nvSpPr>
        <p:spPr>
          <a:xfrm>
            <a:off x="6950575" y="4791350"/>
            <a:ext cx="2130900" cy="32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Arial"/>
                <a:ea typeface="Arial"/>
                <a:cs typeface="Arial"/>
                <a:sym typeface="Arial"/>
              </a:rPr>
              <a:t>Cf. Cvrček &amp; Fidler 2024</a:t>
            </a:r>
            <a:endParaRPr sz="1400" b="0" i="0" u="none" strike="noStrike" cap="none">
              <a:solidFill>
                <a:schemeClr val="dk2"/>
              </a:solidFill>
              <a:latin typeface="Arial"/>
              <a:ea typeface="Arial"/>
              <a:cs typeface="Arial"/>
              <a:sym typeface="Arial"/>
            </a:endParaRPr>
          </a:p>
        </p:txBody>
      </p:sp>
      <p:sp>
        <p:nvSpPr>
          <p:cNvPr id="2" name="TextBox 1">
            <a:extLst>
              <a:ext uri="{FF2B5EF4-FFF2-40B4-BE49-F238E27FC236}">
                <a16:creationId xmlns:a16="http://schemas.microsoft.com/office/drawing/2014/main" id="{9A6314CD-B59B-D628-2ABE-75E66708CF8F}"/>
              </a:ext>
            </a:extLst>
          </p:cNvPr>
          <p:cNvSpPr txBox="1"/>
          <p:nvPr/>
        </p:nvSpPr>
        <p:spPr>
          <a:xfrm>
            <a:off x="3784821" y="278296"/>
            <a:ext cx="3165754" cy="954107"/>
          </a:xfrm>
          <a:prstGeom prst="rect">
            <a:avLst/>
          </a:prstGeom>
          <a:noFill/>
        </p:spPr>
        <p:txBody>
          <a:bodyPr wrap="square" rtlCol="0">
            <a:spAutoFit/>
          </a:bodyPr>
          <a:lstStyle/>
          <a:p>
            <a:r>
              <a:rPr lang="en-US" dirty="0" err="1"/>
              <a:t>テキストでシステマチックに共に起こるキーワード</a:t>
            </a:r>
            <a:r>
              <a:rPr lang="en-US" dirty="0"/>
              <a:t> → </a:t>
            </a:r>
            <a:r>
              <a:rPr lang="en-US" dirty="0" err="1"/>
              <a:t>キーワードの繋がり</a:t>
            </a:r>
            <a:r>
              <a:rPr lang="en-US" dirty="0"/>
              <a:t>（≈</a:t>
            </a:r>
            <a:r>
              <a:rPr lang="en-US" dirty="0" err="1"/>
              <a:t>トピックの繋がり</a:t>
            </a:r>
            <a:r>
              <a:rPr lang="en-US" dirty="0"/>
              <a:t>）</a:t>
            </a:r>
            <a:r>
              <a:rPr lang="ja-JP" altLang="en-US"/>
              <a:t>　</a:t>
            </a:r>
            <a:endParaRPr lang="en-US" dirty="0"/>
          </a:p>
          <a:p>
            <a:endParaRPr lang="en-US" dirty="0"/>
          </a:p>
        </p:txBody>
      </p:sp>
      <p:sp>
        <p:nvSpPr>
          <p:cNvPr id="4" name="TextBox 3">
            <a:extLst>
              <a:ext uri="{FF2B5EF4-FFF2-40B4-BE49-F238E27FC236}">
                <a16:creationId xmlns:a16="http://schemas.microsoft.com/office/drawing/2014/main" id="{EFD97CE8-4E79-7500-7ED1-9D248F6D3077}"/>
              </a:ext>
            </a:extLst>
          </p:cNvPr>
          <p:cNvSpPr txBox="1"/>
          <p:nvPr/>
        </p:nvSpPr>
        <p:spPr>
          <a:xfrm>
            <a:off x="427300" y="2053274"/>
            <a:ext cx="1810291" cy="307777"/>
          </a:xfrm>
          <a:prstGeom prst="rect">
            <a:avLst/>
          </a:prstGeom>
          <a:noFill/>
        </p:spPr>
        <p:txBody>
          <a:bodyPr wrap="square" rtlCol="0">
            <a:spAutoFit/>
          </a:bodyPr>
          <a:lstStyle/>
          <a:p>
            <a:r>
              <a:rPr lang="en-US" dirty="0"/>
              <a:t>2020</a:t>
            </a:r>
          </a:p>
        </p:txBody>
      </p:sp>
      <p:sp>
        <p:nvSpPr>
          <p:cNvPr id="6" name="TextBox 5">
            <a:extLst>
              <a:ext uri="{FF2B5EF4-FFF2-40B4-BE49-F238E27FC236}">
                <a16:creationId xmlns:a16="http://schemas.microsoft.com/office/drawing/2014/main" id="{BD72D12E-E3A4-6D59-BE5D-94805A6455EB}"/>
              </a:ext>
            </a:extLst>
          </p:cNvPr>
          <p:cNvSpPr txBox="1"/>
          <p:nvPr/>
        </p:nvSpPr>
        <p:spPr>
          <a:xfrm>
            <a:off x="4882525" y="2024799"/>
            <a:ext cx="1350085" cy="307777"/>
          </a:xfrm>
          <a:prstGeom prst="rect">
            <a:avLst/>
          </a:prstGeom>
          <a:noFill/>
        </p:spPr>
        <p:txBody>
          <a:bodyPr wrap="square">
            <a:spAutoFit/>
          </a:bodyPr>
          <a:lstStyle/>
          <a:p>
            <a:r>
              <a:rPr lang="en-US" dirty="0"/>
              <a:t>2022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311700" y="343082"/>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err="1"/>
              <a:t>メソッドを組み合わせる</a:t>
            </a:r>
            <a:endParaRPr dirty="0"/>
          </a:p>
        </p:txBody>
      </p:sp>
      <p:sp>
        <p:nvSpPr>
          <p:cNvPr id="135" name="Google Shape;135;p24"/>
          <p:cNvSpPr txBox="1">
            <a:spLocks noGrp="1"/>
          </p:cNvSpPr>
          <p:nvPr>
            <p:ph type="body" idx="1"/>
          </p:nvPr>
        </p:nvSpPr>
        <p:spPr>
          <a:xfrm>
            <a:off x="311700" y="1152475"/>
            <a:ext cx="43245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JP" altLang="en-US">
                <a:solidFill>
                  <a:schemeClr val="dk1"/>
                </a:solidFill>
              </a:rPr>
              <a:t>　</a:t>
            </a:r>
            <a:endParaRPr lang="en" dirty="0">
              <a:solidFill>
                <a:schemeClr val="dk1"/>
              </a:solidFill>
            </a:endParaRPr>
          </a:p>
          <a:p>
            <a:pPr marL="285750" lvl="0" indent="-285750" algn="l" rtl="0">
              <a:spcBef>
                <a:spcPts val="0"/>
              </a:spcBef>
              <a:spcAft>
                <a:spcPts val="0"/>
              </a:spcAft>
              <a:buFont typeface="Wingdings" pitchFamily="2" charset="2"/>
              <a:buChar char="§"/>
            </a:pPr>
            <a:r>
              <a:rPr lang="en-US" dirty="0" err="1">
                <a:solidFill>
                  <a:schemeClr val="dk1"/>
                </a:solidFill>
              </a:rPr>
              <a:t>あるキーワードにフォーカス</a:t>
            </a:r>
            <a:r>
              <a:rPr lang="en" dirty="0">
                <a:solidFill>
                  <a:schemeClr val="dk1"/>
                </a:solidFill>
              </a:rPr>
              <a:t>), </a:t>
            </a:r>
            <a:r>
              <a:rPr lang="en" dirty="0" err="1">
                <a:solidFill>
                  <a:schemeClr val="dk1"/>
                </a:solidFill>
              </a:rPr>
              <a:t>あるいはseed</a:t>
            </a:r>
            <a:r>
              <a:rPr lang="en" dirty="0">
                <a:solidFill>
                  <a:schemeClr val="dk1"/>
                </a:solidFill>
              </a:rPr>
              <a:t> words </a:t>
            </a:r>
            <a:r>
              <a:rPr lang="en" dirty="0" err="1">
                <a:solidFill>
                  <a:schemeClr val="dk1"/>
                </a:solidFill>
              </a:rPr>
              <a:t>から始める</a:t>
            </a:r>
            <a:endParaRPr lang="en" dirty="0">
              <a:solidFill>
                <a:schemeClr val="dk1"/>
              </a:solidFill>
            </a:endParaRPr>
          </a:p>
          <a:p>
            <a:pPr marL="285750" lvl="0" indent="-285750" algn="l" rtl="0">
              <a:spcBef>
                <a:spcPts val="0"/>
              </a:spcBef>
              <a:spcAft>
                <a:spcPts val="0"/>
              </a:spcAft>
              <a:buFont typeface="Wingdings" pitchFamily="2" charset="2"/>
              <a:buChar char="§"/>
            </a:pPr>
            <a:r>
              <a:rPr lang="en" dirty="0" err="1">
                <a:solidFill>
                  <a:schemeClr val="dk1"/>
                </a:solidFill>
              </a:rPr>
              <a:t>どのようなトピックが</a:t>
            </a:r>
            <a:r>
              <a:rPr lang="en" dirty="0">
                <a:solidFill>
                  <a:schemeClr val="dk1"/>
                </a:solidFill>
              </a:rPr>
              <a:t>(</a:t>
            </a:r>
            <a:r>
              <a:rPr lang="en" dirty="0" err="1">
                <a:solidFill>
                  <a:schemeClr val="dk1"/>
                </a:solidFill>
              </a:rPr>
              <a:t>繰り返し</a:t>
            </a:r>
            <a:r>
              <a:rPr lang="en" dirty="0">
                <a:solidFill>
                  <a:schemeClr val="dk1"/>
                </a:solidFill>
              </a:rPr>
              <a:t>) </a:t>
            </a:r>
            <a:r>
              <a:rPr lang="en" dirty="0" err="1">
                <a:solidFill>
                  <a:schemeClr val="dk1"/>
                </a:solidFill>
              </a:rPr>
              <a:t>一緒に起こるのか</a:t>
            </a:r>
            <a:endParaRPr lang="en" dirty="0">
              <a:solidFill>
                <a:schemeClr val="dk1"/>
              </a:solidFill>
            </a:endParaRPr>
          </a:p>
          <a:p>
            <a:pPr marL="285750" lvl="0" indent="-285750" algn="l" rtl="0">
              <a:spcBef>
                <a:spcPts val="0"/>
              </a:spcBef>
              <a:spcAft>
                <a:spcPts val="0"/>
              </a:spcAft>
              <a:buFont typeface="Wingdings" pitchFamily="2" charset="2"/>
              <a:buChar char="§"/>
            </a:pPr>
            <a:r>
              <a:rPr lang="en" dirty="0" err="1">
                <a:solidFill>
                  <a:schemeClr val="dk1"/>
                </a:solidFill>
              </a:rPr>
              <a:t>そのトピックがどういう意味でつかわれているか</a:t>
            </a:r>
            <a:r>
              <a:rPr lang="en" dirty="0">
                <a:solidFill>
                  <a:schemeClr val="dk1"/>
                </a:solidFill>
              </a:rPr>
              <a:t> (CA)</a:t>
            </a:r>
            <a:endParaRPr dirty="0">
              <a:solidFill>
                <a:schemeClr val="dk1"/>
              </a:solidFill>
            </a:endParaRPr>
          </a:p>
        </p:txBody>
      </p:sp>
      <p:pic>
        <p:nvPicPr>
          <p:cNvPr id="136" name="Google Shape;136;p24" title="diagram-cl.png"/>
          <p:cNvPicPr preferRelativeResize="0"/>
          <p:nvPr/>
        </p:nvPicPr>
        <p:blipFill>
          <a:blip r:embed="rId3">
            <a:alphaModFix/>
          </a:blip>
          <a:stretch>
            <a:fillRect/>
          </a:stretch>
        </p:blipFill>
        <p:spPr>
          <a:xfrm>
            <a:off x="4862650" y="75304"/>
            <a:ext cx="4120725" cy="4839045"/>
          </a:xfrm>
          <a:prstGeom prst="rect">
            <a:avLst/>
          </a:prstGeom>
          <a:noFill/>
          <a:ln>
            <a:noFill/>
          </a:ln>
        </p:spPr>
      </p:pic>
      <p:cxnSp>
        <p:nvCxnSpPr>
          <p:cNvPr id="3" name="Straight Arrow Connector 2">
            <a:extLst>
              <a:ext uri="{FF2B5EF4-FFF2-40B4-BE49-F238E27FC236}">
                <a16:creationId xmlns:a16="http://schemas.microsoft.com/office/drawing/2014/main" id="{31A71533-3DA2-DCED-D8A7-189CFF4BBFB9}"/>
              </a:ext>
            </a:extLst>
          </p:cNvPr>
          <p:cNvCxnSpPr>
            <a:cxnSpLocks/>
          </p:cNvCxnSpPr>
          <p:nvPr/>
        </p:nvCxnSpPr>
        <p:spPr>
          <a:xfrm>
            <a:off x="3039091" y="1938352"/>
            <a:ext cx="3445685" cy="142375"/>
          </a:xfrm>
          <a:prstGeom prst="straightConnector1">
            <a:avLst/>
          </a:prstGeom>
          <a:ln w="317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7736445-C379-8319-183A-A7BC80CF7A3E}"/>
              </a:ext>
            </a:extLst>
          </p:cNvPr>
          <p:cNvCxnSpPr>
            <a:cxnSpLocks/>
          </p:cNvCxnSpPr>
          <p:nvPr/>
        </p:nvCxnSpPr>
        <p:spPr>
          <a:xfrm>
            <a:off x="3648269" y="2571750"/>
            <a:ext cx="4064964" cy="1344034"/>
          </a:xfrm>
          <a:prstGeom prst="straightConnector1">
            <a:avLst/>
          </a:prstGeom>
          <a:ln w="317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7CB3D2B-5519-21F7-9039-C1D355411E9D}"/>
              </a:ext>
            </a:extLst>
          </p:cNvPr>
          <p:cNvCxnSpPr>
            <a:cxnSpLocks/>
          </p:cNvCxnSpPr>
          <p:nvPr/>
        </p:nvCxnSpPr>
        <p:spPr>
          <a:xfrm>
            <a:off x="2701511" y="3243767"/>
            <a:ext cx="2672922" cy="1076306"/>
          </a:xfrm>
          <a:prstGeom prst="straightConnector1">
            <a:avLst/>
          </a:prstGeom>
          <a:ln w="3810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err="1">
                <a:solidFill>
                  <a:schemeClr val="tx1"/>
                </a:solidFill>
              </a:rPr>
              <a:t>コロケートがMBAのデータを理解する上で</a:t>
            </a:r>
            <a:r>
              <a:rPr lang="ja-JP" altLang="en-US">
                <a:solidFill>
                  <a:schemeClr val="tx1"/>
                </a:solidFill>
              </a:rPr>
              <a:t>役にたつ例</a:t>
            </a:r>
            <a:endParaRPr dirty="0">
              <a:solidFill>
                <a:schemeClr val="tx1"/>
              </a:solidFill>
            </a:endParaRPr>
          </a:p>
        </p:txBody>
      </p:sp>
      <p:sp>
        <p:nvSpPr>
          <p:cNvPr id="142" name="Google Shape;142;p25"/>
          <p:cNvSpPr txBox="1">
            <a:spLocks noGrp="1"/>
          </p:cNvSpPr>
          <p:nvPr>
            <p:ph type="body" idx="1"/>
          </p:nvPr>
        </p:nvSpPr>
        <p:spPr>
          <a:xfrm>
            <a:off x="311700" y="1152474"/>
            <a:ext cx="8520600" cy="3876725"/>
          </a:xfrm>
          <a:prstGeom prst="rect">
            <a:avLst/>
          </a:prstGeom>
        </p:spPr>
        <p:txBody>
          <a:bodyPr spcFirstLastPara="1" wrap="square" lIns="91425" tIns="91425" rIns="91425" bIns="91425" anchor="t" anchorCtr="0">
            <a:normAutofit/>
          </a:bodyPr>
          <a:lstStyle/>
          <a:p>
            <a:pPr lvl="0"/>
            <a:r>
              <a:rPr lang="en" i="1" dirty="0" err="1">
                <a:solidFill>
                  <a:schemeClr val="tx1"/>
                </a:solidFill>
              </a:rPr>
              <a:t>Západ</a:t>
            </a:r>
            <a:r>
              <a:rPr lang="en" dirty="0">
                <a:solidFill>
                  <a:schemeClr val="tx1"/>
                </a:solidFill>
              </a:rPr>
              <a:t> ‘</a:t>
            </a:r>
            <a:r>
              <a:rPr lang="en" dirty="0" err="1">
                <a:solidFill>
                  <a:schemeClr val="tx1"/>
                </a:solidFill>
              </a:rPr>
              <a:t>西’は</a:t>
            </a:r>
            <a:r>
              <a:rPr lang="en" i="1" dirty="0">
                <a:solidFill>
                  <a:schemeClr val="tx1"/>
                </a:solidFill>
              </a:rPr>
              <a:t> </a:t>
            </a:r>
            <a:r>
              <a:rPr lang="en" i="1" dirty="0" err="1">
                <a:solidFill>
                  <a:schemeClr val="tx1"/>
                </a:solidFill>
              </a:rPr>
              <a:t>studený</a:t>
            </a:r>
            <a:r>
              <a:rPr lang="en" dirty="0">
                <a:solidFill>
                  <a:schemeClr val="tx1"/>
                </a:solidFill>
              </a:rPr>
              <a:t> ‘</a:t>
            </a:r>
            <a:r>
              <a:rPr lang="en" dirty="0" err="1">
                <a:solidFill>
                  <a:schemeClr val="tx1"/>
                </a:solidFill>
              </a:rPr>
              <a:t>冷、冷たい</a:t>
            </a:r>
            <a:r>
              <a:rPr lang="en" dirty="0">
                <a:solidFill>
                  <a:schemeClr val="tx1"/>
                </a:solidFill>
              </a:rPr>
              <a:t>’ </a:t>
            </a:r>
            <a:r>
              <a:rPr lang="en" dirty="0" err="1">
                <a:solidFill>
                  <a:schemeClr val="tx1"/>
                </a:solidFill>
              </a:rPr>
              <a:t>と頻繁に共存している（MBA</a:t>
            </a:r>
            <a:r>
              <a:rPr lang="en" dirty="0">
                <a:solidFill>
                  <a:schemeClr val="tx1"/>
                </a:solidFill>
              </a:rPr>
              <a:t>)</a:t>
            </a:r>
            <a:endParaRPr dirty="0">
              <a:solidFill>
                <a:schemeClr val="tx1"/>
              </a:solidFill>
            </a:endParaRPr>
          </a:p>
          <a:p>
            <a:pPr marL="914400" lvl="1" indent="-317500" algn="l" rtl="0">
              <a:spcBef>
                <a:spcPts val="0"/>
              </a:spcBef>
              <a:spcAft>
                <a:spcPts val="0"/>
              </a:spcAft>
              <a:buSzPts val="1400"/>
              <a:buChar char="○"/>
            </a:pPr>
            <a:r>
              <a:rPr lang="en" i="1" dirty="0" err="1">
                <a:solidFill>
                  <a:schemeClr val="tx1"/>
                </a:solidFill>
              </a:rPr>
              <a:t>studený</a:t>
            </a:r>
            <a:r>
              <a:rPr lang="en" dirty="0">
                <a:solidFill>
                  <a:schemeClr val="tx1"/>
                </a:solidFill>
              </a:rPr>
              <a:t> ‘</a:t>
            </a:r>
            <a:r>
              <a:rPr lang="en" dirty="0" err="1">
                <a:solidFill>
                  <a:schemeClr val="tx1"/>
                </a:solidFill>
              </a:rPr>
              <a:t>冷、冷たい</a:t>
            </a:r>
            <a:r>
              <a:rPr lang="en" dirty="0">
                <a:solidFill>
                  <a:schemeClr val="tx1"/>
                </a:solidFill>
              </a:rPr>
              <a:t>’ - </a:t>
            </a:r>
            <a:r>
              <a:rPr lang="en" dirty="0" err="1">
                <a:solidFill>
                  <a:schemeClr val="tx1"/>
                </a:solidFill>
              </a:rPr>
              <a:t>このままではどういう意味で使われているかはっきりとはわからない（冷戦？天気予報？日没？西側で食べたり飲んだりするもの</a:t>
            </a:r>
            <a:r>
              <a:rPr lang="en" dirty="0">
                <a:solidFill>
                  <a:schemeClr val="tx1"/>
                </a:solidFill>
              </a:rPr>
              <a:t>？）</a:t>
            </a:r>
            <a:endParaRPr dirty="0">
              <a:solidFill>
                <a:schemeClr val="tx1"/>
              </a:solidFill>
            </a:endParaRPr>
          </a:p>
          <a:p>
            <a:pPr marL="1054100" lvl="2" indent="0">
              <a:buNone/>
            </a:pPr>
            <a:r>
              <a:rPr lang="en" dirty="0">
                <a:solidFill>
                  <a:schemeClr val="tx1"/>
                </a:solidFill>
              </a:rPr>
              <a:t>『</a:t>
            </a:r>
            <a:r>
              <a:rPr lang="en" dirty="0" err="1">
                <a:solidFill>
                  <a:schemeClr val="tx1"/>
                </a:solidFill>
              </a:rPr>
              <a:t>西』と共存する</a:t>
            </a:r>
            <a:r>
              <a:rPr lang="en" i="1" dirty="0">
                <a:solidFill>
                  <a:schemeClr val="tx1"/>
                </a:solidFill>
              </a:rPr>
              <a:t> </a:t>
            </a:r>
            <a:r>
              <a:rPr lang="en" i="1" dirty="0" err="1">
                <a:solidFill>
                  <a:schemeClr val="tx1"/>
                </a:solidFill>
              </a:rPr>
              <a:t>studený</a:t>
            </a:r>
            <a:r>
              <a:rPr lang="en" dirty="0">
                <a:solidFill>
                  <a:schemeClr val="tx1"/>
                </a:solidFill>
              </a:rPr>
              <a:t> </a:t>
            </a:r>
            <a:r>
              <a:rPr lang="en" dirty="0" err="1">
                <a:solidFill>
                  <a:schemeClr val="tx1"/>
                </a:solidFill>
              </a:rPr>
              <a:t>のコロケーション</a:t>
            </a:r>
            <a:r>
              <a:rPr lang="en" dirty="0">
                <a:solidFill>
                  <a:schemeClr val="tx1"/>
                </a:solidFill>
              </a:rPr>
              <a:t> </a:t>
            </a:r>
          </a:p>
          <a:p>
            <a:pPr marL="1054100" lvl="2" indent="0">
              <a:buNone/>
            </a:pPr>
            <a:r>
              <a:rPr lang="en" dirty="0" err="1">
                <a:solidFill>
                  <a:srgbClr val="FF0000"/>
                </a:solidFill>
              </a:rPr>
              <a:t>戦争</a:t>
            </a:r>
            <a:r>
              <a:rPr lang="en" dirty="0">
                <a:solidFill>
                  <a:srgbClr val="FF0000"/>
                </a:solidFill>
              </a:rPr>
              <a:t>、</a:t>
            </a:r>
            <a:r>
              <a:rPr lang="en" dirty="0">
                <a:solidFill>
                  <a:schemeClr val="tx1"/>
                </a:solidFill>
              </a:rPr>
              <a:t>（</a:t>
            </a:r>
            <a:r>
              <a:rPr lang="en" dirty="0" err="1">
                <a:solidFill>
                  <a:schemeClr val="tx1"/>
                </a:solidFill>
              </a:rPr>
              <a:t>冷戦での</a:t>
            </a:r>
            <a:r>
              <a:rPr lang="en" dirty="0">
                <a:solidFill>
                  <a:schemeClr val="tx1"/>
                </a:solidFill>
              </a:rPr>
              <a:t>）</a:t>
            </a:r>
            <a:r>
              <a:rPr lang="ja-JP" altLang="en-US">
                <a:solidFill>
                  <a:srgbClr val="FF0000"/>
                </a:solidFill>
              </a:rPr>
              <a:t>双極性</a:t>
            </a:r>
            <a:r>
              <a:rPr lang="en-US" altLang="ja-JP" dirty="0">
                <a:solidFill>
                  <a:schemeClr val="tx1"/>
                </a:solidFill>
              </a:rPr>
              <a:t>(</a:t>
            </a:r>
            <a:r>
              <a:rPr lang="ja-JP" altLang="en-US">
                <a:solidFill>
                  <a:schemeClr val="tx1"/>
                </a:solidFill>
              </a:rPr>
              <a:t>のある世界）</a:t>
            </a:r>
            <a:r>
              <a:rPr lang="en-US" altLang="ja-JP" dirty="0">
                <a:solidFill>
                  <a:schemeClr val="tx1"/>
                </a:solidFill>
              </a:rPr>
              <a:t>, </a:t>
            </a:r>
            <a:r>
              <a:rPr lang="ja-JP" altLang="en-US">
                <a:solidFill>
                  <a:schemeClr val="tx1"/>
                </a:solidFill>
              </a:rPr>
              <a:t>（</a:t>
            </a:r>
            <a:r>
              <a:rPr lang="en" dirty="0" err="1">
                <a:solidFill>
                  <a:schemeClr val="tx1"/>
                </a:solidFill>
              </a:rPr>
              <a:t>冷戦時代の</a:t>
            </a:r>
            <a:r>
              <a:rPr lang="en" dirty="0">
                <a:solidFill>
                  <a:schemeClr val="tx1"/>
                </a:solidFill>
              </a:rPr>
              <a:t>)</a:t>
            </a:r>
            <a:r>
              <a:rPr lang="ja-JP" altLang="en-US">
                <a:solidFill>
                  <a:srgbClr val="FF0000"/>
                </a:solidFill>
              </a:rPr>
              <a:t>遺物</a:t>
            </a:r>
            <a:r>
              <a:rPr lang="ja-JP" altLang="en-US"/>
              <a:t>、</a:t>
            </a:r>
            <a:r>
              <a:rPr lang="ja-JP" altLang="en-US">
                <a:solidFill>
                  <a:srgbClr val="FF0000"/>
                </a:solidFill>
              </a:rPr>
              <a:t>超大国、</a:t>
            </a:r>
            <a:r>
              <a:rPr lang="ja-JP" altLang="en-US">
                <a:solidFill>
                  <a:schemeClr val="tx1"/>
                </a:solidFill>
              </a:rPr>
              <a:t>（冷戦の）</a:t>
            </a:r>
            <a:r>
              <a:rPr lang="ja-JP" altLang="en-US">
                <a:solidFill>
                  <a:srgbClr val="FF0000"/>
                </a:solidFill>
              </a:rPr>
              <a:t>終わり</a:t>
            </a:r>
            <a:r>
              <a:rPr lang="ja-JP" altLang="en-US"/>
              <a:t>、</a:t>
            </a:r>
            <a:r>
              <a:rPr lang="ja-JP" altLang="en-US" b="1"/>
              <a:t>西</a:t>
            </a:r>
            <a:r>
              <a:rPr lang="ja-JP" altLang="en-US"/>
              <a:t>、</a:t>
            </a:r>
            <a:r>
              <a:rPr lang="ja-JP" altLang="en-US">
                <a:solidFill>
                  <a:srgbClr val="FF0000"/>
                </a:solidFill>
              </a:rPr>
              <a:t>ソヴィエト</a:t>
            </a:r>
            <a:r>
              <a:rPr lang="ja-JP" altLang="en-US"/>
              <a:t>、</a:t>
            </a:r>
            <a:r>
              <a:rPr lang="ja-JP" altLang="en-US">
                <a:solidFill>
                  <a:srgbClr val="FF0000"/>
                </a:solidFill>
              </a:rPr>
              <a:t>政治</a:t>
            </a:r>
            <a:r>
              <a:rPr lang="ja-JP" altLang="en-US"/>
              <a:t>、</a:t>
            </a:r>
            <a:r>
              <a:rPr lang="ja-JP" altLang="en-US">
                <a:solidFill>
                  <a:schemeClr val="tx1"/>
                </a:solidFill>
              </a:rPr>
              <a:t>（冷戦の）</a:t>
            </a:r>
            <a:r>
              <a:rPr lang="ja-JP" altLang="en-US">
                <a:solidFill>
                  <a:srgbClr val="FF0000"/>
                </a:solidFill>
              </a:rPr>
              <a:t>レトリック</a:t>
            </a:r>
            <a:r>
              <a:rPr lang="ja-JP" altLang="en-US"/>
              <a:t>、</a:t>
            </a:r>
            <a:r>
              <a:rPr lang="ja-JP" altLang="en-US">
                <a:solidFill>
                  <a:srgbClr val="FF0000"/>
                </a:solidFill>
              </a:rPr>
              <a:t>スパイ</a:t>
            </a:r>
            <a:r>
              <a:rPr lang="ja-JP" altLang="en-US"/>
              <a:t>、</a:t>
            </a:r>
            <a:r>
              <a:rPr lang="ja-JP" altLang="en-US">
                <a:solidFill>
                  <a:srgbClr val="FF0000"/>
                </a:solidFill>
              </a:rPr>
              <a:t>ソ連邦</a:t>
            </a:r>
            <a:r>
              <a:rPr lang="ja-JP" altLang="en-US"/>
              <a:t>、</a:t>
            </a:r>
            <a:r>
              <a:rPr lang="ja-JP" altLang="en-US">
                <a:solidFill>
                  <a:schemeClr val="tx1"/>
                </a:solidFill>
              </a:rPr>
              <a:t>（冷戦）</a:t>
            </a:r>
            <a:r>
              <a:rPr lang="ja-JP" altLang="en-US">
                <a:solidFill>
                  <a:srgbClr val="FF0000"/>
                </a:solidFill>
              </a:rPr>
              <a:t>時代</a:t>
            </a:r>
            <a:r>
              <a:rPr lang="ja-JP" altLang="en-US"/>
              <a:t>、　</a:t>
            </a:r>
            <a:r>
              <a:rPr lang="en-US" altLang="ja-JP" dirty="0">
                <a:solidFill>
                  <a:srgbClr val="FF0000"/>
                </a:solidFill>
              </a:rPr>
              <a:t>KGB</a:t>
            </a:r>
            <a:r>
              <a:rPr lang="en-US" altLang="ja-JP" dirty="0"/>
              <a:t>, </a:t>
            </a:r>
            <a:r>
              <a:rPr lang="ja-JP" altLang="en-US">
                <a:solidFill>
                  <a:srgbClr val="FF0000"/>
                </a:solidFill>
              </a:rPr>
              <a:t>メンタリティ</a:t>
            </a:r>
            <a:r>
              <a:rPr lang="ja-JP" altLang="en-US"/>
              <a:t>、</a:t>
            </a:r>
            <a:r>
              <a:rPr lang="ja-JP" altLang="en-US">
                <a:solidFill>
                  <a:schemeClr val="tx1"/>
                </a:solidFill>
              </a:rPr>
              <a:t>（冷戦中の）</a:t>
            </a:r>
            <a:r>
              <a:rPr lang="ja-JP" altLang="en-US">
                <a:solidFill>
                  <a:srgbClr val="FF0000"/>
                </a:solidFill>
              </a:rPr>
              <a:t>対立</a:t>
            </a:r>
            <a:r>
              <a:rPr lang="ja-JP" altLang="en-US"/>
              <a:t>、</a:t>
            </a:r>
            <a:r>
              <a:rPr lang="ja-JP" altLang="en-US">
                <a:solidFill>
                  <a:srgbClr val="FF0000"/>
                </a:solidFill>
              </a:rPr>
              <a:t>戦場</a:t>
            </a:r>
          </a:p>
          <a:p>
            <a:pPr marL="1054100" lvl="2" indent="0">
              <a:buNone/>
            </a:pPr>
            <a:endParaRPr lang="en-US" altLang="ja-JP" dirty="0"/>
          </a:p>
          <a:p>
            <a:pPr marL="1054100" lvl="2" indent="0">
              <a:buNone/>
            </a:pPr>
            <a:r>
              <a:rPr lang="en-US" altLang="ja-JP" dirty="0">
                <a:solidFill>
                  <a:schemeClr val="tx1"/>
                </a:solidFill>
              </a:rPr>
              <a:t>Vs.</a:t>
            </a:r>
          </a:p>
          <a:p>
            <a:pPr marL="1054100" lvl="2" indent="0">
              <a:buNone/>
            </a:pPr>
            <a:endParaRPr lang="en-US" dirty="0">
              <a:solidFill>
                <a:srgbClr val="FF0000"/>
              </a:solidFill>
            </a:endParaRPr>
          </a:p>
          <a:p>
            <a:pPr marL="1054100" lvl="2" indent="0">
              <a:buNone/>
            </a:pPr>
            <a:r>
              <a:rPr lang="ja-JP" altLang="en-US">
                <a:solidFill>
                  <a:schemeClr val="tx1"/>
                </a:solidFill>
              </a:rPr>
              <a:t>（寒冷）前線、 （寒冷前線の）最高潮、（寒冷前線がくる）北極、雨</a:t>
            </a:r>
            <a:endParaRPr lang="en-US" altLang="ja-JP" dirty="0">
              <a:solidFill>
                <a:schemeClr val="tx1"/>
              </a:solidFill>
            </a:endParaRPr>
          </a:p>
          <a:p>
            <a:pPr marL="1054100" lvl="2" indent="0">
              <a:buNone/>
            </a:pPr>
            <a:endParaRPr lang="en-US" dirty="0">
              <a:solidFill>
                <a:srgbClr val="FF0000"/>
              </a:solidFill>
            </a:endParaRPr>
          </a:p>
          <a:p>
            <a:pPr marL="1054100" lvl="2" indent="0">
              <a:buNone/>
            </a:pPr>
            <a:r>
              <a:rPr lang="en-US" dirty="0">
                <a:solidFill>
                  <a:srgbClr val="FF0000"/>
                </a:solidFill>
                <a:sym typeface="Wingdings" pitchFamily="2" charset="2"/>
              </a:rPr>
              <a:t> </a:t>
            </a:r>
            <a:r>
              <a:rPr lang="en" dirty="0" err="1">
                <a:solidFill>
                  <a:schemeClr val="tx1"/>
                </a:solidFill>
              </a:rPr>
              <a:t>冷戦に関するコンテキストの方が多い</a:t>
            </a:r>
            <a:endParaRPr lang="en" dirty="0">
              <a:solidFill>
                <a:schemeClr val="tx1"/>
              </a:solidFill>
            </a:endParaRPr>
          </a:p>
          <a:p>
            <a:pPr marL="1054100" lvl="2" indent="0">
              <a:buNone/>
            </a:pPr>
            <a:endParaRP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Discourse </a:t>
            </a:r>
            <a:r>
              <a:rPr lang="en" dirty="0" err="1"/>
              <a:t>prototypesを取得する過程</a:t>
            </a:r>
            <a:endParaRPr dirty="0"/>
          </a:p>
        </p:txBody>
      </p:sp>
      <p:sp>
        <p:nvSpPr>
          <p:cNvPr id="127" name="Google Shape;127;p11"/>
          <p:cNvSpPr txBox="1">
            <a:spLocks noGrp="1"/>
          </p:cNvSpPr>
          <p:nvPr>
            <p:ph type="body" idx="1"/>
          </p:nvPr>
        </p:nvSpPr>
        <p:spPr>
          <a:xfrm>
            <a:off x="311700" y="1152475"/>
            <a:ext cx="8724724" cy="3416400"/>
          </a:xfrm>
          <a:prstGeom prst="rect">
            <a:avLst/>
          </a:prstGeom>
          <a:noFill/>
          <a:ln>
            <a:noFill/>
          </a:ln>
        </p:spPr>
        <p:txBody>
          <a:bodyPr spcFirstLastPara="1" wrap="square" lIns="91425" tIns="91425" rIns="91425" bIns="91425" anchor="t" anchorCtr="0">
            <a:normAutofit/>
          </a:bodyPr>
          <a:lstStyle/>
          <a:p>
            <a:pPr marL="457200" lvl="0" indent="-381000" algn="l" rtl="0">
              <a:lnSpc>
                <a:spcPct val="100000"/>
              </a:lnSpc>
              <a:spcBef>
                <a:spcPts val="0"/>
              </a:spcBef>
              <a:spcAft>
                <a:spcPts val="0"/>
              </a:spcAft>
              <a:buClr>
                <a:schemeClr val="dk1"/>
              </a:buClr>
              <a:buSzPts val="2400"/>
              <a:buAutoNum type="arabicPeriod"/>
            </a:pPr>
            <a:r>
              <a:rPr lang="en" sz="2400" dirty="0">
                <a:solidFill>
                  <a:schemeClr val="dk1"/>
                </a:solidFill>
              </a:rPr>
              <a:t>Seed </a:t>
            </a:r>
            <a:r>
              <a:rPr lang="en" sz="2400" dirty="0" err="1">
                <a:solidFill>
                  <a:schemeClr val="dk1"/>
                </a:solidFill>
              </a:rPr>
              <a:t>wordsを決める</a:t>
            </a:r>
            <a:r>
              <a:rPr lang="en" sz="2400" dirty="0">
                <a:solidFill>
                  <a:schemeClr val="dk1"/>
                </a:solidFill>
              </a:rPr>
              <a:t>: </a:t>
            </a:r>
            <a:r>
              <a:rPr lang="en" sz="2400" dirty="0" err="1">
                <a:solidFill>
                  <a:schemeClr val="dk1"/>
                </a:solidFill>
              </a:rPr>
              <a:t>西、東（名詞、形容詞</a:t>
            </a:r>
            <a:r>
              <a:rPr lang="en" sz="2400" dirty="0">
                <a:solidFill>
                  <a:schemeClr val="dk1"/>
                </a:solidFill>
              </a:rPr>
              <a:t>）</a:t>
            </a:r>
            <a:endParaRPr sz="2400" dirty="0">
              <a:solidFill>
                <a:schemeClr val="dk1"/>
              </a:solidFill>
            </a:endParaRPr>
          </a:p>
          <a:p>
            <a:pPr marL="457200" lvl="0" indent="-381000" algn="l" rtl="0">
              <a:lnSpc>
                <a:spcPct val="100000"/>
              </a:lnSpc>
              <a:spcBef>
                <a:spcPts val="0"/>
              </a:spcBef>
              <a:spcAft>
                <a:spcPts val="0"/>
              </a:spcAft>
              <a:buClr>
                <a:schemeClr val="dk1"/>
              </a:buClr>
              <a:buSzPts val="2400"/>
              <a:buAutoNum type="arabicPeriod"/>
            </a:pPr>
            <a:r>
              <a:rPr lang="en" sz="2400" dirty="0" err="1">
                <a:solidFill>
                  <a:schemeClr val="dk1"/>
                </a:solidFill>
              </a:rPr>
              <a:t>MBAでAssociationを見つける</a:t>
            </a:r>
            <a:r>
              <a:rPr lang="en" sz="2400" dirty="0">
                <a:solidFill>
                  <a:schemeClr val="dk1"/>
                </a:solidFill>
              </a:rPr>
              <a:t>。 </a:t>
            </a:r>
          </a:p>
          <a:p>
            <a:pPr marL="457200" lvl="0" indent="-381000" algn="l" rtl="0">
              <a:lnSpc>
                <a:spcPct val="100000"/>
              </a:lnSpc>
              <a:spcBef>
                <a:spcPts val="0"/>
              </a:spcBef>
              <a:spcAft>
                <a:spcPts val="0"/>
              </a:spcAft>
              <a:buClr>
                <a:schemeClr val="dk1"/>
              </a:buClr>
              <a:buSzPts val="2400"/>
              <a:buAutoNum type="arabicPeriod"/>
            </a:pPr>
            <a:r>
              <a:rPr lang="en" sz="2400" dirty="0" err="1">
                <a:solidFill>
                  <a:schemeClr val="dk1"/>
                </a:solidFill>
              </a:rPr>
              <a:t>Companionsで一定の時期にSeed</a:t>
            </a:r>
            <a:r>
              <a:rPr lang="en" sz="2400" dirty="0">
                <a:solidFill>
                  <a:schemeClr val="dk1"/>
                </a:solidFill>
              </a:rPr>
              <a:t> </a:t>
            </a:r>
            <a:r>
              <a:rPr lang="en" sz="2400" dirty="0" err="1">
                <a:solidFill>
                  <a:schemeClr val="dk1"/>
                </a:solidFill>
              </a:rPr>
              <a:t>Wordsと連動しているAssociationを見つける</a:t>
            </a:r>
            <a:r>
              <a:rPr lang="en" sz="2400" dirty="0">
                <a:solidFill>
                  <a:schemeClr val="dk1"/>
                </a:solidFill>
              </a:rPr>
              <a:t>。</a:t>
            </a:r>
            <a:endParaRPr sz="2400" dirty="0">
              <a:solidFill>
                <a:schemeClr val="dk1"/>
              </a:solidFill>
            </a:endParaRPr>
          </a:p>
          <a:p>
            <a:pPr marL="457200" lvl="0" indent="-381000" algn="l" rtl="0">
              <a:lnSpc>
                <a:spcPct val="100000"/>
              </a:lnSpc>
              <a:spcBef>
                <a:spcPts val="0"/>
              </a:spcBef>
              <a:spcAft>
                <a:spcPts val="0"/>
              </a:spcAft>
              <a:buClr>
                <a:schemeClr val="dk1"/>
              </a:buClr>
              <a:buSzPts val="2400"/>
              <a:buAutoNum type="arabicPeriod"/>
            </a:pPr>
            <a:r>
              <a:rPr lang="en" sz="2400" dirty="0">
                <a:solidFill>
                  <a:schemeClr val="dk1"/>
                </a:solidFill>
              </a:rPr>
              <a:t>３で得たAssociationの意味をコロケーションで確認する。 </a:t>
            </a:r>
            <a:endParaRPr dirty="0">
              <a:solidFill>
                <a:schemeClr val="dk1"/>
              </a:solidFill>
              <a:latin typeface="Cambria"/>
              <a:ea typeface="Cambria"/>
              <a:cs typeface="Cambria"/>
              <a:sym typeface="Cambria"/>
            </a:endParaRPr>
          </a:p>
          <a:p>
            <a:pPr marL="0" lvl="0" indent="0" algn="l" rtl="0">
              <a:lnSpc>
                <a:spcPct val="115000"/>
              </a:lnSpc>
              <a:spcBef>
                <a:spcPts val="200"/>
              </a:spcBef>
              <a:spcAft>
                <a:spcPts val="1200"/>
              </a:spcAft>
              <a:buSzPts val="18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120"/>
        <p:cNvGrpSpPr/>
        <p:nvPr/>
      </p:nvGrpSpPr>
      <p:grpSpPr>
        <a:xfrm>
          <a:off x="0" y="0"/>
          <a:ext cx="0" cy="0"/>
          <a:chOff x="0" y="0"/>
          <a:chExt cx="0" cy="0"/>
        </a:xfrm>
      </p:grpSpPr>
      <p:sp>
        <p:nvSpPr>
          <p:cNvPr id="121" name="Google Shape;121;p1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dirty="0" err="1"/>
              <a:t>結果について</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graphicFrame>
        <p:nvGraphicFramePr>
          <p:cNvPr id="132" name="Google Shape;132;p12"/>
          <p:cNvGraphicFramePr/>
          <p:nvPr>
            <p:extLst>
              <p:ext uri="{D42A27DB-BD31-4B8C-83A1-F6EECF244321}">
                <p14:modId xmlns:p14="http://schemas.microsoft.com/office/powerpoint/2010/main" val="3114004662"/>
              </p:ext>
            </p:extLst>
          </p:nvPr>
        </p:nvGraphicFramePr>
        <p:xfrm>
          <a:off x="3547825" y="576788"/>
          <a:ext cx="3266550" cy="4517355"/>
        </p:xfrm>
        <a:graphic>
          <a:graphicData uri="http://schemas.openxmlformats.org/drawingml/2006/table">
            <a:tbl>
              <a:tblPr>
                <a:noFill/>
                <a:tableStyleId>{1075F87A-0009-4137-B362-7513D72C4D89}</a:tableStyleId>
              </a:tblPr>
              <a:tblGrid>
                <a:gridCol w="2198700">
                  <a:extLst>
                    <a:ext uri="{9D8B030D-6E8A-4147-A177-3AD203B41FA5}">
                      <a16:colId xmlns:a16="http://schemas.microsoft.com/office/drawing/2014/main" val="20000"/>
                    </a:ext>
                  </a:extLst>
                </a:gridCol>
                <a:gridCol w="1067850">
                  <a:extLst>
                    <a:ext uri="{9D8B030D-6E8A-4147-A177-3AD203B41FA5}">
                      <a16:colId xmlns:a16="http://schemas.microsoft.com/office/drawing/2014/main" val="20001"/>
                    </a:ext>
                  </a:extLst>
                </a:gridCol>
              </a:tblGrid>
              <a:tr h="408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dirty="0"/>
                        <a:t>seed word </a:t>
                      </a:r>
                      <a:r>
                        <a:rPr lang="en" sz="1200" u="none" strike="noStrike" cap="none" dirty="0" err="1">
                          <a:solidFill>
                            <a:srgbClr val="FF0000"/>
                          </a:solidFill>
                        </a:rPr>
                        <a:t>西（形容詞</a:t>
                      </a:r>
                      <a:r>
                        <a:rPr lang="en" sz="1200" u="none" strike="noStrike" cap="none" dirty="0">
                          <a:solidFill>
                            <a:srgbClr val="FF0000"/>
                          </a:solidFill>
                        </a:rPr>
                        <a:t>）＋…</a:t>
                      </a:r>
                      <a:endParaRPr sz="1200" u="none" strike="noStrike" cap="none" dirty="0">
                        <a:solidFill>
                          <a:srgbClr val="FF0000"/>
                        </a:solidFill>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rho</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t>Russian (adj)</a:t>
                      </a:r>
                      <a:endParaRPr sz="1200" b="1"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0.772</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4600">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separatist (adj)</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0.714</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t>separatist (n)</a:t>
                      </a:r>
                      <a:endParaRPr sz="1200" b="1"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0.702</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Russia</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0.620</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production (adj)</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0.601</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2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USSR</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0.600</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t>USD</a:t>
                      </a:r>
                      <a:endParaRPr sz="1200" b="1"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0.571</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Soviet (adj)</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0.554</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export</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0.540</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611900">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t>gas (adj)</a:t>
                      </a:r>
                      <a:endParaRPr sz="1200" b="1"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dirty="0"/>
                        <a:t>0.530</a:t>
                      </a:r>
                      <a:endParaRPr sz="1200" u="none" strike="noStrike" cap="none"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133" name="Google Shape;133;p12"/>
          <p:cNvSpPr txBox="1">
            <a:spLocks noGrp="1"/>
          </p:cNvSpPr>
          <p:nvPr>
            <p:ph type="title"/>
          </p:nvPr>
        </p:nvSpPr>
        <p:spPr>
          <a:xfrm>
            <a:off x="185850" y="114224"/>
            <a:ext cx="8846700" cy="35911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1800" dirty="0" err="1"/>
              <a:t>西</a:t>
            </a:r>
            <a:r>
              <a:rPr lang="en" sz="1800" dirty="0"/>
              <a:t>: Top 10 </a:t>
            </a:r>
            <a:r>
              <a:rPr lang="en" sz="1800" dirty="0" err="1"/>
              <a:t>持続するアソシエーション</a:t>
            </a:r>
            <a:endParaRPr sz="1800" dirty="0"/>
          </a:p>
        </p:txBody>
      </p:sp>
      <p:sp>
        <p:nvSpPr>
          <p:cNvPr id="134" name="Google Shape;134;p12"/>
          <p:cNvSpPr txBox="1"/>
          <p:nvPr/>
        </p:nvSpPr>
        <p:spPr>
          <a:xfrm flipH="1">
            <a:off x="6814375" y="634375"/>
            <a:ext cx="2260475" cy="276995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err="1">
                <a:solidFill>
                  <a:srgbClr val="0000FF"/>
                </a:solidFill>
                <a:latin typeface="Arial"/>
                <a:ea typeface="Arial"/>
                <a:cs typeface="Arial"/>
                <a:sym typeface="Arial"/>
              </a:rPr>
              <a:t>最初の印象</a:t>
            </a:r>
            <a:r>
              <a:rPr lang="en" sz="1400" b="0" i="0" u="none" strike="noStrike" cap="none" dirty="0">
                <a:solidFill>
                  <a:srgbClr val="0000FF"/>
                </a:solidFill>
                <a:latin typeface="Arial"/>
                <a:ea typeface="Arial"/>
                <a:cs typeface="Arial"/>
                <a:sym typeface="Arial"/>
              </a:rPr>
              <a:t>＝</a:t>
            </a: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err="1">
                <a:solidFill>
                  <a:srgbClr val="0000FF"/>
                </a:solidFill>
                <a:latin typeface="Arial"/>
                <a:ea typeface="Arial"/>
                <a:cs typeface="Arial"/>
                <a:sym typeface="Arial"/>
              </a:rPr>
              <a:t>最もprototypicalな</a:t>
            </a:r>
            <a:r>
              <a:rPr lang="en" sz="1400" b="0" i="0" u="none" strike="noStrike" cap="none" dirty="0">
                <a:solidFill>
                  <a:srgbClr val="0000FF"/>
                </a:solidFill>
                <a:latin typeface="Arial"/>
                <a:ea typeface="Arial"/>
                <a:cs typeface="Arial"/>
                <a:sym typeface="Arial"/>
              </a:rPr>
              <a:t> </a:t>
            </a:r>
            <a:r>
              <a:rPr lang="en" sz="1400" b="0" i="0" u="none" strike="noStrike" cap="none" dirty="0" err="1">
                <a:solidFill>
                  <a:srgbClr val="0000FF"/>
                </a:solidFill>
                <a:latin typeface="Arial"/>
                <a:ea typeface="Arial"/>
                <a:cs typeface="Arial"/>
                <a:sym typeface="Arial"/>
              </a:rPr>
              <a:t>associationsが</a:t>
            </a:r>
            <a:r>
              <a:rPr lang="en" sz="1400" b="0" i="0" u="none" strike="noStrike" cap="none" dirty="0">
                <a:solidFill>
                  <a:srgbClr val="0000FF"/>
                </a:solidFill>
                <a:latin typeface="Arial"/>
                <a:ea typeface="Arial"/>
                <a:cs typeface="Arial"/>
                <a:sym typeface="Arial"/>
              </a:rPr>
              <a:t> </a:t>
            </a:r>
            <a:r>
              <a:rPr lang="en" sz="1400" b="0" i="0" u="none" strike="noStrike" cap="none" dirty="0" err="1">
                <a:solidFill>
                  <a:srgbClr val="0000FF"/>
                </a:solidFill>
                <a:latin typeface="Arial"/>
                <a:ea typeface="Arial"/>
                <a:cs typeface="Arial"/>
                <a:sym typeface="Arial"/>
              </a:rPr>
              <a:t>地政学的なもの</a:t>
            </a:r>
            <a:r>
              <a:rPr lang="ja-JP" altLang="en-US" sz="1400" b="0" i="0" u="none" strike="noStrike" cap="none">
                <a:solidFill>
                  <a:srgbClr val="0000FF"/>
                </a:solidFill>
                <a:latin typeface="Arial"/>
                <a:ea typeface="Arial"/>
                <a:cs typeface="Arial"/>
                <a:sym typeface="Arial"/>
              </a:rPr>
              <a:t>　</a:t>
            </a:r>
            <a:r>
              <a:rPr lang="en" sz="1400" b="0" i="0" u="none" strike="noStrike" cap="none" dirty="0">
                <a:solidFill>
                  <a:srgbClr val="0000FF"/>
                </a:solidFill>
                <a:latin typeface="Arial"/>
                <a:ea typeface="Arial"/>
                <a:cs typeface="Arial"/>
                <a:sym typeface="Arial"/>
              </a:rPr>
              <a:t> </a:t>
            </a:r>
            <a:r>
              <a:rPr lang="en" dirty="0" err="1">
                <a:solidFill>
                  <a:srgbClr val="0000FF"/>
                </a:solidFill>
              </a:rPr>
              <a:t>西という概念</a:t>
            </a:r>
            <a:r>
              <a:rPr lang="ja-JP" altLang="en-US">
                <a:solidFill>
                  <a:srgbClr val="0000FF"/>
                </a:solidFill>
              </a:rPr>
              <a:t>はロシアとの関係で扱われている可能性</a:t>
            </a:r>
            <a:endParaRPr sz="14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err="1">
                <a:solidFill>
                  <a:srgbClr val="0000FF"/>
                </a:solidFill>
                <a:latin typeface="Arial"/>
                <a:ea typeface="Arial"/>
                <a:cs typeface="Arial"/>
                <a:sym typeface="Arial"/>
              </a:rPr>
              <a:t>次のステップ</a:t>
            </a:r>
            <a:endParaRPr lang="en-US" sz="1400" b="0" i="0" u="none" strike="noStrike" cap="none" dirty="0">
              <a:solidFill>
                <a:srgbClr val="0000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FF"/>
                </a:solidFill>
                <a:latin typeface="Arial"/>
                <a:ea typeface="Arial"/>
                <a:cs typeface="Arial"/>
                <a:sym typeface="Arial"/>
              </a:rPr>
              <a:t>Rhoが比較的低いAssociationと比較的高いもののコロケーションを比べてみる</a:t>
            </a:r>
            <a:endParaRPr sz="1400" b="0" i="0" u="none" strike="noStrike" cap="none" dirty="0">
              <a:solidFill>
                <a:schemeClr val="dk1"/>
              </a:solidFill>
              <a:latin typeface="Arial"/>
              <a:ea typeface="Arial"/>
              <a:cs typeface="Arial"/>
              <a:sym typeface="Arial"/>
            </a:endParaRPr>
          </a:p>
        </p:txBody>
      </p:sp>
      <p:graphicFrame>
        <p:nvGraphicFramePr>
          <p:cNvPr id="135" name="Google Shape;135;p12"/>
          <p:cNvGraphicFramePr/>
          <p:nvPr>
            <p:extLst>
              <p:ext uri="{D42A27DB-BD31-4B8C-83A1-F6EECF244321}">
                <p14:modId xmlns:p14="http://schemas.microsoft.com/office/powerpoint/2010/main" val="2604082065"/>
              </p:ext>
            </p:extLst>
          </p:nvPr>
        </p:nvGraphicFramePr>
        <p:xfrm>
          <a:off x="55700" y="576788"/>
          <a:ext cx="3266550" cy="4517355"/>
        </p:xfrm>
        <a:graphic>
          <a:graphicData uri="http://schemas.openxmlformats.org/drawingml/2006/table">
            <a:tbl>
              <a:tblPr>
                <a:noFill/>
                <a:tableStyleId>{1075F87A-0009-4137-B362-7513D72C4D89}</a:tableStyleId>
              </a:tblPr>
              <a:tblGrid>
                <a:gridCol w="2198700">
                  <a:extLst>
                    <a:ext uri="{9D8B030D-6E8A-4147-A177-3AD203B41FA5}">
                      <a16:colId xmlns:a16="http://schemas.microsoft.com/office/drawing/2014/main" val="20000"/>
                    </a:ext>
                  </a:extLst>
                </a:gridCol>
                <a:gridCol w="1067850">
                  <a:extLst>
                    <a:ext uri="{9D8B030D-6E8A-4147-A177-3AD203B41FA5}">
                      <a16:colId xmlns:a16="http://schemas.microsoft.com/office/drawing/2014/main" val="20001"/>
                    </a:ext>
                  </a:extLst>
                </a:gridCol>
              </a:tblGrid>
              <a:tr h="408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dirty="0" err="1">
                          <a:solidFill>
                            <a:srgbClr val="FF0000"/>
                          </a:solidFill>
                        </a:rPr>
                        <a:t>西（名詞</a:t>
                      </a:r>
                      <a:r>
                        <a:rPr lang="en" sz="1200" u="none" strike="noStrike" cap="none" dirty="0">
                          <a:solidFill>
                            <a:srgbClr val="FF0000"/>
                          </a:solidFill>
                        </a:rPr>
                        <a:t>）＋…</a:t>
                      </a:r>
                      <a:endParaRPr sz="1200" u="none" strike="noStrike" cap="none" dirty="0">
                        <a:solidFill>
                          <a:srgbClr val="FF0000"/>
                        </a:solidFill>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rho</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dirty="0"/>
                        <a:t>Kremlin</a:t>
                      </a:r>
                      <a:endParaRPr sz="1200" b="1" u="none" strike="noStrike" cap="none"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0.733</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4600">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Putin</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0.648</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Russia</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0.644</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Putin’s</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0.638</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Russian (n)</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0.608</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2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Russian  (adj)</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0.534</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sanctions</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0.525</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pro-Russian</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0.510</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810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t>supported</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t>0.483</a:t>
                      </a:r>
                      <a:endParaRPr sz="12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611900">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dirty="0"/>
                        <a:t>Ukraine</a:t>
                      </a:r>
                      <a:endParaRPr sz="1200" u="none" strike="noStrike" cap="none"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dirty="0"/>
                        <a:t>0.479</a:t>
                      </a:r>
                      <a:endParaRPr sz="1200" u="none" strike="noStrike" cap="none"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311700" y="161365"/>
            <a:ext cx="8520600" cy="856360"/>
          </a:xfrm>
          <a:prstGeom prst="rect">
            <a:avLst/>
          </a:prstGeom>
          <a:noFill/>
          <a:ln>
            <a:noFill/>
          </a:ln>
        </p:spPr>
        <p:txBody>
          <a:bodyPr spcFirstLastPara="1" wrap="square" lIns="91425" tIns="91425" rIns="91425" bIns="91425" anchor="t" anchorCtr="0">
            <a:normAutofit/>
          </a:bodyPr>
          <a:lstStyle/>
          <a:p>
            <a:pPr lvl="0"/>
            <a:r>
              <a:rPr lang="en" sz="2000" dirty="0" err="1"/>
              <a:t>rhoが比較的低い場合のアソシエーション</a:t>
            </a:r>
            <a:r>
              <a:rPr lang="ja-JP" altLang="en-US" sz="2000"/>
              <a:t>（</a:t>
            </a:r>
            <a:r>
              <a:rPr lang="en" sz="2000" dirty="0"/>
              <a:t> rho= 0.57) </a:t>
            </a:r>
            <a:br>
              <a:rPr lang="en" sz="2000" dirty="0"/>
            </a:br>
            <a:r>
              <a:rPr lang="en" sz="2000" dirty="0"/>
              <a:t>Seed word </a:t>
            </a:r>
            <a:r>
              <a:rPr lang="en" sz="2000" b="1" i="1" dirty="0"/>
              <a:t>Western</a:t>
            </a:r>
            <a:r>
              <a:rPr lang="en" sz="2000" i="1" dirty="0"/>
              <a:t> </a:t>
            </a:r>
            <a:r>
              <a:rPr lang="en" sz="2000" dirty="0"/>
              <a:t>&amp; association </a:t>
            </a:r>
            <a:r>
              <a:rPr lang="en" sz="2000" b="1" i="1" dirty="0"/>
              <a:t>USD</a:t>
            </a:r>
            <a:r>
              <a:rPr lang="en" sz="2000" dirty="0"/>
              <a:t> → collocates of </a:t>
            </a:r>
            <a:r>
              <a:rPr lang="en" sz="2000" b="1" i="1" dirty="0"/>
              <a:t>USD </a:t>
            </a:r>
            <a:endParaRPr dirty="0"/>
          </a:p>
        </p:txBody>
      </p:sp>
      <p:sp>
        <p:nvSpPr>
          <p:cNvPr id="162" name="Google Shape;162;p1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fontScale="25000" lnSpcReduction="20000"/>
          </a:bodyPr>
          <a:lstStyle/>
          <a:p>
            <a:pPr marL="0" lvl="0" indent="0">
              <a:buSzPct val="100000"/>
              <a:buNone/>
            </a:pPr>
            <a:r>
              <a:rPr lang="ja-JP" altLang="en-US" sz="5600">
                <a:solidFill>
                  <a:schemeClr val="dk1"/>
                </a:solidFill>
                <a:latin typeface="Consolas"/>
                <a:ea typeface="Consolas"/>
                <a:cs typeface="Consolas"/>
                <a:sym typeface="Consolas"/>
              </a:rPr>
              <a:t>　</a:t>
            </a:r>
            <a:endParaRPr lang="en-US" sz="5600" dirty="0">
              <a:solidFill>
                <a:schemeClr val="dk1"/>
              </a:solidFill>
              <a:latin typeface="Consolas"/>
              <a:ea typeface="Consolas"/>
              <a:cs typeface="Consolas"/>
              <a:sym typeface="Consolas"/>
            </a:endParaRPr>
          </a:p>
          <a:p>
            <a:pPr marL="0" lvl="0" indent="0">
              <a:buSzPct val="100000"/>
              <a:buNone/>
            </a:pPr>
            <a:r>
              <a:rPr lang="en" sz="5600" dirty="0">
                <a:solidFill>
                  <a:schemeClr val="dk1"/>
                </a:solidFill>
                <a:latin typeface="Consolas"/>
                <a:ea typeface="Consolas"/>
                <a:cs typeface="Consolas"/>
                <a:sym typeface="Consolas"/>
              </a:rPr>
              <a:t>コロケートの26% </a:t>
            </a:r>
            <a:r>
              <a:rPr lang="en" sz="5600" dirty="0" err="1">
                <a:solidFill>
                  <a:schemeClr val="dk1"/>
                </a:solidFill>
                <a:latin typeface="Consolas"/>
                <a:ea typeface="Consolas"/>
                <a:cs typeface="Consolas"/>
                <a:sym typeface="Consolas"/>
              </a:rPr>
              <a:t>外国為替</a:t>
            </a:r>
            <a:r>
              <a:rPr lang="ja-JP" altLang="en-US" sz="5600">
                <a:solidFill>
                  <a:schemeClr val="dk1"/>
                </a:solidFill>
                <a:latin typeface="Consolas"/>
                <a:ea typeface="Consolas"/>
                <a:cs typeface="Consolas"/>
                <a:sym typeface="Consolas"/>
              </a:rPr>
              <a:t>、</a:t>
            </a:r>
            <a:r>
              <a:rPr lang="en" sz="5600" dirty="0">
                <a:solidFill>
                  <a:schemeClr val="dk1"/>
                </a:solidFill>
                <a:latin typeface="Consolas"/>
                <a:ea typeface="Consolas"/>
                <a:cs typeface="Consolas"/>
                <a:sym typeface="Consolas"/>
              </a:rPr>
              <a:t> </a:t>
            </a:r>
            <a:r>
              <a:rPr lang="en" sz="5600" dirty="0" err="1">
                <a:solidFill>
                  <a:schemeClr val="dk1"/>
                </a:solidFill>
                <a:latin typeface="Consolas"/>
                <a:ea typeface="Consolas"/>
                <a:cs typeface="Consolas"/>
                <a:sym typeface="Consolas"/>
              </a:rPr>
              <a:t>輸出入関係</a:t>
            </a:r>
            <a:r>
              <a:rPr lang="en" sz="5600" dirty="0">
                <a:solidFill>
                  <a:schemeClr val="dk1"/>
                </a:solidFill>
                <a:latin typeface="Consolas"/>
                <a:ea typeface="Consolas"/>
                <a:cs typeface="Consolas"/>
                <a:sym typeface="Consolas"/>
              </a:rPr>
              <a:t>(</a:t>
            </a:r>
            <a:r>
              <a:rPr lang="en" sz="5600" dirty="0" err="1">
                <a:solidFill>
                  <a:schemeClr val="dk1"/>
                </a:solidFill>
                <a:latin typeface="Consolas"/>
                <a:ea typeface="Consolas"/>
                <a:cs typeface="Consolas"/>
                <a:sym typeface="Consolas"/>
              </a:rPr>
              <a:t>例import</a:t>
            </a:r>
            <a:r>
              <a:rPr lang="en" sz="5600" dirty="0">
                <a:solidFill>
                  <a:schemeClr val="dk1"/>
                </a:solidFill>
                <a:latin typeface="Consolas"/>
                <a:ea typeface="Consolas"/>
                <a:cs typeface="Consolas"/>
                <a:sym typeface="Consolas"/>
              </a:rPr>
              <a:t>, export), </a:t>
            </a:r>
            <a:r>
              <a:rPr lang="en" sz="5600" dirty="0" err="1">
                <a:solidFill>
                  <a:schemeClr val="dk1"/>
                </a:solidFill>
                <a:latin typeface="Consolas"/>
                <a:ea typeface="Consolas"/>
                <a:cs typeface="Consolas"/>
                <a:sym typeface="Consolas"/>
              </a:rPr>
              <a:t>経済事情</a:t>
            </a:r>
            <a:r>
              <a:rPr lang="en" sz="5600" dirty="0">
                <a:solidFill>
                  <a:schemeClr val="dk1"/>
                </a:solidFill>
                <a:latin typeface="Consolas"/>
                <a:ea typeface="Consolas"/>
                <a:cs typeface="Consolas"/>
                <a:sym typeface="Consolas"/>
              </a:rPr>
              <a:t> (</a:t>
            </a:r>
            <a:r>
              <a:rPr lang="en" sz="5600" dirty="0" err="1">
                <a:solidFill>
                  <a:schemeClr val="dk1"/>
                </a:solidFill>
                <a:latin typeface="Consolas"/>
                <a:ea typeface="Consolas"/>
                <a:cs typeface="Consolas"/>
                <a:sym typeface="Consolas"/>
              </a:rPr>
              <a:t>例</a:t>
            </a:r>
            <a:r>
              <a:rPr lang="en" sz="5600" dirty="0">
                <a:solidFill>
                  <a:schemeClr val="dk1"/>
                </a:solidFill>
                <a:latin typeface="Consolas"/>
                <a:ea typeface="Consolas"/>
                <a:cs typeface="Consolas"/>
                <a:sym typeface="Consolas"/>
              </a:rPr>
              <a:t> deficit, wealth, GDP), </a:t>
            </a:r>
            <a:r>
              <a:rPr lang="en" sz="5600" dirty="0" err="1">
                <a:solidFill>
                  <a:schemeClr val="dk1"/>
                </a:solidFill>
                <a:latin typeface="Consolas"/>
                <a:ea typeface="Consolas"/>
                <a:cs typeface="Consolas"/>
                <a:sym typeface="Consolas"/>
              </a:rPr>
              <a:t>自然資源</a:t>
            </a:r>
            <a:r>
              <a:rPr lang="en" sz="5600" dirty="0">
                <a:solidFill>
                  <a:schemeClr val="dk1"/>
                </a:solidFill>
                <a:latin typeface="Consolas"/>
                <a:ea typeface="Consolas"/>
                <a:cs typeface="Consolas"/>
                <a:sym typeface="Consolas"/>
              </a:rPr>
              <a:t> </a:t>
            </a:r>
            <a:r>
              <a:rPr lang="ja-JP" altLang="en-US" sz="5600" b="1">
                <a:solidFill>
                  <a:schemeClr val="dk1"/>
                </a:solidFill>
                <a:latin typeface="Consolas"/>
                <a:ea typeface="Consolas"/>
                <a:cs typeface="Consolas"/>
                <a:sym typeface="Consolas"/>
              </a:rPr>
              <a:t>　</a:t>
            </a:r>
            <a:endParaRPr lang="en-US" altLang="ja-JP" sz="5600" b="1" dirty="0">
              <a:solidFill>
                <a:schemeClr val="dk1"/>
              </a:solidFill>
              <a:latin typeface="Consolas"/>
              <a:ea typeface="Consolas"/>
              <a:cs typeface="Consolas"/>
              <a:sym typeface="Consolas"/>
            </a:endParaRPr>
          </a:p>
          <a:p>
            <a:pPr marL="0" indent="0">
              <a:buSzPct val="100000"/>
              <a:buNone/>
            </a:pPr>
            <a:r>
              <a:rPr lang="en-US" sz="5600" dirty="0" err="1">
                <a:solidFill>
                  <a:schemeClr val="dk1"/>
                </a:solidFill>
                <a:latin typeface="Consolas"/>
                <a:ea typeface="Consolas"/>
                <a:cs typeface="Consolas"/>
                <a:sym typeface="Consolas"/>
              </a:rPr>
              <a:t>その他は数値</a:t>
            </a:r>
            <a:r>
              <a:rPr lang="en-US" sz="5600" dirty="0">
                <a:solidFill>
                  <a:schemeClr val="dk1"/>
                </a:solidFill>
                <a:latin typeface="Consolas"/>
                <a:ea typeface="Consolas"/>
                <a:cs typeface="Consolas"/>
                <a:sym typeface="Consolas"/>
              </a:rPr>
              <a:t>(</a:t>
            </a:r>
            <a:r>
              <a:rPr lang="en-US" sz="5600" dirty="0" err="1">
                <a:solidFill>
                  <a:schemeClr val="dk1"/>
                </a:solidFill>
                <a:latin typeface="Consolas"/>
                <a:ea typeface="Consolas"/>
                <a:cs typeface="Consolas"/>
                <a:sym typeface="Consolas"/>
              </a:rPr>
              <a:t>USDと共に使われる</a:t>
            </a:r>
            <a:r>
              <a:rPr lang="en-US" sz="5600" dirty="0">
                <a:solidFill>
                  <a:schemeClr val="dk1"/>
                </a:solidFill>
                <a:latin typeface="Consolas"/>
                <a:ea typeface="Consolas"/>
                <a:cs typeface="Consolas"/>
                <a:sym typeface="Consolas"/>
              </a:rPr>
              <a:t>)</a:t>
            </a:r>
          </a:p>
          <a:p>
            <a:pPr marL="0" indent="0">
              <a:buSzPct val="100000"/>
              <a:buNone/>
            </a:pPr>
            <a:endParaRPr lang="en-US" sz="5600" dirty="0">
              <a:solidFill>
                <a:schemeClr val="dk1"/>
              </a:solidFill>
              <a:latin typeface="Consolas"/>
              <a:ea typeface="Consolas"/>
              <a:cs typeface="Consolas"/>
              <a:sym typeface="Consolas"/>
            </a:endParaRPr>
          </a:p>
          <a:p>
            <a:pPr marL="0" lvl="0" indent="0" algn="l" rtl="0">
              <a:lnSpc>
                <a:spcPct val="115000"/>
              </a:lnSpc>
              <a:spcBef>
                <a:spcPts val="0"/>
              </a:spcBef>
              <a:spcAft>
                <a:spcPts val="0"/>
              </a:spcAft>
              <a:buSzPct val="100000"/>
              <a:buNone/>
            </a:pPr>
            <a:endParaRPr sz="5600" dirty="0">
              <a:solidFill>
                <a:schemeClr val="dk1"/>
              </a:solidFill>
              <a:latin typeface="Consolas"/>
              <a:ea typeface="Consolas"/>
              <a:cs typeface="Consolas"/>
              <a:sym typeface="Consolas"/>
            </a:endParaRPr>
          </a:p>
          <a:p>
            <a:pPr marL="0" lvl="0" indent="0" algn="l" rtl="0">
              <a:lnSpc>
                <a:spcPct val="115000"/>
              </a:lnSpc>
              <a:spcBef>
                <a:spcPts val="1200"/>
              </a:spcBef>
              <a:spcAft>
                <a:spcPts val="0"/>
              </a:spcAft>
              <a:buSzPct val="100000"/>
              <a:buNone/>
            </a:pPr>
            <a:r>
              <a:rPr lang="en" sz="5600" dirty="0" err="1">
                <a:solidFill>
                  <a:schemeClr val="dk1"/>
                </a:solidFill>
                <a:latin typeface="Consolas"/>
                <a:ea typeface="Consolas"/>
                <a:cs typeface="Consolas"/>
                <a:sym typeface="Consolas"/>
              </a:rPr>
              <a:t>地政学的なコネクションはコンコーダンスに少しパラパラと見受けられる程度</a:t>
            </a:r>
            <a:r>
              <a:rPr lang="ja-JP" altLang="en-US" sz="5600">
                <a:solidFill>
                  <a:schemeClr val="dk1"/>
                </a:solidFill>
                <a:latin typeface="Consolas"/>
                <a:ea typeface="Consolas"/>
                <a:cs typeface="Consolas"/>
                <a:sym typeface="Consolas"/>
              </a:rPr>
              <a:t>　</a:t>
            </a:r>
            <a:endParaRPr sz="5600" dirty="0">
              <a:solidFill>
                <a:schemeClr val="dk1"/>
              </a:solidFill>
              <a:latin typeface="Consolas"/>
              <a:ea typeface="Consolas"/>
              <a:cs typeface="Consolas"/>
              <a:sym typeface="Consolas"/>
            </a:endParaRPr>
          </a:p>
          <a:p>
            <a:pPr marL="0" lvl="0" indent="0" algn="l" rtl="0">
              <a:lnSpc>
                <a:spcPct val="115000"/>
              </a:lnSpc>
              <a:spcBef>
                <a:spcPts val="1200"/>
              </a:spcBef>
              <a:spcAft>
                <a:spcPts val="0"/>
              </a:spcAft>
              <a:buClr>
                <a:schemeClr val="dk1"/>
              </a:buClr>
              <a:buSzPts val="275"/>
              <a:buFont typeface="Arial"/>
              <a:buNone/>
            </a:pPr>
            <a:r>
              <a:rPr lang="ja-JP" altLang="en-US" sz="5600">
                <a:solidFill>
                  <a:schemeClr val="dk1"/>
                </a:solidFill>
                <a:latin typeface="Consolas"/>
                <a:ea typeface="Consolas"/>
                <a:cs typeface="Consolas"/>
                <a:sym typeface="Consolas"/>
              </a:rPr>
              <a:t>　</a:t>
            </a:r>
            <a:endParaRPr sz="5600" dirty="0">
              <a:solidFill>
                <a:schemeClr val="dk1"/>
              </a:solidFill>
              <a:latin typeface="Consolas"/>
              <a:ea typeface="Consolas"/>
              <a:cs typeface="Consolas"/>
              <a:sym typeface="Consolas"/>
            </a:endParaRPr>
          </a:p>
          <a:p>
            <a:pPr marL="0" lvl="0" indent="0" algn="l" rtl="0">
              <a:lnSpc>
                <a:spcPct val="115000"/>
              </a:lnSpc>
              <a:spcBef>
                <a:spcPts val="1200"/>
              </a:spcBef>
              <a:spcAft>
                <a:spcPts val="1200"/>
              </a:spcAft>
              <a:buSzPts val="1400"/>
              <a:buNone/>
            </a:pPr>
            <a:endParaRPr dirty="0"/>
          </a:p>
        </p:txBody>
      </p:sp>
      <p:pic>
        <p:nvPicPr>
          <p:cNvPr id="163" name="Google Shape;163;p16" title="Screenshot 2025-07-08 at 12.28.05 PM.png"/>
          <p:cNvPicPr preferRelativeResize="0"/>
          <p:nvPr/>
        </p:nvPicPr>
        <p:blipFill rotWithShape="1">
          <a:blip r:embed="rId3">
            <a:alphaModFix/>
          </a:blip>
          <a:srcRect/>
          <a:stretch/>
        </p:blipFill>
        <p:spPr>
          <a:xfrm>
            <a:off x="0" y="1191677"/>
            <a:ext cx="4791526" cy="247674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152400" y="147674"/>
            <a:ext cx="8991600" cy="831271"/>
          </a:xfrm>
          <a:prstGeom prst="rect">
            <a:avLst/>
          </a:prstGeom>
          <a:noFill/>
          <a:ln>
            <a:noFill/>
          </a:ln>
        </p:spPr>
        <p:txBody>
          <a:bodyPr spcFirstLastPara="1" wrap="square" lIns="91425" tIns="91425" rIns="91425" bIns="91425" anchor="t" anchorCtr="0">
            <a:normAutofit/>
          </a:bodyPr>
          <a:lstStyle/>
          <a:p>
            <a:pPr lvl="0">
              <a:buSzPct val="61110"/>
            </a:pPr>
            <a:r>
              <a:rPr lang="en" sz="1800" dirty="0" err="1"/>
              <a:t>rhoが比較的低い場合のアソシエーション</a:t>
            </a:r>
            <a:r>
              <a:rPr lang="ja-JP" altLang="en-US" sz="1800"/>
              <a:t>　（</a:t>
            </a:r>
            <a:r>
              <a:rPr lang="en" sz="1800" i="1" dirty="0"/>
              <a:t>rho=</a:t>
            </a:r>
            <a:r>
              <a:rPr lang="en" sz="1800" dirty="0"/>
              <a:t>0.48) </a:t>
            </a:r>
            <a:br>
              <a:rPr lang="en" sz="1800" dirty="0"/>
            </a:br>
            <a:r>
              <a:rPr lang="en" sz="1800" dirty="0"/>
              <a:t>Seed word </a:t>
            </a:r>
            <a:r>
              <a:rPr lang="en" sz="1800" b="1" i="1" dirty="0"/>
              <a:t>West</a:t>
            </a:r>
            <a:r>
              <a:rPr lang="en" sz="1800" i="1" dirty="0"/>
              <a:t> </a:t>
            </a:r>
            <a:r>
              <a:rPr lang="en" sz="1800" dirty="0"/>
              <a:t> &amp; association </a:t>
            </a:r>
            <a:r>
              <a:rPr lang="en" sz="1800" b="1" i="1" dirty="0"/>
              <a:t>supported</a:t>
            </a:r>
            <a:r>
              <a:rPr lang="en" sz="1800" i="1" dirty="0"/>
              <a:t> [by...] (→ </a:t>
            </a:r>
            <a:r>
              <a:rPr lang="en" sz="1800" dirty="0"/>
              <a:t>collocates of </a:t>
            </a:r>
            <a:r>
              <a:rPr lang="en" sz="1800" b="1" i="1" dirty="0"/>
              <a:t>supported</a:t>
            </a:r>
            <a:r>
              <a:rPr lang="en" sz="1800" i="1" dirty="0"/>
              <a:t> [by...]</a:t>
            </a:r>
            <a:endParaRPr sz="1800" i="1" dirty="0"/>
          </a:p>
          <a:p>
            <a:pPr marL="0" lvl="0" indent="0" algn="l" rtl="0">
              <a:lnSpc>
                <a:spcPct val="100000"/>
              </a:lnSpc>
              <a:spcBef>
                <a:spcPts val="0"/>
              </a:spcBef>
              <a:spcAft>
                <a:spcPts val="0"/>
              </a:spcAft>
              <a:buSzPct val="111111"/>
              <a:buNone/>
            </a:pPr>
            <a:endParaRPr dirty="0"/>
          </a:p>
        </p:txBody>
      </p:sp>
      <p:sp>
        <p:nvSpPr>
          <p:cNvPr id="155" name="Google Shape;155;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p>
            <a:pPr marL="0" lvl="0" indent="0">
              <a:spcAft>
                <a:spcPts val="1200"/>
              </a:spcAft>
              <a:buClr>
                <a:schemeClr val="dk1"/>
              </a:buClr>
              <a:buSzPts val="1100"/>
              <a:buNone/>
            </a:pPr>
            <a:r>
              <a:rPr lang="en" sz="1800" dirty="0">
                <a:solidFill>
                  <a:schemeClr val="dk1"/>
                </a:solidFill>
                <a:latin typeface="Consolas"/>
                <a:ea typeface="Consolas"/>
                <a:cs typeface="Consolas"/>
                <a:sym typeface="Consolas"/>
              </a:rPr>
              <a:t>コロケートの約50% </a:t>
            </a:r>
            <a:r>
              <a:rPr lang="ja-JP" altLang="en-US" sz="1800">
                <a:solidFill>
                  <a:schemeClr val="dk1"/>
                </a:solidFill>
                <a:latin typeface="Consolas"/>
                <a:ea typeface="Consolas"/>
                <a:cs typeface="Consolas"/>
                <a:sym typeface="Consolas"/>
              </a:rPr>
              <a:t>　シリアに関連し、ロシア、アメリカが関与する地政関係　</a:t>
            </a:r>
            <a:r>
              <a:rPr lang="en" sz="1800" dirty="0">
                <a:solidFill>
                  <a:schemeClr val="dk1"/>
                </a:solidFill>
                <a:latin typeface="Consolas"/>
                <a:ea typeface="Consolas"/>
                <a:cs typeface="Consolas"/>
                <a:sym typeface="Consolas"/>
              </a:rPr>
              <a:t>(</a:t>
            </a:r>
            <a:r>
              <a:rPr lang="en" sz="1800" dirty="0" err="1">
                <a:solidFill>
                  <a:schemeClr val="dk1"/>
                </a:solidFill>
                <a:latin typeface="Consolas"/>
                <a:ea typeface="Consolas"/>
                <a:cs typeface="Consolas"/>
                <a:sym typeface="Consolas"/>
              </a:rPr>
              <a:t>例</a:t>
            </a:r>
            <a:r>
              <a:rPr lang="en" sz="1800" dirty="0">
                <a:solidFill>
                  <a:schemeClr val="dk1"/>
                </a:solidFill>
                <a:latin typeface="Consolas"/>
                <a:ea typeface="Consolas"/>
                <a:cs typeface="Consolas"/>
                <a:sym typeface="Consolas"/>
              </a:rPr>
              <a:t> militia, Assad, Shiite, separatist, Syrian, rebel, insurgent, [Baath] party) </a:t>
            </a:r>
            <a:r>
              <a:rPr lang="ja-JP" altLang="en-US" sz="1800">
                <a:solidFill>
                  <a:schemeClr val="dk1"/>
                </a:solidFill>
                <a:latin typeface="Consolas"/>
                <a:ea typeface="Consolas"/>
                <a:cs typeface="Consolas"/>
                <a:sym typeface="Consolas"/>
              </a:rPr>
              <a:t>　</a:t>
            </a:r>
            <a:endParaRPr dirty="0">
              <a:solidFill>
                <a:schemeClr val="dk1"/>
              </a:solidFill>
            </a:endParaRPr>
          </a:p>
        </p:txBody>
      </p:sp>
      <p:pic>
        <p:nvPicPr>
          <p:cNvPr id="156" name="Google Shape;156;p15" title="Screenshot 2025-07-08 at 11.17.12 AM.png"/>
          <p:cNvPicPr preferRelativeResize="0"/>
          <p:nvPr/>
        </p:nvPicPr>
        <p:blipFill rotWithShape="1">
          <a:blip r:embed="rId3">
            <a:alphaModFix/>
          </a:blip>
          <a:srcRect/>
          <a:stretch/>
        </p:blipFill>
        <p:spPr>
          <a:xfrm>
            <a:off x="152400" y="1170125"/>
            <a:ext cx="4527600" cy="24807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311700" y="150607"/>
            <a:ext cx="8520600" cy="867118"/>
          </a:xfrm>
          <a:prstGeom prst="rect">
            <a:avLst/>
          </a:prstGeom>
          <a:noFill/>
          <a:ln>
            <a:noFill/>
          </a:ln>
        </p:spPr>
        <p:txBody>
          <a:bodyPr spcFirstLastPara="1" wrap="square" lIns="91425" tIns="91425" rIns="91425" bIns="91425" anchor="t" anchorCtr="0">
            <a:normAutofit/>
          </a:bodyPr>
          <a:lstStyle/>
          <a:p>
            <a:pPr lvl="0">
              <a:buSzPct val="61110"/>
            </a:pPr>
            <a:r>
              <a:rPr lang="en" sz="1800" dirty="0" err="1"/>
              <a:t>rhoが比較的高い場合のアソシエーション</a:t>
            </a:r>
            <a:r>
              <a:rPr lang="ja-JP" altLang="en-US" sz="1800"/>
              <a:t>　</a:t>
            </a:r>
            <a:r>
              <a:rPr lang="en" sz="1800" i="1" dirty="0"/>
              <a:t> (rho=</a:t>
            </a:r>
            <a:r>
              <a:rPr lang="en" sz="1800" dirty="0"/>
              <a:t>0.702) </a:t>
            </a:r>
            <a:r>
              <a:rPr lang="ja-JP" altLang="en-US" sz="1800"/>
              <a:t>　</a:t>
            </a:r>
            <a:br>
              <a:rPr lang="en-US" altLang="ja-JP" sz="1800" dirty="0"/>
            </a:br>
            <a:r>
              <a:rPr lang="en" sz="1800" dirty="0"/>
              <a:t>Seed word </a:t>
            </a:r>
            <a:r>
              <a:rPr lang="en" sz="1800" b="1" i="1" dirty="0"/>
              <a:t>Western</a:t>
            </a:r>
            <a:r>
              <a:rPr lang="en" sz="1800" i="1" dirty="0"/>
              <a:t>  &amp; </a:t>
            </a:r>
            <a:r>
              <a:rPr lang="en" sz="1800" dirty="0"/>
              <a:t>association </a:t>
            </a:r>
            <a:r>
              <a:rPr lang="en" sz="1800" b="1" i="1" dirty="0"/>
              <a:t>separatist </a:t>
            </a:r>
            <a:r>
              <a:rPr lang="en" sz="1800" dirty="0"/>
              <a:t>(n)</a:t>
            </a:r>
            <a:r>
              <a:rPr lang="en" sz="1800" i="1" dirty="0"/>
              <a:t> →  </a:t>
            </a:r>
            <a:r>
              <a:rPr lang="en" sz="1800" dirty="0"/>
              <a:t>collocates of</a:t>
            </a:r>
            <a:r>
              <a:rPr lang="en" sz="1800" i="1" dirty="0"/>
              <a:t> </a:t>
            </a:r>
            <a:r>
              <a:rPr lang="en" sz="1800" b="1" i="1" dirty="0"/>
              <a:t>separatist </a:t>
            </a:r>
            <a:endParaRPr dirty="0"/>
          </a:p>
        </p:txBody>
      </p:sp>
      <p:sp>
        <p:nvSpPr>
          <p:cNvPr id="148" name="Google Shape;148;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fontScale="55000" lnSpcReduction="20000"/>
          </a:bodyPr>
          <a:lstStyle/>
          <a:p>
            <a:pPr marL="0" lvl="0" indent="0">
              <a:buSzPct val="67878"/>
              <a:buNone/>
            </a:pPr>
            <a:r>
              <a:rPr lang="en" sz="4000" dirty="0" err="1">
                <a:solidFill>
                  <a:schemeClr val="dk1"/>
                </a:solidFill>
                <a:latin typeface="Consolas"/>
                <a:ea typeface="Consolas"/>
                <a:cs typeface="Consolas"/>
                <a:sym typeface="Consolas"/>
              </a:rPr>
              <a:t>コロケートの</a:t>
            </a:r>
            <a:r>
              <a:rPr lang="en" sz="4000" dirty="0">
                <a:solidFill>
                  <a:schemeClr val="dk1"/>
                </a:solidFill>
                <a:latin typeface="Consolas"/>
                <a:ea typeface="Consolas"/>
                <a:cs typeface="Consolas"/>
                <a:sym typeface="Consolas"/>
              </a:rPr>
              <a:t> </a:t>
            </a:r>
            <a:r>
              <a:rPr lang="en" sz="3750" dirty="0">
                <a:solidFill>
                  <a:schemeClr val="dk1"/>
                </a:solidFill>
                <a:latin typeface="Consolas"/>
                <a:ea typeface="Consolas"/>
                <a:cs typeface="Consolas"/>
                <a:sym typeface="Consolas"/>
              </a:rPr>
              <a:t>80+% </a:t>
            </a:r>
            <a:r>
              <a:rPr lang="ja-JP" altLang="en-US" sz="3750">
                <a:solidFill>
                  <a:schemeClr val="dk1"/>
                </a:solidFill>
                <a:latin typeface="Consolas"/>
                <a:ea typeface="Consolas"/>
                <a:cs typeface="Consolas"/>
                <a:sym typeface="Consolas"/>
              </a:rPr>
              <a:t>　ロシアが関与している広い範囲での地政学的な争いに関連している</a:t>
            </a:r>
            <a:r>
              <a:rPr lang="en" sz="3750" dirty="0">
                <a:solidFill>
                  <a:schemeClr val="dk1"/>
                </a:solidFill>
                <a:latin typeface="Consolas"/>
                <a:ea typeface="Consolas"/>
                <a:cs typeface="Consolas"/>
                <a:sym typeface="Consolas"/>
              </a:rPr>
              <a:t> </a:t>
            </a:r>
          </a:p>
          <a:p>
            <a:pPr marL="0" lvl="0" indent="0">
              <a:buSzPct val="67878"/>
              <a:buNone/>
            </a:pPr>
            <a:r>
              <a:rPr lang="en" sz="3750" dirty="0">
                <a:solidFill>
                  <a:schemeClr val="dk1"/>
                </a:solidFill>
                <a:latin typeface="Consolas"/>
                <a:ea typeface="Consolas"/>
                <a:cs typeface="Consolas"/>
                <a:sym typeface="Consolas"/>
              </a:rPr>
              <a:t>(</a:t>
            </a:r>
            <a:r>
              <a:rPr lang="en" sz="3750" dirty="0" err="1">
                <a:solidFill>
                  <a:schemeClr val="dk1"/>
                </a:solidFill>
                <a:latin typeface="Consolas"/>
                <a:ea typeface="Consolas"/>
                <a:cs typeface="Consolas"/>
                <a:sym typeface="Consolas"/>
              </a:rPr>
              <a:t>例</a:t>
            </a:r>
            <a:r>
              <a:rPr lang="en" sz="3750" dirty="0">
                <a:solidFill>
                  <a:schemeClr val="dk1"/>
                </a:solidFill>
                <a:latin typeface="Consolas"/>
                <a:ea typeface="Consolas"/>
                <a:cs typeface="Consolas"/>
                <a:sym typeface="Consolas"/>
              </a:rPr>
              <a:t> eastern Ukrainian, Abkhazian, Kashmir, Tamil, Donbas, Donetsk, Chechen, Albanian, Kurdish, Kosovan) </a:t>
            </a:r>
          </a:p>
          <a:p>
            <a:pPr marL="0" lvl="0" indent="0">
              <a:buSzPct val="67878"/>
              <a:buNone/>
            </a:pPr>
            <a:r>
              <a:rPr lang="en" sz="3750" dirty="0">
                <a:solidFill>
                  <a:schemeClr val="dk1"/>
                </a:solidFill>
                <a:latin typeface="Consolas"/>
                <a:ea typeface="Consolas"/>
                <a:cs typeface="Consolas"/>
                <a:sym typeface="Consolas"/>
              </a:rPr>
              <a:t> </a:t>
            </a:r>
            <a:r>
              <a:rPr lang="ja-JP" altLang="en-US" sz="3750">
                <a:solidFill>
                  <a:schemeClr val="dk1"/>
                </a:solidFill>
                <a:latin typeface="Consolas"/>
                <a:ea typeface="Consolas"/>
                <a:cs typeface="Consolas"/>
                <a:sym typeface="Consolas"/>
              </a:rPr>
              <a:t>　</a:t>
            </a:r>
            <a:endParaRPr sz="3750" dirty="0">
              <a:solidFill>
                <a:schemeClr val="dk1"/>
              </a:solidFill>
              <a:latin typeface="Consolas"/>
              <a:ea typeface="Consolas"/>
              <a:cs typeface="Consolas"/>
              <a:sym typeface="Consolas"/>
            </a:endParaRPr>
          </a:p>
          <a:p>
            <a:pPr marL="0" lvl="0" indent="0" algn="l" rtl="0">
              <a:lnSpc>
                <a:spcPct val="115000"/>
              </a:lnSpc>
              <a:spcBef>
                <a:spcPts val="1200"/>
              </a:spcBef>
              <a:spcAft>
                <a:spcPts val="1200"/>
              </a:spcAft>
              <a:buClr>
                <a:schemeClr val="dk1"/>
              </a:buClr>
              <a:buSzPct val="29333"/>
              <a:buFont typeface="Arial"/>
              <a:buNone/>
            </a:pPr>
            <a:endParaRPr sz="3750" dirty="0">
              <a:solidFill>
                <a:schemeClr val="dk1"/>
              </a:solidFill>
              <a:latin typeface="Consolas"/>
              <a:ea typeface="Consolas"/>
              <a:cs typeface="Consolas"/>
              <a:sym typeface="Consolas"/>
            </a:endParaRPr>
          </a:p>
        </p:txBody>
      </p:sp>
      <p:pic>
        <p:nvPicPr>
          <p:cNvPr id="149" name="Google Shape;149;p14" title="Screenshot 2025-07-08 at 11.05.18 AM.png"/>
          <p:cNvPicPr preferRelativeResize="0"/>
          <p:nvPr/>
        </p:nvPicPr>
        <p:blipFill rotWithShape="1">
          <a:blip r:embed="rId3">
            <a:alphaModFix/>
          </a:blip>
          <a:srcRect/>
          <a:stretch/>
        </p:blipFill>
        <p:spPr>
          <a:xfrm>
            <a:off x="152400" y="1170125"/>
            <a:ext cx="4363850" cy="2826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3"/>
          <p:cNvSpPr txBox="1">
            <a:spLocks noGrp="1"/>
          </p:cNvSpPr>
          <p:nvPr>
            <p:ph type="title"/>
          </p:nvPr>
        </p:nvSpPr>
        <p:spPr>
          <a:xfrm>
            <a:off x="311700" y="172122"/>
            <a:ext cx="8520600" cy="845603"/>
          </a:xfrm>
          <a:prstGeom prst="rect">
            <a:avLst/>
          </a:prstGeom>
          <a:noFill/>
          <a:ln>
            <a:noFill/>
          </a:ln>
        </p:spPr>
        <p:txBody>
          <a:bodyPr spcFirstLastPara="1" wrap="square" lIns="91425" tIns="91425" rIns="91425" bIns="91425" anchor="t" anchorCtr="0">
            <a:normAutofit/>
          </a:bodyPr>
          <a:lstStyle/>
          <a:p>
            <a:pPr lvl="0">
              <a:buSzPct val="55000"/>
            </a:pPr>
            <a:r>
              <a:rPr lang="en" sz="2000" dirty="0" err="1"/>
              <a:t>rhoが比較的高い場合のアソシエーション</a:t>
            </a:r>
            <a:r>
              <a:rPr lang="en" sz="2000" dirty="0"/>
              <a:t> (rho=</a:t>
            </a:r>
            <a:r>
              <a:rPr lang="en" sz="2000" dirty="0">
                <a:latin typeface="Cambria"/>
                <a:ea typeface="Cambria"/>
                <a:cs typeface="Cambria"/>
                <a:sym typeface="Cambria"/>
              </a:rPr>
              <a:t>0.73)</a:t>
            </a:r>
            <a:r>
              <a:rPr lang="en" sz="2000" dirty="0"/>
              <a:t> </a:t>
            </a:r>
            <a:br>
              <a:rPr lang="en" sz="2000" dirty="0"/>
            </a:br>
            <a:r>
              <a:rPr lang="en" sz="2000" dirty="0"/>
              <a:t>Seed word </a:t>
            </a:r>
            <a:r>
              <a:rPr lang="en" sz="2000" b="1" i="1" dirty="0"/>
              <a:t>West</a:t>
            </a:r>
            <a:r>
              <a:rPr lang="en" sz="2000" dirty="0"/>
              <a:t> &amp; association </a:t>
            </a:r>
            <a:r>
              <a:rPr lang="en" sz="2000" b="1" i="1" dirty="0"/>
              <a:t>Kremlin</a:t>
            </a:r>
            <a:r>
              <a:rPr lang="en" sz="2000" dirty="0"/>
              <a:t> → collocates of </a:t>
            </a:r>
            <a:r>
              <a:rPr lang="en" sz="2000" b="1" i="1" dirty="0"/>
              <a:t>Kremlin</a:t>
            </a:r>
            <a:endParaRPr i="1" dirty="0"/>
          </a:p>
        </p:txBody>
      </p:sp>
      <p:sp>
        <p:nvSpPr>
          <p:cNvPr id="141" name="Google Shape;141;p13"/>
          <p:cNvSpPr txBox="1">
            <a:spLocks noGrp="1"/>
          </p:cNvSpPr>
          <p:nvPr>
            <p:ph type="body" idx="2"/>
          </p:nvPr>
        </p:nvSpPr>
        <p:spPr>
          <a:xfrm>
            <a:off x="5445500" y="1152475"/>
            <a:ext cx="3386700" cy="3416400"/>
          </a:xfrm>
          <a:prstGeom prst="rect">
            <a:avLst/>
          </a:prstGeom>
          <a:noFill/>
          <a:ln>
            <a:noFill/>
          </a:ln>
        </p:spPr>
        <p:txBody>
          <a:bodyPr spcFirstLastPara="1" wrap="square" lIns="91425" tIns="91425" rIns="91425" bIns="91425" anchor="t" anchorCtr="0">
            <a:normAutofit fontScale="85000" lnSpcReduction="10000"/>
          </a:bodyPr>
          <a:lstStyle/>
          <a:p>
            <a:pPr marL="0" lvl="0" indent="0">
              <a:buSzPct val="100358"/>
              <a:buNone/>
            </a:pPr>
            <a:r>
              <a:rPr lang="en" sz="1800" dirty="0" err="1">
                <a:solidFill>
                  <a:schemeClr val="dk1"/>
                </a:solidFill>
                <a:latin typeface="Consolas"/>
                <a:ea typeface="Consolas"/>
                <a:cs typeface="Consolas"/>
                <a:sym typeface="Consolas"/>
              </a:rPr>
              <a:t>コロケートの</a:t>
            </a:r>
            <a:r>
              <a:rPr lang="en" sz="1800" dirty="0">
                <a:solidFill>
                  <a:schemeClr val="dk1"/>
                </a:solidFill>
                <a:latin typeface="Consolas"/>
                <a:ea typeface="Consolas"/>
                <a:cs typeface="Consolas"/>
                <a:sym typeface="Consolas"/>
              </a:rPr>
              <a:t> 80+% </a:t>
            </a:r>
            <a:r>
              <a:rPr lang="ja-JP" altLang="en-US" sz="1800">
                <a:solidFill>
                  <a:schemeClr val="dk1"/>
                </a:solidFill>
                <a:latin typeface="Consolas"/>
                <a:ea typeface="Consolas"/>
                <a:cs typeface="Consolas"/>
                <a:sym typeface="Consolas"/>
              </a:rPr>
              <a:t>　</a:t>
            </a:r>
            <a:endParaRPr lang="en-US" altLang="ja-JP" sz="1800" dirty="0">
              <a:solidFill>
                <a:schemeClr val="dk1"/>
              </a:solidFill>
              <a:latin typeface="Consolas"/>
              <a:ea typeface="Consolas"/>
              <a:cs typeface="Consolas"/>
              <a:sym typeface="Consolas"/>
            </a:endParaRPr>
          </a:p>
          <a:p>
            <a:pPr marL="0" lvl="0" indent="0">
              <a:buSzPct val="100358"/>
              <a:buNone/>
            </a:pPr>
            <a:r>
              <a:rPr lang="ja-JP" altLang="en-US" sz="1800">
                <a:solidFill>
                  <a:schemeClr val="dk1"/>
                </a:solidFill>
                <a:latin typeface="Consolas"/>
                <a:ea typeface="Consolas"/>
                <a:cs typeface="Consolas"/>
                <a:sym typeface="Consolas"/>
              </a:rPr>
              <a:t>最も繋がりが強いものは、</a:t>
            </a:r>
            <a:r>
              <a:rPr lang="en" sz="1800" dirty="0" err="1">
                <a:solidFill>
                  <a:schemeClr val="dk1"/>
                </a:solidFill>
                <a:latin typeface="Consolas"/>
                <a:ea typeface="Consolas"/>
                <a:cs typeface="Consolas"/>
                <a:sym typeface="Consolas"/>
              </a:rPr>
              <a:t>ロシア軍事、イデオロギー関係のソーシャルアクタ</a:t>
            </a:r>
            <a:r>
              <a:rPr lang="en" sz="1800" dirty="0">
                <a:solidFill>
                  <a:schemeClr val="dk1"/>
                </a:solidFill>
                <a:latin typeface="Consolas"/>
                <a:ea typeface="Consolas"/>
                <a:cs typeface="Consolas"/>
                <a:sym typeface="Consolas"/>
              </a:rPr>
              <a:t>ー、</a:t>
            </a:r>
            <a:r>
              <a:rPr lang="en" sz="1800" dirty="0" err="1">
                <a:solidFill>
                  <a:schemeClr val="dk1"/>
                </a:solidFill>
                <a:latin typeface="Consolas"/>
                <a:ea typeface="Consolas"/>
                <a:cs typeface="Consolas"/>
                <a:sym typeface="Consolas"/>
              </a:rPr>
              <a:t>ロシアの歴史的影響圏</a:t>
            </a:r>
            <a:r>
              <a:rPr lang="en" sz="1800" dirty="0">
                <a:solidFill>
                  <a:schemeClr val="dk1"/>
                </a:solidFill>
                <a:latin typeface="Consolas"/>
                <a:ea typeface="Consolas"/>
                <a:cs typeface="Consolas"/>
                <a:sym typeface="Consolas"/>
              </a:rPr>
              <a:t>.</a:t>
            </a:r>
            <a:r>
              <a:rPr lang="en" sz="1800" dirty="0">
                <a:solidFill>
                  <a:schemeClr val="dk1"/>
                </a:solidFill>
                <a:highlight>
                  <a:srgbClr val="F1F3F5"/>
                </a:highlight>
                <a:latin typeface="Consolas"/>
                <a:ea typeface="Consolas"/>
                <a:cs typeface="Consolas"/>
                <a:sym typeface="Consolas"/>
              </a:rPr>
              <a:t> </a:t>
            </a:r>
            <a:endParaRPr sz="1800" dirty="0">
              <a:solidFill>
                <a:schemeClr val="dk1"/>
              </a:solidFill>
              <a:highlight>
                <a:srgbClr val="F1F3F5"/>
              </a:highlight>
              <a:latin typeface="Consolas"/>
              <a:ea typeface="Consolas"/>
              <a:cs typeface="Consolas"/>
              <a:sym typeface="Consolas"/>
            </a:endParaRPr>
          </a:p>
          <a:p>
            <a:pPr marL="0" lvl="0" indent="0">
              <a:spcBef>
                <a:spcPts val="1200"/>
              </a:spcBef>
              <a:buClr>
                <a:schemeClr val="dk1"/>
              </a:buClr>
              <a:buSzPct val="61110"/>
              <a:buNone/>
            </a:pPr>
            <a:endParaRPr lang="en" sz="1800" dirty="0">
              <a:solidFill>
                <a:schemeClr val="dk1"/>
              </a:solidFill>
              <a:latin typeface="Consolas"/>
              <a:ea typeface="Consolas"/>
              <a:cs typeface="Consolas"/>
              <a:sym typeface="Consolas"/>
            </a:endParaRPr>
          </a:p>
          <a:p>
            <a:pPr marL="0" lvl="0" indent="0">
              <a:spcBef>
                <a:spcPts val="1200"/>
              </a:spcBef>
              <a:buClr>
                <a:schemeClr val="dk1"/>
              </a:buClr>
              <a:buSzPct val="61110"/>
              <a:buNone/>
            </a:pPr>
            <a:r>
              <a:rPr lang="en" sz="1800" dirty="0" err="1">
                <a:solidFill>
                  <a:schemeClr val="dk1"/>
                </a:solidFill>
                <a:latin typeface="Consolas"/>
                <a:ea typeface="Consolas"/>
                <a:cs typeface="Consolas"/>
                <a:sym typeface="Consolas"/>
              </a:rPr>
              <a:t>西側の視点を反映するコロケート</a:t>
            </a:r>
            <a:r>
              <a:rPr lang="ja-JP" altLang="en-US" sz="1800">
                <a:solidFill>
                  <a:schemeClr val="dk1"/>
                </a:solidFill>
                <a:latin typeface="Consolas"/>
                <a:ea typeface="Consolas"/>
                <a:cs typeface="Consolas"/>
                <a:sym typeface="Consolas"/>
              </a:rPr>
              <a:t>　</a:t>
            </a:r>
            <a:r>
              <a:rPr lang="en" sz="1800" i="1" dirty="0">
                <a:solidFill>
                  <a:schemeClr val="dk1"/>
                </a:solidFill>
                <a:latin typeface="Consolas"/>
                <a:ea typeface="Consolas"/>
                <a:cs typeface="Consolas"/>
                <a:sym typeface="Consolas"/>
              </a:rPr>
              <a:t>aggression, disinformation, propagandistic, propaganda, sanctions</a:t>
            </a:r>
            <a:endParaRPr sz="1800" i="1" dirty="0">
              <a:solidFill>
                <a:schemeClr val="dk1"/>
              </a:solidFill>
              <a:highlight>
                <a:srgbClr val="F1F3F5"/>
              </a:highlight>
              <a:latin typeface="Consolas"/>
              <a:ea typeface="Consolas"/>
              <a:cs typeface="Consolas"/>
              <a:sym typeface="Consolas"/>
            </a:endParaRPr>
          </a:p>
          <a:p>
            <a:pPr marL="0" lvl="0" indent="0" algn="l" rtl="0">
              <a:lnSpc>
                <a:spcPct val="115000"/>
              </a:lnSpc>
              <a:spcBef>
                <a:spcPts val="1200"/>
              </a:spcBef>
              <a:spcAft>
                <a:spcPts val="0"/>
              </a:spcAft>
              <a:buClr>
                <a:schemeClr val="dk1"/>
              </a:buClr>
              <a:buSzPct val="78571"/>
              <a:buFont typeface="Arial"/>
              <a:buNone/>
            </a:pPr>
            <a:r>
              <a:rPr lang="en" dirty="0">
                <a:solidFill>
                  <a:schemeClr val="accent5"/>
                </a:solidFill>
                <a:highlight>
                  <a:srgbClr val="F1F3F5"/>
                </a:highlight>
                <a:latin typeface="Consolas"/>
                <a:ea typeface="Consolas"/>
                <a:cs typeface="Consolas"/>
                <a:sym typeface="Consolas"/>
              </a:rPr>
              <a:t> </a:t>
            </a:r>
            <a:endParaRPr dirty="0">
              <a:solidFill>
                <a:srgbClr val="0000FF"/>
              </a:solidFill>
              <a:highlight>
                <a:srgbClr val="F1F3F5"/>
              </a:highlight>
              <a:latin typeface="Consolas"/>
              <a:ea typeface="Consolas"/>
              <a:cs typeface="Consolas"/>
              <a:sym typeface="Consolas"/>
            </a:endParaRPr>
          </a:p>
          <a:p>
            <a:pPr marL="0" lvl="0" indent="0" algn="l" rtl="0">
              <a:lnSpc>
                <a:spcPct val="115000"/>
              </a:lnSpc>
              <a:spcBef>
                <a:spcPts val="1200"/>
              </a:spcBef>
              <a:spcAft>
                <a:spcPts val="1200"/>
              </a:spcAft>
              <a:buSzPct val="129032"/>
              <a:buNone/>
            </a:pPr>
            <a:endParaRPr dirty="0"/>
          </a:p>
        </p:txBody>
      </p:sp>
      <p:pic>
        <p:nvPicPr>
          <p:cNvPr id="142" name="Google Shape;142;p13" title="Screenshot 2025-07-08 at 10.59.09 AM.png"/>
          <p:cNvPicPr preferRelativeResize="0"/>
          <p:nvPr/>
        </p:nvPicPr>
        <p:blipFill rotWithShape="1">
          <a:blip r:embed="rId3">
            <a:alphaModFix/>
          </a:blip>
          <a:srcRect/>
          <a:stretch/>
        </p:blipFill>
        <p:spPr>
          <a:xfrm>
            <a:off x="152400" y="1170125"/>
            <a:ext cx="5024326" cy="3020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title"/>
          </p:nvPr>
        </p:nvSpPr>
        <p:spPr>
          <a:xfrm>
            <a:off x="163900" y="72325"/>
            <a:ext cx="8520600" cy="299400"/>
          </a:xfrm>
          <a:prstGeom prst="rect">
            <a:avLst/>
          </a:prstGeom>
          <a:noFill/>
          <a:ln>
            <a:noFill/>
          </a:ln>
        </p:spPr>
        <p:txBody>
          <a:bodyPr spcFirstLastPara="1" wrap="square" lIns="91425" tIns="91425" rIns="91425" bIns="91425" anchor="t" anchorCtr="0">
            <a:normAutofit fontScale="90000"/>
          </a:bodyPr>
          <a:lstStyle/>
          <a:p>
            <a:pPr lvl="0">
              <a:buSzPct val="61110"/>
            </a:pPr>
            <a:r>
              <a:rPr lang="en" sz="1800" dirty="0" err="1"/>
              <a:t>東</a:t>
            </a:r>
            <a:r>
              <a:rPr lang="en" sz="1800" dirty="0"/>
              <a:t>: Top 10 </a:t>
            </a:r>
            <a:r>
              <a:rPr lang="en" sz="1800" dirty="0" err="1"/>
              <a:t>持続するアソシエーション</a:t>
            </a:r>
            <a:endParaRPr dirty="0"/>
          </a:p>
        </p:txBody>
      </p:sp>
      <p:graphicFrame>
        <p:nvGraphicFramePr>
          <p:cNvPr id="169" name="Google Shape;169;p17"/>
          <p:cNvGraphicFramePr/>
          <p:nvPr>
            <p:extLst>
              <p:ext uri="{D42A27DB-BD31-4B8C-83A1-F6EECF244321}">
                <p14:modId xmlns:p14="http://schemas.microsoft.com/office/powerpoint/2010/main" val="1678459079"/>
              </p:ext>
            </p:extLst>
          </p:nvPr>
        </p:nvGraphicFramePr>
        <p:xfrm>
          <a:off x="0" y="512438"/>
          <a:ext cx="2713200" cy="4630725"/>
        </p:xfrm>
        <a:graphic>
          <a:graphicData uri="http://schemas.openxmlformats.org/drawingml/2006/table">
            <a:tbl>
              <a:tblPr>
                <a:noFill/>
                <a:tableStyleId>{1075F87A-0009-4137-B362-7513D72C4D89}</a:tableStyleId>
              </a:tblPr>
              <a:tblGrid>
                <a:gridCol w="1550900">
                  <a:extLst>
                    <a:ext uri="{9D8B030D-6E8A-4147-A177-3AD203B41FA5}">
                      <a16:colId xmlns:a16="http://schemas.microsoft.com/office/drawing/2014/main" val="20000"/>
                    </a:ext>
                  </a:extLst>
                </a:gridCol>
                <a:gridCol w="1162300">
                  <a:extLst>
                    <a:ext uri="{9D8B030D-6E8A-4147-A177-3AD203B41FA5}">
                      <a16:colId xmlns:a16="http://schemas.microsoft.com/office/drawing/2014/main" val="20001"/>
                    </a:ext>
                  </a:extLst>
                </a:gridCol>
              </a:tblGrid>
              <a:tr h="584975">
                <a:tc>
                  <a:txBody>
                    <a:bodyPr/>
                    <a:lstStyle/>
                    <a:p>
                      <a:pPr marL="0" marR="0" lvl="0" indent="0" algn="l" rtl="0">
                        <a:lnSpc>
                          <a:spcPct val="100000"/>
                        </a:lnSpc>
                        <a:spcBef>
                          <a:spcPts val="0"/>
                        </a:spcBef>
                        <a:spcAft>
                          <a:spcPts val="0"/>
                        </a:spcAft>
                        <a:buClr>
                          <a:srgbClr val="000000"/>
                        </a:buClr>
                        <a:buSzPts val="1200"/>
                        <a:buFont typeface="Arial"/>
                        <a:buNone/>
                      </a:pPr>
                      <a:r>
                        <a:rPr lang="ja-JP" altLang="en-US" sz="1200" u="none" strike="noStrike" cap="none">
                          <a:solidFill>
                            <a:srgbClr val="FF0000"/>
                          </a:solidFill>
                        </a:rPr>
                        <a:t>東（名詞）＋</a:t>
                      </a:r>
                      <a:r>
                        <a:rPr lang="en" sz="1200" u="none" strike="noStrike" cap="none" dirty="0">
                          <a:solidFill>
                            <a:srgbClr val="FF0000"/>
                          </a:solidFill>
                        </a:rPr>
                        <a:t>…</a:t>
                      </a:r>
                      <a:endParaRPr sz="1200" u="none" strike="noStrike" cap="none" dirty="0">
                        <a:solidFill>
                          <a:srgbClr val="FF0000"/>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t>rho</a:t>
                      </a:r>
                      <a:endParaRPr sz="1200" u="none" strike="noStrike" cap="none"/>
                    </a:p>
                  </a:txBody>
                  <a:tcPr marL="91425" marR="91425" marT="91425" marB="91425"/>
                </a:tc>
                <a:extLst>
                  <a:ext uri="{0D108BD9-81ED-4DB2-BD59-A6C34878D82A}">
                    <a16:rowId xmlns:a16="http://schemas.microsoft.com/office/drawing/2014/main" val="10000"/>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to export</a:t>
                      </a:r>
                      <a:endParaRPr sz="1200" u="none" strike="noStrike" cap="none">
                        <a:latin typeface="Cambria"/>
                        <a:ea typeface="Cambria"/>
                        <a:cs typeface="Cambria"/>
                        <a:sym typeface="Cambria"/>
                      </a:endParaRPr>
                    </a:p>
                  </a:txBody>
                  <a:tcPr marL="68575" marR="68575" marT="91425" marB="91425">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0.615</a:t>
                      </a:r>
                      <a:endParaRPr sz="1200" u="none" strike="noStrike" cap="none">
                        <a:latin typeface="Cambria"/>
                        <a:ea typeface="Cambria"/>
                        <a:cs typeface="Cambria"/>
                        <a:sym typeface="Cambria"/>
                      </a:endParaRPr>
                    </a:p>
                  </a:txBody>
                  <a:tcPr marL="68575" marR="68575" marT="91425" marB="91425">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concern</a:t>
                      </a:r>
                      <a:endParaRPr sz="1200" u="none" strike="noStrike" cap="none">
                        <a:latin typeface="Cambria"/>
                        <a:ea typeface="Cambria"/>
                        <a:cs typeface="Cambria"/>
                        <a:sym typeface="Cambria"/>
                      </a:endParaRPr>
                    </a:p>
                  </a:txBody>
                  <a:tcPr marL="68575" marR="68575" marT="91425" marB="91425">
                    <a:lnT w="9525" cap="flat" cmpd="sng">
                      <a:solidFill>
                        <a:srgbClr val="000000"/>
                      </a:solidFill>
                      <a:prstDash val="solid"/>
                      <a:round/>
                      <a:headEnd type="none" w="sm" len="sm"/>
                      <a:tailEnd type="none" w="sm" len="sm"/>
                    </a:lnT>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0.580</a:t>
                      </a:r>
                      <a:endParaRPr sz="1200" u="none" strike="noStrike" cap="none">
                        <a:latin typeface="Cambria"/>
                        <a:ea typeface="Cambria"/>
                        <a:cs typeface="Cambria"/>
                        <a:sym typeface="Cambria"/>
                      </a:endParaRPr>
                    </a:p>
                  </a:txBody>
                  <a:tcPr marL="68575" marR="68575"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2"/>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industrial</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0.575</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3"/>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investment</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0.555</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4"/>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development</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0.550</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5"/>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convergence</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0.505</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6"/>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production (adj)</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0.503</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7"/>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to support</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0.494</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8"/>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gas (adj)</a:t>
                      </a:r>
                      <a:endParaRPr sz="1200"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0.475</a:t>
                      </a:r>
                      <a:endParaRPr sz="1200" u="none" strike="noStrike" cap="none">
                        <a:latin typeface="Cambria"/>
                        <a:ea typeface="Cambria"/>
                        <a:cs typeface="Cambria"/>
                        <a:sym typeface="Cambria"/>
                      </a:endParaRPr>
                    </a:p>
                  </a:txBody>
                  <a:tcPr marL="68575" marR="68575" marT="91425" marB="91425"/>
                </a:tc>
                <a:extLst>
                  <a:ext uri="{0D108BD9-81ED-4DB2-BD59-A6C34878D82A}">
                    <a16:rowId xmlns:a16="http://schemas.microsoft.com/office/drawing/2014/main" val="10009"/>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latin typeface="Cambria"/>
                          <a:ea typeface="Cambria"/>
                          <a:cs typeface="Cambria"/>
                          <a:sym typeface="Cambria"/>
                        </a:rPr>
                        <a:t>to import</a:t>
                      </a:r>
                      <a:endParaRPr sz="1200" b="1" u="none" strike="noStrike" cap="none">
                        <a:latin typeface="Cambria"/>
                        <a:ea typeface="Cambria"/>
                        <a:cs typeface="Cambria"/>
                        <a:sym typeface="Cambria"/>
                      </a:endParaRPr>
                    </a:p>
                  </a:txBody>
                  <a:tcPr marL="68575" marR="68575" marT="91425" marB="91425"/>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dirty="0">
                          <a:latin typeface="Cambria"/>
                          <a:ea typeface="Cambria"/>
                          <a:cs typeface="Cambria"/>
                          <a:sym typeface="Cambria"/>
                        </a:rPr>
                        <a:t>0.473</a:t>
                      </a:r>
                      <a:endParaRPr sz="1200" u="none" strike="noStrike" cap="none" dirty="0">
                        <a:latin typeface="Cambria"/>
                        <a:ea typeface="Cambria"/>
                        <a:cs typeface="Cambria"/>
                        <a:sym typeface="Cambria"/>
                      </a:endParaRPr>
                    </a:p>
                  </a:txBody>
                  <a:tcPr marL="68575" marR="68575" marT="91425" marB="91425"/>
                </a:tc>
                <a:extLst>
                  <a:ext uri="{0D108BD9-81ED-4DB2-BD59-A6C34878D82A}">
                    <a16:rowId xmlns:a16="http://schemas.microsoft.com/office/drawing/2014/main" val="10010"/>
                  </a:ext>
                </a:extLst>
              </a:tr>
            </a:tbl>
          </a:graphicData>
        </a:graphic>
      </p:graphicFrame>
      <p:sp>
        <p:nvSpPr>
          <p:cNvPr id="170" name="Google Shape;170;p17"/>
          <p:cNvSpPr txBox="1"/>
          <p:nvPr/>
        </p:nvSpPr>
        <p:spPr>
          <a:xfrm>
            <a:off x="6044150" y="549950"/>
            <a:ext cx="3099900" cy="4209600"/>
          </a:xfrm>
          <a:prstGeom prst="rect">
            <a:avLst/>
          </a:prstGeom>
          <a:noFill/>
          <a:ln>
            <a:noFill/>
          </a:ln>
        </p:spPr>
        <p:txBody>
          <a:bodyPr spcFirstLastPara="1" wrap="square" lIns="91425" tIns="91425" rIns="91425" bIns="91425" anchor="t" anchorCtr="0">
            <a:noAutofit/>
          </a:bodyPr>
          <a:lstStyle/>
          <a:p>
            <a:pPr lvl="0">
              <a:buSzPts val="1800"/>
            </a:pPr>
            <a:r>
              <a:rPr lang="en" sz="1800" dirty="0" err="1">
                <a:solidFill>
                  <a:srgbClr val="0000FF"/>
                </a:solidFill>
              </a:rPr>
              <a:t>最初の印象</a:t>
            </a:r>
            <a:r>
              <a:rPr lang="en" sz="1800" dirty="0">
                <a:solidFill>
                  <a:srgbClr val="0000FF"/>
                </a:solidFill>
              </a:rPr>
              <a:t>＝ </a:t>
            </a:r>
          </a:p>
          <a:p>
            <a:pPr lvl="0">
              <a:buSzPts val="1800"/>
            </a:pPr>
            <a:r>
              <a:rPr lang="en" sz="1800" dirty="0" err="1">
                <a:solidFill>
                  <a:srgbClr val="0000FF"/>
                </a:solidFill>
              </a:rPr>
              <a:t>東という概念は移行する経済、西と東では捉えきれないという考えを示唆しているのではないか（</a:t>
            </a:r>
            <a:r>
              <a:rPr lang="en" sz="1800" b="0" i="0" u="none" strike="noStrike" cap="none" dirty="0" err="1">
                <a:solidFill>
                  <a:srgbClr val="0000FF"/>
                </a:solidFill>
                <a:latin typeface="Arial"/>
                <a:ea typeface="Arial"/>
                <a:cs typeface="Arial"/>
                <a:sym typeface="Arial"/>
              </a:rPr>
              <a:t>tripartite</a:t>
            </a:r>
            <a:r>
              <a:rPr lang="en" sz="1800" b="0" i="0" u="none" strike="noStrike" cap="none" dirty="0">
                <a:solidFill>
                  <a:srgbClr val="0000FF"/>
                </a:solidFill>
                <a:latin typeface="Arial"/>
                <a:ea typeface="Arial"/>
                <a:cs typeface="Arial"/>
                <a:sym typeface="Arial"/>
              </a:rPr>
              <a:t> </a:t>
            </a:r>
            <a:r>
              <a:rPr lang="en" sz="1800" b="0" i="0" u="none" strike="noStrike" cap="none" dirty="0" err="1">
                <a:solidFill>
                  <a:srgbClr val="0000FF"/>
                </a:solidFill>
                <a:latin typeface="Arial"/>
                <a:ea typeface="Arial"/>
                <a:cs typeface="Arial"/>
                <a:sym typeface="Arial"/>
              </a:rPr>
              <a:t>area、West</a:t>
            </a:r>
            <a:r>
              <a:rPr lang="en" sz="1800" b="0" i="0" u="none" strike="noStrike" cap="none" dirty="0">
                <a:solidFill>
                  <a:srgbClr val="0000FF"/>
                </a:solidFill>
                <a:latin typeface="Arial"/>
                <a:ea typeface="Arial"/>
                <a:cs typeface="Arial"/>
                <a:sym typeface="Arial"/>
              </a:rPr>
              <a:t>, East and Central)</a:t>
            </a:r>
          </a:p>
          <a:p>
            <a:pPr lvl="0">
              <a:buSzPts val="1800"/>
            </a:pPr>
            <a:endParaRPr lang="en" sz="1800" dirty="0">
              <a:solidFill>
                <a:srgbClr val="0000FF"/>
              </a:solidFill>
            </a:endParaRPr>
          </a:p>
          <a:p>
            <a:pPr lvl="0">
              <a:buSzPts val="1800"/>
            </a:pPr>
            <a:r>
              <a:rPr lang="en-US" sz="1800" dirty="0">
                <a:solidFill>
                  <a:srgbClr val="0000FF"/>
                </a:solidFill>
                <a:sym typeface="Wingdings" pitchFamily="2" charset="2"/>
              </a:rPr>
              <a:t> </a:t>
            </a:r>
            <a:r>
              <a:rPr lang="en-US" sz="1800" dirty="0" err="1">
                <a:solidFill>
                  <a:srgbClr val="0000FF"/>
                </a:solidFill>
              </a:rPr>
              <a:t>コロケーションを比べてみる</a:t>
            </a:r>
            <a:endParaRPr lang="en" sz="1800" b="0" i="0" u="none" strike="noStrike" cap="none" dirty="0">
              <a:solidFill>
                <a:srgbClr val="0000FF"/>
              </a:solidFill>
              <a:latin typeface="Arial"/>
              <a:ea typeface="Arial"/>
              <a:cs typeface="Arial"/>
              <a:sym typeface="Arial"/>
            </a:endParaRPr>
          </a:p>
          <a:p>
            <a:pPr lvl="0">
              <a:buSzPts val="1800"/>
            </a:pPr>
            <a:endParaRPr lang="en" sz="1800" dirty="0">
              <a:solidFill>
                <a:srgbClr val="0000FF"/>
              </a:solidFill>
            </a:endParaRPr>
          </a:p>
          <a:p>
            <a:pPr lvl="0">
              <a:buSzPts val="1800"/>
            </a:pPr>
            <a:endParaRPr sz="1800" b="0" i="0" u="none" strike="noStrike" cap="none" dirty="0">
              <a:solidFill>
                <a:srgbClr val="0000FF"/>
              </a:solidFill>
              <a:latin typeface="Arial"/>
              <a:ea typeface="Arial"/>
              <a:cs typeface="Arial"/>
              <a:sym typeface="Arial"/>
            </a:endParaRPr>
          </a:p>
        </p:txBody>
      </p:sp>
      <p:graphicFrame>
        <p:nvGraphicFramePr>
          <p:cNvPr id="171" name="Google Shape;171;p17"/>
          <p:cNvGraphicFramePr/>
          <p:nvPr>
            <p:extLst>
              <p:ext uri="{D42A27DB-BD31-4B8C-83A1-F6EECF244321}">
                <p14:modId xmlns:p14="http://schemas.microsoft.com/office/powerpoint/2010/main" val="1927196448"/>
              </p:ext>
            </p:extLst>
          </p:nvPr>
        </p:nvGraphicFramePr>
        <p:xfrm>
          <a:off x="2955075" y="549938"/>
          <a:ext cx="2713200" cy="4630725"/>
        </p:xfrm>
        <a:graphic>
          <a:graphicData uri="http://schemas.openxmlformats.org/drawingml/2006/table">
            <a:tbl>
              <a:tblPr>
                <a:noFill/>
                <a:tableStyleId>{1075F87A-0009-4137-B362-7513D72C4D89}</a:tableStyleId>
              </a:tblPr>
              <a:tblGrid>
                <a:gridCol w="1550900">
                  <a:extLst>
                    <a:ext uri="{9D8B030D-6E8A-4147-A177-3AD203B41FA5}">
                      <a16:colId xmlns:a16="http://schemas.microsoft.com/office/drawing/2014/main" val="20000"/>
                    </a:ext>
                  </a:extLst>
                </a:gridCol>
                <a:gridCol w="1162300">
                  <a:extLst>
                    <a:ext uri="{9D8B030D-6E8A-4147-A177-3AD203B41FA5}">
                      <a16:colId xmlns:a16="http://schemas.microsoft.com/office/drawing/2014/main" val="20001"/>
                    </a:ext>
                  </a:extLst>
                </a:gridCol>
              </a:tblGrid>
              <a:tr h="5849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err="1">
                          <a:solidFill>
                            <a:srgbClr val="FF0000"/>
                          </a:solidFill>
                        </a:rPr>
                        <a:t>東（形容詞</a:t>
                      </a:r>
                      <a:r>
                        <a:rPr lang="en" sz="1200" u="none" strike="noStrike" cap="none" dirty="0">
                          <a:solidFill>
                            <a:srgbClr val="FF0000"/>
                          </a:solidFill>
                        </a:rPr>
                        <a:t>）＋…</a:t>
                      </a:r>
                      <a:endParaRPr sz="1200" u="none" strike="noStrike" cap="none" dirty="0">
                        <a:solidFill>
                          <a:srgbClr val="FF0000"/>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t>rho</a:t>
                      </a:r>
                      <a:endParaRPr sz="1200" u="none" strike="noStrike" cap="none"/>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b="1" u="none" strike="noStrike" cap="none">
                          <a:latin typeface="Cambria"/>
                          <a:ea typeface="Cambria"/>
                          <a:cs typeface="Cambria"/>
                          <a:sym typeface="Cambria"/>
                        </a:rPr>
                        <a:t>East-European</a:t>
                      </a:r>
                      <a:endParaRPr sz="1200" b="1"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0.868</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business</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0.831</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West-European</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0.811</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economic</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0.794</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export</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0.792</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privatization</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0.780</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[Soviet] Union</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0.776</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Grozny</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0.754</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USD</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0.750</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04575">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Cambria"/>
                          <a:ea typeface="Cambria"/>
                          <a:cs typeface="Cambria"/>
                          <a:sym typeface="Cambria"/>
                        </a:rPr>
                        <a:t>Central-European</a:t>
                      </a:r>
                      <a:endParaRPr sz="1200" u="none" strike="noStrike" cap="none">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200"/>
                        <a:buFont typeface="Arial"/>
                        <a:buNone/>
                      </a:pPr>
                      <a:r>
                        <a:rPr lang="en" sz="1200" u="none" strike="noStrike" cap="none" dirty="0">
                          <a:latin typeface="Cambria"/>
                          <a:ea typeface="Cambria"/>
                          <a:cs typeface="Cambria"/>
                          <a:sym typeface="Cambria"/>
                        </a:rPr>
                        <a:t>0.739</a:t>
                      </a:r>
                      <a:endParaRPr sz="1200" u="none" strike="noStrike" cap="none" dirty="0">
                        <a:latin typeface="Cambria"/>
                        <a:ea typeface="Cambria"/>
                        <a:cs typeface="Cambria"/>
                        <a:sym typeface="Cambria"/>
                      </a:endParaRPr>
                    </a:p>
                  </a:txBody>
                  <a:tcPr marL="68575" marR="6857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311700" y="150607"/>
            <a:ext cx="8520600" cy="867118"/>
          </a:xfrm>
          <a:prstGeom prst="rect">
            <a:avLst/>
          </a:prstGeom>
          <a:noFill/>
          <a:ln>
            <a:noFill/>
          </a:ln>
        </p:spPr>
        <p:txBody>
          <a:bodyPr spcFirstLastPara="1" wrap="square" lIns="91425" tIns="91425" rIns="91425" bIns="91425" anchor="t" anchorCtr="0">
            <a:normAutofit fontScale="90000"/>
          </a:bodyPr>
          <a:lstStyle/>
          <a:p>
            <a:pPr lvl="0">
              <a:buSzPct val="61110"/>
            </a:pPr>
            <a:r>
              <a:rPr lang="en" sz="1800" dirty="0" err="1"/>
              <a:t>rhoが比較的低い場合のアソシエーション</a:t>
            </a:r>
            <a:r>
              <a:rPr lang="en" sz="1800" dirty="0"/>
              <a:t> (rho=</a:t>
            </a:r>
            <a:r>
              <a:rPr lang="en" sz="2000" dirty="0">
                <a:latin typeface="Cambria"/>
                <a:ea typeface="Cambria"/>
                <a:cs typeface="Cambria"/>
                <a:sym typeface="Cambria"/>
              </a:rPr>
              <a:t>0.47</a:t>
            </a:r>
            <a:r>
              <a:rPr lang="en" sz="1800" dirty="0"/>
              <a:t>) </a:t>
            </a:r>
            <a:br>
              <a:rPr lang="en" sz="1800" dirty="0"/>
            </a:br>
            <a:r>
              <a:rPr lang="en" sz="1800" dirty="0"/>
              <a:t>Seed Word </a:t>
            </a:r>
            <a:r>
              <a:rPr lang="en" sz="1800" b="1" dirty="0" err="1"/>
              <a:t>東（名詞</a:t>
            </a:r>
            <a:r>
              <a:rPr lang="en" sz="1800" b="1" dirty="0"/>
              <a:t>）</a:t>
            </a:r>
            <a:r>
              <a:rPr lang="en" sz="1800" dirty="0"/>
              <a:t> &amp; association to</a:t>
            </a:r>
            <a:r>
              <a:rPr lang="en" sz="1800" b="1" i="1" dirty="0"/>
              <a:t> import</a:t>
            </a:r>
            <a:r>
              <a:rPr lang="en" sz="1800" i="1" dirty="0"/>
              <a:t> </a:t>
            </a:r>
            <a:r>
              <a:rPr lang="en" sz="1800" dirty="0"/>
              <a:t>→ collocates of association to</a:t>
            </a:r>
            <a:r>
              <a:rPr lang="en" sz="1800" b="1" i="1" dirty="0"/>
              <a:t> import</a:t>
            </a:r>
            <a:endParaRPr dirty="0"/>
          </a:p>
        </p:txBody>
      </p:sp>
      <p:sp>
        <p:nvSpPr>
          <p:cNvPr id="191" name="Google Shape;191;p2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dirty="0" err="1">
                <a:solidFill>
                  <a:schemeClr val="dk1"/>
                </a:solidFill>
              </a:rPr>
              <a:t>経済関係のコロケート、特に輸出入</a:t>
            </a:r>
            <a:r>
              <a:rPr lang="en" dirty="0">
                <a:solidFill>
                  <a:schemeClr val="dk1"/>
                </a:solidFill>
              </a:rPr>
              <a:t> (importing and exporting from one location to another, more focus on the origin “from where”). </a:t>
            </a:r>
            <a:r>
              <a:rPr lang="en" dirty="0" err="1">
                <a:solidFill>
                  <a:schemeClr val="dk1"/>
                </a:solidFill>
              </a:rPr>
              <a:t>大部分はエネルギー資源に関連するもの</a:t>
            </a:r>
            <a:r>
              <a:rPr lang="en" dirty="0">
                <a:solidFill>
                  <a:schemeClr val="dk1"/>
                </a:solidFill>
              </a:rPr>
              <a:t> (gas, crude oil, electricity), </a:t>
            </a:r>
          </a:p>
          <a:p>
            <a:pPr marL="0" lvl="0" indent="0" algn="l" rtl="0">
              <a:lnSpc>
                <a:spcPct val="115000"/>
              </a:lnSpc>
              <a:spcBef>
                <a:spcPts val="0"/>
              </a:spcBef>
              <a:spcAft>
                <a:spcPts val="0"/>
              </a:spcAft>
              <a:buClr>
                <a:schemeClr val="dk1"/>
              </a:buClr>
              <a:buSzPts val="1100"/>
              <a:buFont typeface="Arial"/>
              <a:buNone/>
            </a:pPr>
            <a:r>
              <a:rPr lang="en" dirty="0" err="1">
                <a:solidFill>
                  <a:schemeClr val="dk1"/>
                </a:solidFill>
              </a:rPr>
              <a:t>中国、ロシア、チェコ（輸出、輸入の動きを反映</a:t>
            </a:r>
            <a:r>
              <a:rPr lang="en" dirty="0">
                <a:solidFill>
                  <a:schemeClr val="dk1"/>
                </a:solidFill>
              </a:rPr>
              <a:t>）</a:t>
            </a:r>
            <a:r>
              <a:rPr lang="ja-JP" altLang="en-US">
                <a:solidFill>
                  <a:schemeClr val="dk1"/>
                </a:solidFill>
              </a:rPr>
              <a:t>　</a:t>
            </a:r>
            <a:endParaRPr dirty="0">
              <a:solidFill>
                <a:schemeClr val="dk1"/>
              </a:solidFill>
            </a:endParaRPr>
          </a:p>
          <a:p>
            <a:pPr marL="0" lvl="0" indent="0" algn="l" rtl="0">
              <a:lnSpc>
                <a:spcPct val="115000"/>
              </a:lnSpc>
              <a:spcBef>
                <a:spcPts val="1200"/>
              </a:spcBef>
              <a:spcAft>
                <a:spcPts val="1200"/>
              </a:spcAft>
              <a:buSzPts val="1400"/>
              <a:buNone/>
            </a:pPr>
            <a:endParaRPr dirty="0"/>
          </a:p>
        </p:txBody>
      </p:sp>
      <p:pic>
        <p:nvPicPr>
          <p:cNvPr id="192" name="Google Shape;192;p20" title="Screenshot 2025-07-08 at 12.21.45 PM.png"/>
          <p:cNvPicPr preferRelativeResize="0"/>
          <p:nvPr/>
        </p:nvPicPr>
        <p:blipFill rotWithShape="1">
          <a:blip r:embed="rId3">
            <a:alphaModFix/>
          </a:blip>
          <a:srcRect/>
          <a:stretch/>
        </p:blipFill>
        <p:spPr>
          <a:xfrm>
            <a:off x="152400" y="1170125"/>
            <a:ext cx="4527599" cy="25563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228050" y="249900"/>
            <a:ext cx="8520600" cy="572700"/>
          </a:xfrm>
          <a:prstGeom prst="rect">
            <a:avLst/>
          </a:prstGeom>
          <a:noFill/>
          <a:ln>
            <a:noFill/>
          </a:ln>
        </p:spPr>
        <p:txBody>
          <a:bodyPr spcFirstLastPara="1" wrap="square" lIns="91425" tIns="91425" rIns="91425" bIns="91425" anchor="t" anchorCtr="0">
            <a:normAutofit fontScale="90000"/>
          </a:bodyPr>
          <a:lstStyle/>
          <a:p>
            <a:pPr lvl="0">
              <a:buSzPct val="54455"/>
            </a:pPr>
            <a:r>
              <a:rPr lang="en" sz="2400" dirty="0" err="1"/>
              <a:t>rhoが比較的高い場合のアソシエーション</a:t>
            </a:r>
            <a:r>
              <a:rPr lang="en" sz="2400" dirty="0"/>
              <a:t> </a:t>
            </a:r>
            <a:br>
              <a:rPr lang="en" sz="2400" dirty="0"/>
            </a:br>
            <a:r>
              <a:rPr lang="en" sz="2020" dirty="0"/>
              <a:t>Seed word </a:t>
            </a:r>
            <a:r>
              <a:rPr lang="en" sz="2020" b="1" dirty="0" err="1"/>
              <a:t>東（形容詞</a:t>
            </a:r>
            <a:r>
              <a:rPr lang="en" sz="2020" b="1" dirty="0"/>
              <a:t>）</a:t>
            </a:r>
            <a:r>
              <a:rPr lang="en" sz="2020" dirty="0"/>
              <a:t> &amp; association </a:t>
            </a:r>
            <a:r>
              <a:rPr lang="en" sz="2020" b="1" i="1" dirty="0"/>
              <a:t>business</a:t>
            </a:r>
            <a:r>
              <a:rPr lang="en" sz="2020" dirty="0"/>
              <a:t> (rho=0.87) → collocates of association </a:t>
            </a:r>
            <a:r>
              <a:rPr lang="en" sz="2020" b="1" i="1" dirty="0"/>
              <a:t>business</a:t>
            </a:r>
            <a:endParaRPr dirty="0"/>
          </a:p>
        </p:txBody>
      </p:sp>
      <p:sp>
        <p:nvSpPr>
          <p:cNvPr id="177" name="Google Shape;177;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400"/>
              <a:buNone/>
            </a:pPr>
            <a:r>
              <a:rPr lang="en" sz="1800" dirty="0">
                <a:solidFill>
                  <a:schemeClr val="dk1"/>
                </a:solidFill>
              </a:rPr>
              <a:t>コロケートの95% </a:t>
            </a:r>
            <a:r>
              <a:rPr lang="en" sz="1800" dirty="0" err="1">
                <a:solidFill>
                  <a:schemeClr val="dk1"/>
                </a:solidFill>
              </a:rPr>
              <a:t>は経済、ビジネス関係</a:t>
            </a:r>
            <a:r>
              <a:rPr lang="en" sz="1800" dirty="0">
                <a:solidFill>
                  <a:schemeClr val="dk1"/>
                </a:solidFill>
              </a:rPr>
              <a:t> (</a:t>
            </a:r>
            <a:r>
              <a:rPr lang="en" sz="1800" dirty="0" err="1">
                <a:solidFill>
                  <a:schemeClr val="dk1"/>
                </a:solidFill>
              </a:rPr>
              <a:t>例</a:t>
            </a:r>
            <a:r>
              <a:rPr lang="en" sz="1800" dirty="0">
                <a:solidFill>
                  <a:schemeClr val="dk1"/>
                </a:solidFill>
              </a:rPr>
              <a:t> </a:t>
            </a:r>
            <a:r>
              <a:rPr lang="en" sz="1800" i="1" dirty="0">
                <a:solidFill>
                  <a:schemeClr val="dk1"/>
                </a:solidFill>
              </a:rPr>
              <a:t>accountancy, bankrupt, credit</a:t>
            </a:r>
            <a:r>
              <a:rPr lang="en" sz="1800" dirty="0">
                <a:solidFill>
                  <a:schemeClr val="dk1"/>
                </a:solidFill>
              </a:rPr>
              <a:t>), </a:t>
            </a:r>
            <a:r>
              <a:rPr lang="en" sz="1800" dirty="0" err="1">
                <a:solidFill>
                  <a:schemeClr val="dk1"/>
                </a:solidFill>
              </a:rPr>
              <a:t>特に</a:t>
            </a:r>
            <a:r>
              <a:rPr lang="en" sz="1800" dirty="0">
                <a:solidFill>
                  <a:schemeClr val="dk1"/>
                </a:solidFill>
              </a:rPr>
              <a:t> </a:t>
            </a:r>
            <a:r>
              <a:rPr lang="en" sz="1800" dirty="0" err="1">
                <a:solidFill>
                  <a:schemeClr val="dk1"/>
                </a:solidFill>
              </a:rPr>
              <a:t>移行経済</a:t>
            </a:r>
            <a:r>
              <a:rPr lang="en" sz="1800" dirty="0">
                <a:solidFill>
                  <a:schemeClr val="dk1"/>
                </a:solidFill>
              </a:rPr>
              <a:t> (</a:t>
            </a:r>
            <a:r>
              <a:rPr lang="en" sz="1800" dirty="0" err="1">
                <a:solidFill>
                  <a:schemeClr val="dk1"/>
                </a:solidFill>
              </a:rPr>
              <a:t>例</a:t>
            </a:r>
            <a:r>
              <a:rPr lang="en" sz="1800" dirty="0">
                <a:solidFill>
                  <a:schemeClr val="dk1"/>
                </a:solidFill>
              </a:rPr>
              <a:t> </a:t>
            </a:r>
            <a:r>
              <a:rPr lang="en" sz="1800" i="1" dirty="0">
                <a:solidFill>
                  <a:schemeClr val="dk1"/>
                </a:solidFill>
              </a:rPr>
              <a:t>privatization, restructuring, complying</a:t>
            </a:r>
            <a:r>
              <a:rPr lang="en" sz="1800" dirty="0">
                <a:solidFill>
                  <a:schemeClr val="dk1"/>
                </a:solidFill>
              </a:rPr>
              <a:t>)</a:t>
            </a:r>
            <a:endParaRPr sz="1800" dirty="0">
              <a:solidFill>
                <a:schemeClr val="dk1"/>
              </a:solidFill>
            </a:endParaRPr>
          </a:p>
          <a:p>
            <a:pPr marL="0" lvl="0" indent="0">
              <a:spcBef>
                <a:spcPts val="1200"/>
              </a:spcBef>
              <a:spcAft>
                <a:spcPts val="1200"/>
              </a:spcAft>
              <a:buClr>
                <a:schemeClr val="dk1"/>
              </a:buClr>
              <a:buSzPts val="1100"/>
              <a:buNone/>
            </a:pPr>
            <a:r>
              <a:rPr lang="en" sz="1800" dirty="0">
                <a:solidFill>
                  <a:schemeClr val="dk1"/>
                </a:solidFill>
              </a:rPr>
              <a:t>＞</a:t>
            </a:r>
            <a:r>
              <a:rPr lang="en" sz="1800" dirty="0" err="1">
                <a:solidFill>
                  <a:schemeClr val="dk1"/>
                </a:solidFill>
              </a:rPr>
              <a:t>東とは</a:t>
            </a:r>
            <a:r>
              <a:rPr lang="en" sz="1800" dirty="0">
                <a:solidFill>
                  <a:schemeClr val="dk1"/>
                </a:solidFill>
              </a:rPr>
              <a:t> </a:t>
            </a:r>
            <a:r>
              <a:rPr lang="en" sz="1800" dirty="0" err="1">
                <a:solidFill>
                  <a:schemeClr val="dk1"/>
                </a:solidFill>
              </a:rPr>
              <a:t>経済が発達しつつある場所</a:t>
            </a:r>
            <a:r>
              <a:rPr lang="ja-JP" altLang="en-US" sz="1800">
                <a:solidFill>
                  <a:schemeClr val="dk1"/>
                </a:solidFill>
              </a:rPr>
              <a:t>　</a:t>
            </a:r>
            <a:endParaRPr sz="1800" dirty="0"/>
          </a:p>
        </p:txBody>
      </p:sp>
      <p:pic>
        <p:nvPicPr>
          <p:cNvPr id="178" name="Google Shape;178;p18" title="Screenshot 2025-07-08 at 12.08.11 PM.png"/>
          <p:cNvPicPr preferRelativeResize="0"/>
          <p:nvPr/>
        </p:nvPicPr>
        <p:blipFill rotWithShape="1">
          <a:blip r:embed="rId3">
            <a:alphaModFix/>
          </a:blip>
          <a:srcRect/>
          <a:stretch/>
        </p:blipFill>
        <p:spPr>
          <a:xfrm>
            <a:off x="152400" y="1170125"/>
            <a:ext cx="4527600" cy="28570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115455" y="0"/>
            <a:ext cx="8520600" cy="572700"/>
          </a:xfrm>
          <a:prstGeom prst="rect">
            <a:avLst/>
          </a:prstGeom>
          <a:noFill/>
          <a:ln>
            <a:noFill/>
          </a:ln>
        </p:spPr>
        <p:txBody>
          <a:bodyPr spcFirstLastPara="1" wrap="square" lIns="91425" tIns="91425" rIns="91425" bIns="91425" anchor="t" anchorCtr="0">
            <a:normAutofit fontScale="90000"/>
          </a:bodyPr>
          <a:lstStyle/>
          <a:p>
            <a:pPr lvl="0">
              <a:buSzPct val="49009"/>
            </a:pPr>
            <a:r>
              <a:rPr lang="en" sz="2400" dirty="0" err="1"/>
              <a:t>rhoが比較的高い場合のアソシエーション</a:t>
            </a:r>
            <a:r>
              <a:rPr lang="en" sz="2400" dirty="0"/>
              <a:t> </a:t>
            </a:r>
            <a:br>
              <a:rPr lang="en" sz="2400" dirty="0"/>
            </a:br>
            <a:r>
              <a:rPr lang="en" sz="2020" dirty="0" err="1"/>
              <a:t>特に注目すべきコロケート</a:t>
            </a:r>
            <a:br>
              <a:rPr lang="en" sz="2020" dirty="0"/>
            </a:br>
            <a:r>
              <a:rPr lang="en" sz="2020" dirty="0"/>
              <a:t>Seed word </a:t>
            </a:r>
            <a:r>
              <a:rPr lang="en" sz="2020" b="1" i="1" dirty="0" err="1"/>
              <a:t>東（形容詞</a:t>
            </a:r>
            <a:r>
              <a:rPr lang="en" sz="2020" b="1" i="1" dirty="0"/>
              <a:t>）</a:t>
            </a:r>
            <a:r>
              <a:rPr lang="en" sz="2020" dirty="0"/>
              <a:t> &amp; association </a:t>
            </a:r>
            <a:r>
              <a:rPr lang="en" sz="2020" b="1" i="1" dirty="0"/>
              <a:t>East-European</a:t>
            </a:r>
            <a:r>
              <a:rPr lang="en" sz="2020" dirty="0"/>
              <a:t> (rho=0.87) → collocates of association </a:t>
            </a:r>
            <a:r>
              <a:rPr lang="en" sz="2020" b="1" i="1" dirty="0"/>
              <a:t>East-European</a:t>
            </a:r>
            <a:endParaRPr sz="2020" b="1" i="1" dirty="0"/>
          </a:p>
          <a:p>
            <a:pPr marL="0" lvl="0" indent="0" algn="l" rtl="0">
              <a:lnSpc>
                <a:spcPct val="100000"/>
              </a:lnSpc>
              <a:spcBef>
                <a:spcPts val="0"/>
              </a:spcBef>
              <a:spcAft>
                <a:spcPts val="0"/>
              </a:spcAft>
              <a:buSzPct val="111111"/>
              <a:buNone/>
            </a:pPr>
            <a:endParaRPr dirty="0"/>
          </a:p>
        </p:txBody>
      </p:sp>
      <p:sp>
        <p:nvSpPr>
          <p:cNvPr id="184" name="Google Shape;184;p19"/>
          <p:cNvSpPr txBox="1">
            <a:spLocks noGrp="1"/>
          </p:cNvSpPr>
          <p:nvPr>
            <p:ph type="body" idx="2"/>
          </p:nvPr>
        </p:nvSpPr>
        <p:spPr>
          <a:xfrm>
            <a:off x="4832400" y="1152475"/>
            <a:ext cx="4311600" cy="3912000"/>
          </a:xfrm>
          <a:prstGeom prst="rect">
            <a:avLst/>
          </a:prstGeom>
          <a:noFill/>
          <a:ln>
            <a:noFill/>
          </a:ln>
        </p:spPr>
        <p:txBody>
          <a:bodyPr spcFirstLastPara="1" wrap="square" lIns="91425" tIns="91425" rIns="91425" bIns="91425" anchor="t" anchorCtr="0">
            <a:normAutofit/>
          </a:bodyPr>
          <a:lstStyle/>
          <a:p>
            <a:pPr marL="0" lvl="0" indent="0" algn="l" rtl="0">
              <a:lnSpc>
                <a:spcPct val="105000"/>
              </a:lnSpc>
              <a:spcBef>
                <a:spcPts val="0"/>
              </a:spcBef>
              <a:spcAft>
                <a:spcPts val="0"/>
              </a:spcAft>
              <a:buSzPct val="99246"/>
              <a:buNone/>
            </a:pPr>
            <a:r>
              <a:rPr lang="en" sz="1525" dirty="0">
                <a:solidFill>
                  <a:schemeClr val="dk1"/>
                </a:solidFill>
                <a:latin typeface="Consolas"/>
                <a:ea typeface="Consolas"/>
                <a:cs typeface="Consolas"/>
                <a:sym typeface="Consolas"/>
              </a:rPr>
              <a:t>(1) </a:t>
            </a:r>
            <a:r>
              <a:rPr lang="en" sz="1525" dirty="0" err="1">
                <a:solidFill>
                  <a:schemeClr val="dk1"/>
                </a:solidFill>
                <a:latin typeface="Consolas"/>
                <a:ea typeface="Consolas"/>
                <a:cs typeface="Consolas"/>
                <a:sym typeface="Consolas"/>
              </a:rPr>
              <a:t>多様性のあるヨーロッパのスペース</a:t>
            </a:r>
            <a:r>
              <a:rPr lang="ja-JP" altLang="en-US" sz="1525">
                <a:solidFill>
                  <a:schemeClr val="dk1"/>
                </a:solidFill>
                <a:latin typeface="Consolas"/>
                <a:ea typeface="Consolas"/>
                <a:cs typeface="Consolas"/>
                <a:sym typeface="Consolas"/>
              </a:rPr>
              <a:t>　</a:t>
            </a:r>
            <a:endParaRPr sz="1525" dirty="0">
              <a:solidFill>
                <a:schemeClr val="dk1"/>
              </a:solidFill>
              <a:latin typeface="Consolas"/>
              <a:ea typeface="Consolas"/>
              <a:cs typeface="Consolas"/>
              <a:sym typeface="Consolas"/>
            </a:endParaRPr>
          </a:p>
          <a:p>
            <a:pPr marL="0" lvl="0" indent="0" algn="l" rtl="0">
              <a:lnSpc>
                <a:spcPct val="105000"/>
              </a:lnSpc>
              <a:spcBef>
                <a:spcPts val="1200"/>
              </a:spcBef>
              <a:spcAft>
                <a:spcPts val="0"/>
              </a:spcAft>
              <a:buSzPct val="99246"/>
              <a:buNone/>
            </a:pPr>
            <a:r>
              <a:rPr lang="en" sz="1525" dirty="0">
                <a:solidFill>
                  <a:schemeClr val="dk1"/>
                </a:solidFill>
                <a:latin typeface="Consolas"/>
                <a:ea typeface="Consolas"/>
                <a:cs typeface="Consolas"/>
                <a:sym typeface="Consolas"/>
              </a:rPr>
              <a:t>(2) </a:t>
            </a:r>
            <a:r>
              <a:rPr lang="en" sz="1525" dirty="0" err="1">
                <a:solidFill>
                  <a:schemeClr val="dk1"/>
                </a:solidFill>
                <a:latin typeface="Consolas"/>
                <a:ea typeface="Consolas"/>
                <a:cs typeface="Consolas"/>
                <a:sym typeface="Consolas"/>
              </a:rPr>
              <a:t>なぜ多様性が生じたかを示唆するコロケート</a:t>
            </a:r>
            <a:r>
              <a:rPr lang="en" sz="1525" dirty="0">
                <a:solidFill>
                  <a:schemeClr val="dk1"/>
                </a:solidFill>
                <a:latin typeface="Consolas"/>
                <a:ea typeface="Consolas"/>
                <a:cs typeface="Consolas"/>
                <a:sym typeface="Consolas"/>
              </a:rPr>
              <a:t>: （</a:t>
            </a:r>
            <a:r>
              <a:rPr lang="en" sz="1525" dirty="0" err="1">
                <a:solidFill>
                  <a:schemeClr val="dk1"/>
                </a:solidFill>
                <a:latin typeface="Consolas"/>
                <a:ea typeface="Consolas"/>
                <a:cs typeface="Consolas"/>
                <a:sym typeface="Consolas"/>
              </a:rPr>
              <a:t>政治体制、歴史的背景、文化的、知的に培われたもの</a:t>
            </a:r>
            <a:r>
              <a:rPr lang="en" sz="1525" dirty="0">
                <a:solidFill>
                  <a:schemeClr val="dk1"/>
                </a:solidFill>
                <a:latin typeface="Consolas"/>
                <a:ea typeface="Consolas"/>
                <a:cs typeface="Consolas"/>
                <a:sym typeface="Consolas"/>
              </a:rPr>
              <a:t>) </a:t>
            </a:r>
          </a:p>
          <a:p>
            <a:pPr marL="0" lvl="0" indent="0" algn="l" rtl="0">
              <a:lnSpc>
                <a:spcPct val="105000"/>
              </a:lnSpc>
              <a:spcBef>
                <a:spcPts val="1200"/>
              </a:spcBef>
              <a:spcAft>
                <a:spcPts val="0"/>
              </a:spcAft>
              <a:buSzPct val="99246"/>
              <a:buNone/>
            </a:pPr>
            <a:r>
              <a:rPr lang="en" sz="1525" dirty="0">
                <a:solidFill>
                  <a:schemeClr val="dk1"/>
                </a:solidFill>
                <a:latin typeface="Consolas"/>
                <a:ea typeface="Consolas"/>
                <a:cs typeface="Consolas"/>
                <a:sym typeface="Consolas"/>
              </a:rPr>
              <a:t>（</a:t>
            </a:r>
            <a:r>
              <a:rPr lang="en" sz="1525" dirty="0" err="1">
                <a:solidFill>
                  <a:schemeClr val="dk1"/>
                </a:solidFill>
                <a:latin typeface="Consolas"/>
                <a:ea typeface="Consolas"/>
                <a:cs typeface="Consolas"/>
                <a:sym typeface="Consolas"/>
              </a:rPr>
              <a:t>例</a:t>
            </a:r>
            <a:r>
              <a:rPr lang="en" sz="1525" dirty="0">
                <a:solidFill>
                  <a:schemeClr val="dk1"/>
                </a:solidFill>
                <a:latin typeface="Consolas"/>
                <a:ea typeface="Consolas"/>
                <a:cs typeface="Consolas"/>
                <a:sym typeface="Consolas"/>
              </a:rPr>
              <a:t> cinematography, history, democracy, intellectual) </a:t>
            </a:r>
            <a:endParaRPr sz="1525" dirty="0">
              <a:solidFill>
                <a:schemeClr val="dk1"/>
              </a:solidFill>
              <a:latin typeface="Consolas"/>
              <a:ea typeface="Consolas"/>
              <a:cs typeface="Consolas"/>
              <a:sym typeface="Consolas"/>
            </a:endParaRPr>
          </a:p>
          <a:p>
            <a:pPr marL="0" lvl="0" indent="0" algn="l" rtl="0">
              <a:lnSpc>
                <a:spcPct val="105000"/>
              </a:lnSpc>
              <a:spcBef>
                <a:spcPts val="1200"/>
              </a:spcBef>
              <a:spcAft>
                <a:spcPts val="0"/>
              </a:spcAft>
              <a:buSzPct val="99246"/>
              <a:buNone/>
            </a:pPr>
            <a:r>
              <a:rPr lang="en" sz="1525" dirty="0">
                <a:solidFill>
                  <a:schemeClr val="dk1"/>
                </a:solidFill>
                <a:latin typeface="Consolas"/>
                <a:ea typeface="Consolas"/>
                <a:cs typeface="Consolas"/>
                <a:sym typeface="Consolas"/>
              </a:rPr>
              <a:t>(3) EU, NATO</a:t>
            </a:r>
            <a:r>
              <a:rPr lang="ja-JP" altLang="en-US" sz="1525">
                <a:solidFill>
                  <a:schemeClr val="dk1"/>
                </a:solidFill>
                <a:latin typeface="Consolas"/>
                <a:ea typeface="Consolas"/>
                <a:cs typeface="Consolas"/>
                <a:sym typeface="Consolas"/>
              </a:rPr>
              <a:t>関係</a:t>
            </a:r>
            <a:r>
              <a:rPr lang="en" sz="1525" dirty="0">
                <a:solidFill>
                  <a:schemeClr val="dk1"/>
                </a:solidFill>
                <a:latin typeface="Consolas"/>
                <a:ea typeface="Consolas"/>
                <a:cs typeface="Consolas"/>
                <a:sym typeface="Consolas"/>
              </a:rPr>
              <a:t> (membership, acceptance, EU, NATO), </a:t>
            </a:r>
            <a:r>
              <a:rPr lang="en" sz="1525" dirty="0" err="1">
                <a:solidFill>
                  <a:schemeClr val="dk1"/>
                </a:solidFill>
                <a:latin typeface="Consolas"/>
                <a:ea typeface="Consolas"/>
                <a:cs typeface="Consolas"/>
                <a:sym typeface="Consolas"/>
              </a:rPr>
              <a:t>加盟する動機資格に関係するコロケート</a:t>
            </a:r>
            <a:r>
              <a:rPr lang="ja-JP" altLang="en-US" sz="1525">
                <a:solidFill>
                  <a:schemeClr val="dk1"/>
                </a:solidFill>
                <a:latin typeface="Consolas"/>
                <a:ea typeface="Consolas"/>
                <a:cs typeface="Consolas"/>
                <a:sym typeface="Consolas"/>
              </a:rPr>
              <a:t>、</a:t>
            </a:r>
            <a:r>
              <a:rPr lang="en" sz="1525" dirty="0">
                <a:solidFill>
                  <a:schemeClr val="dk1"/>
                </a:solidFill>
                <a:latin typeface="Consolas"/>
                <a:ea typeface="Consolas"/>
                <a:cs typeface="Consolas"/>
                <a:sym typeface="Consolas"/>
              </a:rPr>
              <a:t>(2)</a:t>
            </a:r>
            <a:r>
              <a:rPr lang="en" sz="1525" dirty="0" err="1">
                <a:solidFill>
                  <a:schemeClr val="dk1"/>
                </a:solidFill>
                <a:latin typeface="Consolas"/>
                <a:ea typeface="Consolas"/>
                <a:cs typeface="Consolas"/>
                <a:sym typeface="Consolas"/>
              </a:rPr>
              <a:t>も、その理由となっている可能性</a:t>
            </a:r>
            <a:endParaRPr sz="1525" dirty="0">
              <a:solidFill>
                <a:schemeClr val="dk1"/>
              </a:solidFill>
              <a:latin typeface="Consolas"/>
              <a:ea typeface="Consolas"/>
              <a:cs typeface="Consolas"/>
              <a:sym typeface="Consolas"/>
            </a:endParaRPr>
          </a:p>
          <a:p>
            <a:pPr marL="0" lvl="0" indent="0">
              <a:lnSpc>
                <a:spcPct val="105000"/>
              </a:lnSpc>
              <a:spcBef>
                <a:spcPts val="1200"/>
              </a:spcBef>
              <a:buSzPct val="99246"/>
              <a:buNone/>
            </a:pPr>
            <a:r>
              <a:rPr lang="en" sz="1525" dirty="0">
                <a:solidFill>
                  <a:schemeClr val="dk1"/>
                </a:solidFill>
                <a:latin typeface="Consolas"/>
                <a:ea typeface="Consolas"/>
                <a:cs typeface="Consolas"/>
                <a:sym typeface="Consolas"/>
              </a:rPr>
              <a:t>コロケートの80+% </a:t>
            </a:r>
            <a:r>
              <a:rPr lang="ja-JP" altLang="en-US" sz="1525">
                <a:solidFill>
                  <a:schemeClr val="dk1"/>
                </a:solidFill>
                <a:latin typeface="Consolas"/>
                <a:ea typeface="Consolas"/>
                <a:cs typeface="Consolas"/>
                <a:sym typeface="Consolas"/>
              </a:rPr>
              <a:t>が</a:t>
            </a:r>
            <a:r>
              <a:rPr lang="en" sz="1525" dirty="0">
                <a:solidFill>
                  <a:schemeClr val="dk1"/>
                </a:solidFill>
                <a:latin typeface="Consolas"/>
                <a:ea typeface="Consolas"/>
                <a:cs typeface="Consolas"/>
                <a:sym typeface="Consolas"/>
              </a:rPr>
              <a:t>(1)-(3) </a:t>
            </a:r>
            <a:r>
              <a:rPr lang="en" sz="1525" dirty="0" err="1">
                <a:solidFill>
                  <a:schemeClr val="dk1"/>
                </a:solidFill>
                <a:latin typeface="Consolas"/>
                <a:ea typeface="Consolas"/>
                <a:cs typeface="Consolas"/>
                <a:sym typeface="Consolas"/>
              </a:rPr>
              <a:t>のカテゴリ</a:t>
            </a:r>
            <a:r>
              <a:rPr lang="en" sz="1525" dirty="0">
                <a:solidFill>
                  <a:schemeClr val="dk1"/>
                </a:solidFill>
                <a:latin typeface="Consolas"/>
                <a:ea typeface="Consolas"/>
                <a:cs typeface="Consolas"/>
                <a:sym typeface="Consolas"/>
              </a:rPr>
              <a:t>ー</a:t>
            </a:r>
            <a:r>
              <a:rPr lang="en-US" sz="1525" dirty="0" err="1">
                <a:solidFill>
                  <a:schemeClr val="dk1"/>
                </a:solidFill>
                <a:latin typeface="Consolas"/>
                <a:ea typeface="Consolas"/>
                <a:cs typeface="Consolas"/>
                <a:sym typeface="Consolas"/>
              </a:rPr>
              <a:t>に入っている</a:t>
            </a:r>
            <a:r>
              <a:rPr lang="en-US" sz="1525" dirty="0">
                <a:solidFill>
                  <a:schemeClr val="dk1"/>
                </a:solidFill>
                <a:latin typeface="Consolas"/>
                <a:ea typeface="Consolas"/>
                <a:cs typeface="Consolas"/>
                <a:sym typeface="Consolas"/>
              </a:rPr>
              <a:t>。</a:t>
            </a:r>
            <a:endParaRPr sz="1525" dirty="0">
              <a:solidFill>
                <a:schemeClr val="dk1"/>
              </a:solidFill>
              <a:latin typeface="Consolas"/>
              <a:ea typeface="Consolas"/>
              <a:cs typeface="Consolas"/>
              <a:sym typeface="Consolas"/>
            </a:endParaRPr>
          </a:p>
          <a:p>
            <a:pPr marL="0" lvl="0" indent="0" algn="l" rtl="0">
              <a:lnSpc>
                <a:spcPct val="115000"/>
              </a:lnSpc>
              <a:spcBef>
                <a:spcPts val="1200"/>
              </a:spcBef>
              <a:spcAft>
                <a:spcPts val="1200"/>
              </a:spcAft>
              <a:buSzPct val="108108"/>
              <a:buNone/>
            </a:pPr>
            <a:endParaRPr dirty="0"/>
          </a:p>
        </p:txBody>
      </p:sp>
      <p:pic>
        <p:nvPicPr>
          <p:cNvPr id="185" name="Google Shape;185;p19"/>
          <p:cNvPicPr preferRelativeResize="0"/>
          <p:nvPr/>
        </p:nvPicPr>
        <p:blipFill rotWithShape="1">
          <a:blip r:embed="rId3">
            <a:alphaModFix/>
          </a:blip>
          <a:srcRect/>
          <a:stretch/>
        </p:blipFill>
        <p:spPr>
          <a:xfrm>
            <a:off x="115455" y="1604234"/>
            <a:ext cx="4579075" cy="2862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SzPts val="3600"/>
              <a:buNone/>
            </a:pPr>
            <a:r>
              <a:rPr lang="en" dirty="0" err="1"/>
              <a:t>結論</a:t>
            </a:r>
            <a:br>
              <a:rPr lang="en" dirty="0"/>
            </a:br>
            <a:r>
              <a:rPr lang="en" dirty="0" err="1"/>
              <a:t>および</a:t>
            </a:r>
            <a:br>
              <a:rPr lang="en" dirty="0"/>
            </a:br>
            <a:r>
              <a:rPr lang="en" dirty="0" err="1"/>
              <a:t>未だ解決していない問題</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err="1"/>
              <a:t>研究方法についての結論</a:t>
            </a:r>
            <a:endParaRPr dirty="0"/>
          </a:p>
        </p:txBody>
      </p:sp>
      <p:sp>
        <p:nvSpPr>
          <p:cNvPr id="225" name="Google Shape;225;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lvl="0" indent="0" algn="l" rtl="0">
              <a:spcBef>
                <a:spcPts val="1200"/>
              </a:spcBef>
              <a:spcAft>
                <a:spcPts val="0"/>
              </a:spcAft>
              <a:buClr>
                <a:schemeClr val="dk1"/>
              </a:buClr>
              <a:buSzPts val="1800"/>
              <a:buNone/>
            </a:pPr>
            <a:r>
              <a:rPr lang="en" dirty="0" err="1">
                <a:solidFill>
                  <a:schemeClr val="dk1"/>
                </a:solidFill>
              </a:rPr>
              <a:t>確認事項</a:t>
            </a:r>
            <a:endParaRPr lang="en" dirty="0">
              <a:solidFill>
                <a:schemeClr val="dk1"/>
              </a:solidFill>
            </a:endParaRPr>
          </a:p>
          <a:p>
            <a:pPr marL="457200" lvl="0" indent="-342900" algn="l" rtl="0">
              <a:spcBef>
                <a:spcPts val="1200"/>
              </a:spcBef>
              <a:spcAft>
                <a:spcPts val="0"/>
              </a:spcAft>
              <a:buClr>
                <a:schemeClr val="dk1"/>
              </a:buClr>
              <a:buSzPts val="1800"/>
              <a:buChar char="●"/>
            </a:pPr>
            <a:r>
              <a:rPr lang="en" dirty="0" err="1">
                <a:solidFill>
                  <a:schemeClr val="dk1"/>
                </a:solidFill>
              </a:rPr>
              <a:t>アソシエーションは</a:t>
            </a:r>
            <a:endParaRPr lang="en" dirty="0">
              <a:solidFill>
                <a:schemeClr val="dk1"/>
              </a:solidFill>
            </a:endParaRPr>
          </a:p>
          <a:p>
            <a:pPr marL="114300" lvl="0" indent="0">
              <a:spcBef>
                <a:spcPts val="1200"/>
              </a:spcBef>
              <a:buClr>
                <a:schemeClr val="dk1"/>
              </a:buClr>
              <a:buNone/>
            </a:pPr>
            <a:r>
              <a:rPr lang="en" dirty="0">
                <a:solidFill>
                  <a:schemeClr val="dk1"/>
                </a:solidFill>
              </a:rPr>
              <a:t>Discourse frame</a:t>
            </a:r>
            <a:r>
              <a:rPr lang="ja-JP" altLang="en-US">
                <a:solidFill>
                  <a:schemeClr val="dk1"/>
                </a:solidFill>
              </a:rPr>
              <a:t>　ー　構文レベルというよりもむしろ、 </a:t>
            </a:r>
            <a:r>
              <a:rPr lang="en" dirty="0" err="1">
                <a:solidFill>
                  <a:schemeClr val="dk1"/>
                </a:solidFill>
              </a:rPr>
              <a:t>談話論レベルのコノテーションを</a:t>
            </a:r>
            <a:r>
              <a:rPr lang="ja-JP" altLang="en-US">
                <a:solidFill>
                  <a:schemeClr val="dk1"/>
                </a:solidFill>
              </a:rPr>
              <a:t>　示唆する　</a:t>
            </a:r>
            <a:endParaRPr lang="en" dirty="0">
              <a:solidFill>
                <a:schemeClr val="dk1"/>
              </a:solidFill>
            </a:endParaRPr>
          </a:p>
          <a:p>
            <a:pPr lvl="0">
              <a:buClr>
                <a:schemeClr val="dk1"/>
              </a:buClr>
            </a:pPr>
            <a:r>
              <a:rPr lang="en" dirty="0" err="1">
                <a:solidFill>
                  <a:schemeClr val="dk1"/>
                </a:solidFill>
              </a:rPr>
              <a:t>コロケーションは</a:t>
            </a:r>
            <a:endParaRPr lang="en" dirty="0">
              <a:solidFill>
                <a:schemeClr val="dk1"/>
              </a:solidFill>
            </a:endParaRPr>
          </a:p>
          <a:p>
            <a:pPr marL="114300" lvl="0" indent="0">
              <a:buClr>
                <a:schemeClr val="dk1"/>
              </a:buClr>
              <a:buNone/>
            </a:pPr>
            <a:r>
              <a:rPr lang="en" dirty="0" err="1">
                <a:solidFill>
                  <a:schemeClr val="dk1"/>
                </a:solidFill>
              </a:rPr>
              <a:t>アソシエーションの意味をさらにクリアする</a:t>
            </a:r>
            <a:r>
              <a:rPr lang="en" dirty="0">
                <a:solidFill>
                  <a:schemeClr val="dk1"/>
                </a:solidFill>
              </a:rPr>
              <a:t> (disambiguate) （</a:t>
            </a:r>
            <a:r>
              <a:rPr lang="en" dirty="0" err="1">
                <a:solidFill>
                  <a:schemeClr val="dk1"/>
                </a:solidFill>
              </a:rPr>
              <a:t>さらにローカルなコノテーションを示唆する</a:t>
            </a:r>
            <a:r>
              <a:rPr lang="ja-JP" altLang="en-US">
                <a:solidFill>
                  <a:schemeClr val="dk1"/>
                </a:solidFill>
              </a:rPr>
              <a:t>）</a:t>
            </a:r>
            <a:endParaRPr dirty="0">
              <a:solidFill>
                <a:schemeClr val="dk1"/>
              </a:solidFill>
            </a:endParaRP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69F3-128A-6D5F-CEA3-848191AEA525}"/>
              </a:ext>
            </a:extLst>
          </p:cNvPr>
          <p:cNvSpPr>
            <a:spLocks noGrp="1"/>
          </p:cNvSpPr>
          <p:nvPr>
            <p:ph type="title"/>
          </p:nvPr>
        </p:nvSpPr>
        <p:spPr>
          <a:xfrm>
            <a:off x="182608" y="154569"/>
            <a:ext cx="8520600" cy="1309878"/>
          </a:xfrm>
        </p:spPr>
        <p:txBody>
          <a:bodyPr>
            <a:normAutofit fontScale="90000"/>
          </a:bodyPr>
          <a:lstStyle/>
          <a:p>
            <a:r>
              <a:rPr lang="en" dirty="0" err="1">
                <a:latin typeface="+mj-lt"/>
              </a:rPr>
              <a:t>データについての結論</a:t>
            </a:r>
            <a:br>
              <a:rPr lang="en" b="1" dirty="0"/>
            </a:br>
            <a:r>
              <a:rPr lang="en" dirty="0" err="1">
                <a:latin typeface="+mj-lt"/>
              </a:rPr>
              <a:t>チェコの主要なメデイアで扱われている東と西の談話</a:t>
            </a:r>
            <a:br>
              <a:rPr lang="en" dirty="0">
                <a:latin typeface="+mj-lt"/>
              </a:rPr>
            </a:br>
            <a:r>
              <a:rPr lang="en" dirty="0" err="1">
                <a:latin typeface="+mj-lt"/>
              </a:rPr>
              <a:t>レベルでのPrototypes</a:t>
            </a:r>
            <a:endParaRPr lang="en-US" dirty="0"/>
          </a:p>
        </p:txBody>
      </p:sp>
      <p:sp>
        <p:nvSpPr>
          <p:cNvPr id="3" name="Text Placeholder 2">
            <a:extLst>
              <a:ext uri="{FF2B5EF4-FFF2-40B4-BE49-F238E27FC236}">
                <a16:creationId xmlns:a16="http://schemas.microsoft.com/office/drawing/2014/main" id="{0C2C3296-462A-B450-2207-5C4308CF4B02}"/>
              </a:ext>
            </a:extLst>
          </p:cNvPr>
          <p:cNvSpPr>
            <a:spLocks noGrp="1"/>
          </p:cNvSpPr>
          <p:nvPr>
            <p:ph type="body" idx="1"/>
          </p:nvPr>
        </p:nvSpPr>
        <p:spPr>
          <a:xfrm>
            <a:off x="182608" y="1487368"/>
            <a:ext cx="8520600" cy="3656131"/>
          </a:xfrm>
        </p:spPr>
        <p:txBody>
          <a:bodyPr>
            <a:normAutofit fontScale="85000" lnSpcReduction="10000"/>
          </a:bodyPr>
          <a:lstStyle/>
          <a:p>
            <a:pPr marL="0" lvl="0" indent="0">
              <a:lnSpc>
                <a:spcPct val="100000"/>
              </a:lnSpc>
              <a:buNone/>
            </a:pPr>
            <a:r>
              <a:rPr lang="ja-JP" altLang="en-US" b="1">
                <a:solidFill>
                  <a:schemeClr val="tx1"/>
                </a:solidFill>
              </a:rPr>
              <a:t>東</a:t>
            </a:r>
            <a:r>
              <a:rPr lang="en-US" altLang="ja-JP" b="1" dirty="0">
                <a:solidFill>
                  <a:schemeClr val="tx1"/>
                </a:solidFill>
              </a:rPr>
              <a:t>: </a:t>
            </a:r>
            <a:endParaRPr lang="ja-JP" altLang="en-US" b="1">
              <a:solidFill>
                <a:schemeClr val="tx1"/>
              </a:solidFill>
            </a:endParaRPr>
          </a:p>
          <a:p>
            <a:pPr marL="0" lvl="0" indent="0">
              <a:lnSpc>
                <a:spcPct val="100000"/>
              </a:lnSpc>
              <a:buNone/>
            </a:pPr>
            <a:r>
              <a:rPr lang="ja-JP" altLang="en-US">
                <a:solidFill>
                  <a:schemeClr val="tx1"/>
                </a:solidFill>
              </a:rPr>
              <a:t>実際にある、具体的な地理的な場所。経済活動が起きる実際の場、</a:t>
            </a:r>
            <a:endParaRPr lang="en-US" altLang="ja-JP" dirty="0">
              <a:solidFill>
                <a:schemeClr val="tx1"/>
              </a:solidFill>
            </a:endParaRPr>
          </a:p>
          <a:p>
            <a:pPr marL="0" lvl="0" indent="0">
              <a:lnSpc>
                <a:spcPct val="100000"/>
              </a:lnSpc>
              <a:buNone/>
            </a:pPr>
            <a:r>
              <a:rPr lang="ja-JP" altLang="en-US">
                <a:solidFill>
                  <a:schemeClr val="tx1"/>
                </a:solidFill>
              </a:rPr>
              <a:t>しかし、東は均一な性質を持っていない　</a:t>
            </a:r>
            <a:r>
              <a:rPr lang="en-US" altLang="ja-JP" dirty="0">
                <a:solidFill>
                  <a:schemeClr val="tx1"/>
                </a:solidFill>
              </a:rPr>
              <a:t>(</a:t>
            </a:r>
            <a:r>
              <a:rPr lang="ja-JP" altLang="en-US">
                <a:solidFill>
                  <a:schemeClr val="tx1"/>
                </a:solidFill>
              </a:rPr>
              <a:t>中欧は異なった部分）</a:t>
            </a:r>
          </a:p>
          <a:p>
            <a:pPr marL="0" lvl="0" indent="0">
              <a:lnSpc>
                <a:spcPct val="100000"/>
              </a:lnSpc>
              <a:buNone/>
            </a:pPr>
            <a:r>
              <a:rPr lang="ja-JP" altLang="en-US">
                <a:solidFill>
                  <a:schemeClr val="tx1"/>
                </a:solidFill>
              </a:rPr>
              <a:t>（</a:t>
            </a:r>
            <a:r>
              <a:rPr lang="en-US" altLang="ja-JP" dirty="0">
                <a:solidFill>
                  <a:schemeClr val="tx1"/>
                </a:solidFill>
              </a:rPr>
              <a:t>1960</a:t>
            </a:r>
            <a:r>
              <a:rPr lang="ja-JP" altLang="en-US">
                <a:solidFill>
                  <a:schemeClr val="tx1"/>
                </a:solidFill>
              </a:rPr>
              <a:t>年代後期チェコスロヴァキアで提案された考え方に沿っていると思われる）</a:t>
            </a:r>
            <a:r>
              <a:rPr lang="cs-CZ" altLang="ja-JP" dirty="0">
                <a:solidFill>
                  <a:schemeClr val="tx1"/>
                </a:solidFill>
              </a:rPr>
              <a:t>(Kučera 2011)</a:t>
            </a:r>
            <a:endParaRPr lang="ja-JP" altLang="en-US">
              <a:solidFill>
                <a:schemeClr val="tx1"/>
              </a:solidFill>
            </a:endParaRPr>
          </a:p>
          <a:p>
            <a:pPr marL="0" lvl="0" indent="0">
              <a:lnSpc>
                <a:spcPct val="100000"/>
              </a:lnSpc>
              <a:buNone/>
            </a:pPr>
            <a:endParaRPr lang="ja-JP" altLang="en-US" b="1">
              <a:solidFill>
                <a:schemeClr val="tx1"/>
              </a:solidFill>
            </a:endParaRPr>
          </a:p>
          <a:p>
            <a:pPr marL="0" lvl="0" indent="0">
              <a:lnSpc>
                <a:spcPct val="100000"/>
              </a:lnSpc>
              <a:buNone/>
            </a:pPr>
            <a:r>
              <a:rPr lang="ja-JP" altLang="en-US" b="1">
                <a:solidFill>
                  <a:schemeClr val="tx1"/>
                </a:solidFill>
              </a:rPr>
              <a:t>西</a:t>
            </a:r>
            <a:r>
              <a:rPr lang="en-US" altLang="ja-JP" b="1" dirty="0">
                <a:solidFill>
                  <a:schemeClr val="tx1"/>
                </a:solidFill>
              </a:rPr>
              <a:t>:</a:t>
            </a:r>
            <a:endParaRPr lang="ja-JP" altLang="en-US" b="1">
              <a:solidFill>
                <a:schemeClr val="tx1"/>
              </a:solidFill>
            </a:endParaRPr>
          </a:p>
          <a:p>
            <a:pPr marL="0" lvl="0" indent="0">
              <a:lnSpc>
                <a:spcPct val="100000"/>
              </a:lnSpc>
              <a:buNone/>
            </a:pPr>
            <a:r>
              <a:rPr lang="ja-JP" altLang="en-US">
                <a:solidFill>
                  <a:schemeClr val="tx1"/>
                </a:solidFill>
              </a:rPr>
              <a:t>ロシアとのコントラストのなかで捉えられる。実際の場所ではなく、もっと抽象的な概念　</a:t>
            </a:r>
          </a:p>
          <a:p>
            <a:pPr marL="0" indent="0">
              <a:spcBef>
                <a:spcPts val="1200"/>
              </a:spcBef>
              <a:buClr>
                <a:schemeClr val="dk1"/>
              </a:buClr>
              <a:buSzPts val="1100"/>
              <a:buNone/>
            </a:pPr>
            <a:endParaRPr lang="en-US" dirty="0">
              <a:solidFill>
                <a:schemeClr val="tx1"/>
              </a:solidFill>
            </a:endParaRPr>
          </a:p>
          <a:p>
            <a:pPr marL="0" indent="0">
              <a:spcBef>
                <a:spcPts val="1200"/>
              </a:spcBef>
              <a:buClr>
                <a:schemeClr val="dk1"/>
              </a:buClr>
              <a:buSzPts val="1100"/>
              <a:buNone/>
            </a:pPr>
            <a:r>
              <a:rPr lang="en-US" b="1" dirty="0" err="1">
                <a:solidFill>
                  <a:schemeClr val="tx1"/>
                </a:solidFill>
              </a:rPr>
              <a:t>興味深い点</a:t>
            </a:r>
            <a:endParaRPr lang="en-US" b="1" dirty="0">
              <a:solidFill>
                <a:schemeClr val="tx1"/>
              </a:solidFill>
            </a:endParaRPr>
          </a:p>
          <a:p>
            <a:pPr marL="0" indent="0">
              <a:spcBef>
                <a:spcPts val="1200"/>
              </a:spcBef>
              <a:buClr>
                <a:schemeClr val="dk1"/>
              </a:buClr>
              <a:buSzPts val="1100"/>
              <a:buNone/>
            </a:pPr>
            <a:r>
              <a:rPr lang="en-US" b="1" dirty="0">
                <a:solidFill>
                  <a:schemeClr val="tx1"/>
                </a:solidFill>
              </a:rPr>
              <a:t>EUの役割が大きく出てこない。冷戦終結後ずっと立っているにもかかわらず、ロシアが東西関係の談話上大きな存在として浮かび上がっている。</a:t>
            </a:r>
            <a:endParaRPr lang="en-US" altLang="ja-JP" dirty="0">
              <a:solidFill>
                <a:schemeClr val="tx1"/>
              </a:solidFill>
            </a:endParaRPr>
          </a:p>
          <a:p>
            <a:pPr marL="0" indent="0">
              <a:spcBef>
                <a:spcPts val="1200"/>
              </a:spcBef>
              <a:buClr>
                <a:schemeClr val="dk1"/>
              </a:buClr>
              <a:buSzPts val="1100"/>
              <a:buNone/>
            </a:pPr>
            <a:r>
              <a:rPr lang="en-US" dirty="0" err="1">
                <a:solidFill>
                  <a:schemeClr val="tx1"/>
                </a:solidFill>
              </a:rPr>
              <a:t>アソシエーションには核となるPrototypeとPeripheryがある</a:t>
            </a:r>
            <a:r>
              <a:rPr lang="ja-JP" altLang="en-US">
                <a:solidFill>
                  <a:schemeClr val="tx1"/>
                </a:solidFill>
              </a:rPr>
              <a:t>　（</a:t>
            </a:r>
            <a:r>
              <a:rPr lang="en-US" altLang="ja-JP" dirty="0">
                <a:solidFill>
                  <a:schemeClr val="tx1"/>
                </a:solidFill>
              </a:rPr>
              <a:t>Next slide)</a:t>
            </a:r>
          </a:p>
          <a:p>
            <a:pPr marL="0" indent="0">
              <a:spcBef>
                <a:spcPts val="1200"/>
              </a:spcBef>
              <a:buClr>
                <a:schemeClr val="dk1"/>
              </a:buClr>
              <a:buSzPts val="1100"/>
              <a:buNone/>
            </a:pPr>
            <a:endParaRPr lang="en-US" dirty="0">
              <a:solidFill>
                <a:schemeClr val="tx1"/>
              </a:solidFill>
            </a:endParaRPr>
          </a:p>
        </p:txBody>
      </p:sp>
    </p:spTree>
    <p:extLst>
      <p:ext uri="{BB962C8B-B14F-4D97-AF65-F5344CB8AC3E}">
        <p14:creationId xmlns:p14="http://schemas.microsoft.com/office/powerpoint/2010/main" val="121598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6266131-AD7B-151B-0EEA-038610B977CC}"/>
              </a:ext>
            </a:extLst>
          </p:cNvPr>
          <p:cNvSpPr/>
          <p:nvPr/>
        </p:nvSpPr>
        <p:spPr>
          <a:xfrm>
            <a:off x="92906" y="83126"/>
            <a:ext cx="6037919" cy="3413051"/>
          </a:xfrm>
          <a:prstGeom prst="ellipse">
            <a:avLst/>
          </a:prstGeom>
          <a:solidFill>
            <a:srgbClr val="FFFF00">
              <a:alpha val="2507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東</a:t>
            </a:r>
            <a:r>
              <a:rPr lang="ja-JP" altLang="en-US" sz="2400">
                <a:ln w="0"/>
                <a:solidFill>
                  <a:schemeClr val="tx1"/>
                </a:solidFill>
                <a:effectLst>
                  <a:outerShdw blurRad="38100" dist="19050" dir="2700000" algn="tl" rotWithShape="0">
                    <a:schemeClr val="dk1">
                      <a:alpha val="40000"/>
                    </a:schemeClr>
                  </a:outerShdw>
                </a:effectLst>
              </a:rPr>
              <a:t>　</a:t>
            </a:r>
            <a:endParaRPr lang="en-US" altLang="ja-JP" sz="2400" dirty="0">
              <a:ln w="0"/>
              <a:solidFill>
                <a:schemeClr val="tx1"/>
              </a:solidFill>
              <a:effectLst>
                <a:outerShdw blurRad="38100" dist="19050" dir="2700000" algn="tl" rotWithShape="0">
                  <a:schemeClr val="dk1">
                    <a:alpha val="40000"/>
                  </a:schemeClr>
                </a:outerShdw>
              </a:effectLst>
            </a:endParaRPr>
          </a:p>
          <a:p>
            <a:pPr algn="ctr"/>
            <a:r>
              <a:rPr lang="en-US" sz="1800" dirty="0" err="1">
                <a:ln w="0"/>
                <a:solidFill>
                  <a:schemeClr val="tx1"/>
                </a:solidFill>
                <a:effectLst>
                  <a:outerShdw blurRad="38100" dist="19050" dir="2700000" algn="tl" rotWithShape="0">
                    <a:schemeClr val="dk1">
                      <a:alpha val="40000"/>
                    </a:schemeClr>
                  </a:outerShdw>
                </a:effectLst>
              </a:rPr>
              <a:t>経済活動の具体的な場</a:t>
            </a:r>
            <a:endParaRPr lang="en-US" sz="1800" dirty="0">
              <a:ln w="0"/>
              <a:solidFill>
                <a:schemeClr val="tx1"/>
              </a:solidFill>
              <a:effectLst>
                <a:outerShdw blurRad="38100" dist="19050" dir="2700000" algn="tl" rotWithShape="0">
                  <a:schemeClr val="dk1">
                    <a:alpha val="40000"/>
                  </a:schemeClr>
                </a:outerShdw>
              </a:effectLst>
            </a:endParaRPr>
          </a:p>
          <a:p>
            <a:pPr algn="ctr"/>
            <a:r>
              <a:rPr lang="en-US" sz="1800" dirty="0" err="1">
                <a:ln w="0"/>
                <a:solidFill>
                  <a:schemeClr val="tx1"/>
                </a:solidFill>
                <a:effectLst>
                  <a:outerShdw blurRad="38100" dist="19050" dir="2700000" algn="tl" rotWithShape="0">
                    <a:schemeClr val="dk1">
                      <a:alpha val="40000"/>
                    </a:schemeClr>
                  </a:outerShdw>
                </a:effectLst>
              </a:rPr>
              <a:t>歴史的に多様な場</a:t>
            </a:r>
            <a:endParaRPr lang="en-US" sz="1800" dirty="0">
              <a:ln w="0"/>
              <a:solidFill>
                <a:schemeClr val="tx1"/>
              </a:solidFill>
              <a:effectLst>
                <a:outerShdw blurRad="38100" dist="19050" dir="2700000" algn="tl" rotWithShape="0">
                  <a:schemeClr val="dk1">
                    <a:alpha val="40000"/>
                  </a:schemeClr>
                </a:outerShdw>
              </a:effectLst>
            </a:endParaRPr>
          </a:p>
          <a:p>
            <a:pPr algn="ctr"/>
            <a:r>
              <a:rPr lang="en-US" sz="1800" dirty="0" err="1">
                <a:ln w="0"/>
                <a:solidFill>
                  <a:schemeClr val="tx1"/>
                </a:solidFill>
                <a:effectLst>
                  <a:outerShdw blurRad="38100" dist="19050" dir="2700000" algn="tl" rotWithShape="0">
                    <a:schemeClr val="dk1">
                      <a:alpha val="40000"/>
                    </a:schemeClr>
                  </a:outerShdw>
                </a:effectLst>
              </a:rPr>
              <a:t>中欧は</a:t>
            </a:r>
            <a:endParaRPr lang="en-US" sz="1800" dirty="0">
              <a:ln w="0"/>
              <a:solidFill>
                <a:schemeClr val="tx1"/>
              </a:solidFill>
              <a:effectLst>
                <a:outerShdw blurRad="38100" dist="19050" dir="2700000" algn="tl" rotWithShape="0">
                  <a:schemeClr val="dk1">
                    <a:alpha val="40000"/>
                  </a:schemeClr>
                </a:outerShdw>
              </a:effectLst>
            </a:endParaRPr>
          </a:p>
          <a:p>
            <a:pPr algn="ctr"/>
            <a:r>
              <a:rPr lang="en-US" sz="1800" dirty="0" err="1">
                <a:ln w="0"/>
                <a:solidFill>
                  <a:schemeClr val="tx1"/>
                </a:solidFill>
                <a:effectLst>
                  <a:outerShdw blurRad="38100" dist="19050" dir="2700000" algn="tl" rotWithShape="0">
                    <a:schemeClr val="dk1">
                      <a:alpha val="40000"/>
                    </a:schemeClr>
                  </a:outerShdw>
                </a:effectLst>
              </a:rPr>
              <a:t>明確に他の部分とは</a:t>
            </a:r>
            <a:endParaRPr lang="en-US" sz="1800" dirty="0">
              <a:ln w="0"/>
              <a:solidFill>
                <a:schemeClr val="tx1"/>
              </a:solidFill>
              <a:effectLst>
                <a:outerShdw blurRad="38100" dist="19050" dir="2700000" algn="tl" rotWithShape="0">
                  <a:schemeClr val="dk1">
                    <a:alpha val="40000"/>
                  </a:schemeClr>
                </a:outerShdw>
              </a:effectLst>
            </a:endParaRPr>
          </a:p>
          <a:p>
            <a:pPr algn="ctr"/>
            <a:r>
              <a:rPr lang="en-US" sz="1800" dirty="0" err="1">
                <a:ln w="0"/>
                <a:solidFill>
                  <a:schemeClr val="tx1"/>
                </a:solidFill>
                <a:effectLst>
                  <a:outerShdw blurRad="38100" dist="19050" dir="2700000" algn="tl" rotWithShape="0">
                    <a:schemeClr val="dk1">
                      <a:alpha val="40000"/>
                    </a:schemeClr>
                  </a:outerShdw>
                </a:effectLst>
              </a:rPr>
              <a:t>異なる</a:t>
            </a:r>
            <a:endParaRPr lang="en-US" sz="1800" dirty="0"/>
          </a:p>
        </p:txBody>
      </p:sp>
      <p:sp>
        <p:nvSpPr>
          <p:cNvPr id="6" name="TextBox 5">
            <a:extLst>
              <a:ext uri="{FF2B5EF4-FFF2-40B4-BE49-F238E27FC236}">
                <a16:creationId xmlns:a16="http://schemas.microsoft.com/office/drawing/2014/main" id="{2E5BF97A-9E95-8915-983A-C1C701F0A564}"/>
              </a:ext>
            </a:extLst>
          </p:cNvPr>
          <p:cNvSpPr txBox="1"/>
          <p:nvPr/>
        </p:nvSpPr>
        <p:spPr>
          <a:xfrm>
            <a:off x="3795117" y="2571750"/>
            <a:ext cx="1553765" cy="415498"/>
          </a:xfrm>
          <a:prstGeom prst="rect">
            <a:avLst/>
          </a:prstGeom>
          <a:noFill/>
        </p:spPr>
        <p:txBody>
          <a:bodyPr wrap="square" rtlCol="0">
            <a:spAutoFit/>
          </a:bodyPr>
          <a:lstStyle/>
          <a:p>
            <a:r>
              <a:rPr lang="en-US" sz="1050" dirty="0" err="1"/>
              <a:t>自然資源</a:t>
            </a:r>
            <a:r>
              <a:rPr lang="en-US" sz="1050" dirty="0"/>
              <a:t>、</a:t>
            </a:r>
          </a:p>
          <a:p>
            <a:r>
              <a:rPr lang="en-US" sz="1050" dirty="0" err="1"/>
              <a:t>ジオポリティクス</a:t>
            </a:r>
            <a:endParaRPr lang="en-US" sz="1050" dirty="0"/>
          </a:p>
        </p:txBody>
      </p:sp>
      <p:sp>
        <p:nvSpPr>
          <p:cNvPr id="5" name="Oval 4">
            <a:extLst>
              <a:ext uri="{FF2B5EF4-FFF2-40B4-BE49-F238E27FC236}">
                <a16:creationId xmlns:a16="http://schemas.microsoft.com/office/drawing/2014/main" id="{02470C37-25E9-7420-4566-24B40601676B}"/>
              </a:ext>
            </a:extLst>
          </p:cNvPr>
          <p:cNvSpPr/>
          <p:nvPr/>
        </p:nvSpPr>
        <p:spPr>
          <a:xfrm>
            <a:off x="3214421" y="1897664"/>
            <a:ext cx="5832808" cy="3133484"/>
          </a:xfrm>
          <a:prstGeom prst="ellipse">
            <a:avLst/>
          </a:prstGeom>
          <a:solidFill>
            <a:srgbClr val="00B0F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TextBox 6">
            <a:extLst>
              <a:ext uri="{FF2B5EF4-FFF2-40B4-BE49-F238E27FC236}">
                <a16:creationId xmlns:a16="http://schemas.microsoft.com/office/drawing/2014/main" id="{A75A7A48-F580-4759-0663-EFF2CD42B374}"/>
              </a:ext>
            </a:extLst>
          </p:cNvPr>
          <p:cNvSpPr txBox="1"/>
          <p:nvPr/>
        </p:nvSpPr>
        <p:spPr>
          <a:xfrm>
            <a:off x="5500689" y="2987248"/>
            <a:ext cx="2739628" cy="1454244"/>
          </a:xfrm>
          <a:prstGeom prst="rect">
            <a:avLst/>
          </a:prstGeom>
          <a:noFill/>
        </p:spPr>
        <p:txBody>
          <a:bodyPr wrap="square" rtlCol="0">
            <a:spAutoFit/>
          </a:bodyPr>
          <a:lstStyle/>
          <a:p>
            <a:pPr algn="ctr"/>
            <a:r>
              <a:rPr lang="en-US" sz="2400" dirty="0" err="1"/>
              <a:t>西</a:t>
            </a:r>
            <a:endParaRPr lang="en-US" sz="2400" dirty="0"/>
          </a:p>
          <a:p>
            <a:r>
              <a:rPr lang="en-US" sz="1800" dirty="0" err="1"/>
              <a:t>地理的な場所というよりロシアと向かい合う</a:t>
            </a:r>
            <a:endParaRPr lang="en-US" sz="1800" dirty="0"/>
          </a:p>
          <a:p>
            <a:r>
              <a:rPr lang="en-US" sz="1800" dirty="0" err="1"/>
              <a:t>抽象的な概念</a:t>
            </a:r>
            <a:endParaRPr lang="en-US" sz="1800" dirty="0"/>
          </a:p>
          <a:p>
            <a:endParaRPr lang="en-US" sz="1050" dirty="0"/>
          </a:p>
        </p:txBody>
      </p:sp>
      <p:cxnSp>
        <p:nvCxnSpPr>
          <p:cNvPr id="9" name="Straight Arrow Connector 8">
            <a:extLst>
              <a:ext uri="{FF2B5EF4-FFF2-40B4-BE49-F238E27FC236}">
                <a16:creationId xmlns:a16="http://schemas.microsoft.com/office/drawing/2014/main" id="{0B0063ED-B5FE-2B62-4B89-4332174610A1}"/>
              </a:ext>
            </a:extLst>
          </p:cNvPr>
          <p:cNvCxnSpPr/>
          <p:nvPr/>
        </p:nvCxnSpPr>
        <p:spPr>
          <a:xfrm>
            <a:off x="4211241" y="1660922"/>
            <a:ext cx="3921919" cy="0"/>
          </a:xfrm>
          <a:prstGeom prst="straightConnector1">
            <a:avLst/>
          </a:prstGeom>
          <a:ln w="98425">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DD4D5C3-4BA9-CA42-E87D-0B4067A8C0BB}"/>
              </a:ext>
            </a:extLst>
          </p:cNvPr>
          <p:cNvCxnSpPr>
            <a:cxnSpLocks/>
          </p:cNvCxnSpPr>
          <p:nvPr/>
        </p:nvCxnSpPr>
        <p:spPr>
          <a:xfrm>
            <a:off x="3999345" y="1796692"/>
            <a:ext cx="2522452" cy="1427447"/>
          </a:xfrm>
          <a:prstGeom prst="straightConnector1">
            <a:avLst/>
          </a:prstGeom>
          <a:ln w="98425" cmpd="sng">
            <a:solidFill>
              <a:srgbClr val="FF0000"/>
            </a:solidFill>
            <a:prstDash val="solid"/>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834D359-7F54-8AE9-CA28-C036D06423EC}"/>
              </a:ext>
            </a:extLst>
          </p:cNvPr>
          <p:cNvSpPr txBox="1"/>
          <p:nvPr/>
        </p:nvSpPr>
        <p:spPr>
          <a:xfrm>
            <a:off x="8240317" y="1425179"/>
            <a:ext cx="707231" cy="253916"/>
          </a:xfrm>
          <a:prstGeom prst="rect">
            <a:avLst/>
          </a:prstGeom>
          <a:noFill/>
        </p:spPr>
        <p:txBody>
          <a:bodyPr wrap="square" rtlCol="0">
            <a:spAutoFit/>
          </a:bodyPr>
          <a:lstStyle/>
          <a:p>
            <a:r>
              <a:rPr lang="en-US" sz="1050" dirty="0"/>
              <a:t>？？</a:t>
            </a:r>
          </a:p>
        </p:txBody>
      </p:sp>
      <p:sp>
        <p:nvSpPr>
          <p:cNvPr id="17" name="TextBox 16">
            <a:extLst>
              <a:ext uri="{FF2B5EF4-FFF2-40B4-BE49-F238E27FC236}">
                <a16:creationId xmlns:a16="http://schemas.microsoft.com/office/drawing/2014/main" id="{855B0425-C00E-34E7-88D9-7ACEB0E42A0F}"/>
              </a:ext>
            </a:extLst>
          </p:cNvPr>
          <p:cNvSpPr txBox="1"/>
          <p:nvPr/>
        </p:nvSpPr>
        <p:spPr>
          <a:xfrm>
            <a:off x="92906" y="3742661"/>
            <a:ext cx="3121515" cy="1177245"/>
          </a:xfrm>
          <a:prstGeom prst="rect">
            <a:avLst/>
          </a:prstGeom>
          <a:solidFill>
            <a:srgbClr val="FF0000">
              <a:alpha val="40123"/>
            </a:srgbClr>
          </a:solidFill>
        </p:spPr>
        <p:txBody>
          <a:bodyPr wrap="square" rtlCol="0">
            <a:spAutoFit/>
          </a:bodyPr>
          <a:lstStyle/>
          <a:p>
            <a:r>
              <a:rPr lang="en-US" sz="2000" dirty="0" err="1"/>
              <a:t>チェコのメデイアは</a:t>
            </a:r>
            <a:endParaRPr lang="en-US" sz="2000" dirty="0"/>
          </a:p>
          <a:p>
            <a:r>
              <a:rPr lang="en-US" sz="2000" dirty="0" err="1"/>
              <a:t>西と東は共通の『分母』で捉えられていない</a:t>
            </a:r>
            <a:endParaRPr lang="en-US" sz="2000" dirty="0"/>
          </a:p>
          <a:p>
            <a:endParaRPr lang="en-US" sz="1050" dirty="0"/>
          </a:p>
        </p:txBody>
      </p:sp>
      <p:sp>
        <p:nvSpPr>
          <p:cNvPr id="3" name="TextBox 2">
            <a:extLst>
              <a:ext uri="{FF2B5EF4-FFF2-40B4-BE49-F238E27FC236}">
                <a16:creationId xmlns:a16="http://schemas.microsoft.com/office/drawing/2014/main" id="{70B88FEA-C032-BAFB-A6D0-322C0567AA2A}"/>
              </a:ext>
            </a:extLst>
          </p:cNvPr>
          <p:cNvSpPr txBox="1"/>
          <p:nvPr/>
        </p:nvSpPr>
        <p:spPr>
          <a:xfrm>
            <a:off x="5555273" y="164002"/>
            <a:ext cx="3392275" cy="523220"/>
          </a:xfrm>
          <a:prstGeom prst="rect">
            <a:avLst/>
          </a:prstGeom>
          <a:noFill/>
        </p:spPr>
        <p:txBody>
          <a:bodyPr wrap="none" rtlCol="0">
            <a:spAutoFit/>
          </a:bodyPr>
          <a:lstStyle/>
          <a:p>
            <a:r>
              <a:rPr lang="en-US" dirty="0" err="1"/>
              <a:t>東と西という概念の</a:t>
            </a:r>
            <a:endParaRPr lang="en-US" dirty="0"/>
          </a:p>
          <a:p>
            <a:r>
              <a:rPr lang="en-US" dirty="0" err="1"/>
              <a:t>談話上の取り扱い</a:t>
            </a:r>
            <a:r>
              <a:rPr lang="ja-JP" altLang="en-US"/>
              <a:t>　</a:t>
            </a:r>
            <a:r>
              <a:rPr lang="en-US" altLang="ja-JP" dirty="0"/>
              <a:t>Discourse prototype</a:t>
            </a:r>
            <a:endParaRPr lang="en-US" dirty="0"/>
          </a:p>
        </p:txBody>
      </p:sp>
    </p:spTree>
    <p:extLst>
      <p:ext uri="{BB962C8B-B14F-4D97-AF65-F5344CB8AC3E}">
        <p14:creationId xmlns:p14="http://schemas.microsoft.com/office/powerpoint/2010/main" val="321669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5" grpId="0" animBg="1"/>
      <p:bldP spid="7" grpId="0"/>
      <p:bldP spid="15" grpId="0"/>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A801-89CC-24CD-FC8A-F4C622F8BAFB}"/>
              </a:ext>
            </a:extLst>
          </p:cNvPr>
          <p:cNvSpPr>
            <a:spLocks noGrp="1"/>
          </p:cNvSpPr>
          <p:nvPr>
            <p:ph type="title"/>
          </p:nvPr>
        </p:nvSpPr>
        <p:spPr/>
        <p:txBody>
          <a:bodyPr>
            <a:normAutofit fontScale="90000"/>
          </a:bodyPr>
          <a:lstStyle/>
          <a:p>
            <a:r>
              <a:rPr lang="en-US" dirty="0" err="1"/>
              <a:t>これからの課題</a:t>
            </a:r>
            <a:br>
              <a:rPr lang="en-US" dirty="0">
                <a:sym typeface="Wingdings" pitchFamily="2" charset="2"/>
              </a:rPr>
            </a:br>
            <a:endParaRPr lang="en-US" dirty="0"/>
          </a:p>
        </p:txBody>
      </p:sp>
      <p:sp>
        <p:nvSpPr>
          <p:cNvPr id="3" name="Text Placeholder 2">
            <a:extLst>
              <a:ext uri="{FF2B5EF4-FFF2-40B4-BE49-F238E27FC236}">
                <a16:creationId xmlns:a16="http://schemas.microsoft.com/office/drawing/2014/main" id="{3C67C5F1-475E-375E-BC69-327FBDFE2DC6}"/>
              </a:ext>
            </a:extLst>
          </p:cNvPr>
          <p:cNvSpPr>
            <a:spLocks noGrp="1"/>
          </p:cNvSpPr>
          <p:nvPr>
            <p:ph type="body" idx="1"/>
          </p:nvPr>
        </p:nvSpPr>
        <p:spPr/>
        <p:txBody>
          <a:bodyPr/>
          <a:lstStyle/>
          <a:p>
            <a:r>
              <a:rPr lang="en-US" dirty="0" err="1">
                <a:solidFill>
                  <a:schemeClr val="tx1"/>
                </a:solidFill>
              </a:rPr>
              <a:t>問題</a:t>
            </a:r>
            <a:endParaRPr lang="en-US" dirty="0">
              <a:solidFill>
                <a:schemeClr val="tx1"/>
              </a:solidFill>
            </a:endParaRPr>
          </a:p>
          <a:p>
            <a:pPr lvl="1"/>
            <a:r>
              <a:rPr lang="en-US" dirty="0" err="1">
                <a:solidFill>
                  <a:schemeClr val="tx1"/>
                </a:solidFill>
              </a:rPr>
              <a:t>ノイズ</a:t>
            </a:r>
            <a:r>
              <a:rPr lang="ja-JP" altLang="en-US">
                <a:solidFill>
                  <a:schemeClr val="tx1"/>
                </a:solidFill>
              </a:rPr>
              <a:t>　</a:t>
            </a:r>
            <a:endParaRPr lang="en-US" altLang="ja-JP" dirty="0">
              <a:solidFill>
                <a:schemeClr val="tx1"/>
              </a:solidFill>
            </a:endParaRPr>
          </a:p>
          <a:p>
            <a:pPr lvl="1"/>
            <a:r>
              <a:rPr lang="en-US" dirty="0" err="1">
                <a:solidFill>
                  <a:schemeClr val="tx1"/>
                </a:solidFill>
              </a:rPr>
              <a:t>中近東、アジア、ヨーロッパに関する概念がデータで一緒に出てくる（特にCollocation</a:t>
            </a:r>
            <a:r>
              <a:rPr lang="en-US" dirty="0">
                <a:solidFill>
                  <a:schemeClr val="tx1"/>
                </a:solidFill>
              </a:rPr>
              <a:t> analysis)</a:t>
            </a:r>
          </a:p>
          <a:p>
            <a:pPr marL="596900" lvl="1" indent="0">
              <a:buNone/>
            </a:pPr>
            <a:r>
              <a:rPr lang="en-US" altLang="ja-JP" dirty="0">
                <a:solidFill>
                  <a:schemeClr val="tx1"/>
                </a:solidFill>
                <a:sym typeface="Wingdings" pitchFamily="2" charset="2"/>
              </a:rPr>
              <a:t> </a:t>
            </a:r>
            <a:r>
              <a:rPr lang="ja-JP" altLang="en-US">
                <a:solidFill>
                  <a:schemeClr val="tx1"/>
                </a:solidFill>
              </a:rPr>
              <a:t>データに埋もれる可能性がある。</a:t>
            </a:r>
            <a:endParaRPr lang="en-US" altLang="ja-JP" dirty="0">
              <a:solidFill>
                <a:schemeClr val="tx1"/>
              </a:solidFill>
            </a:endParaRPr>
          </a:p>
          <a:p>
            <a:pPr marL="596900" lvl="1" indent="0">
              <a:buNone/>
            </a:pPr>
            <a:r>
              <a:rPr lang="en-US" dirty="0">
                <a:solidFill>
                  <a:schemeClr val="tx1"/>
                </a:solidFill>
                <a:sym typeface="Wingdings" pitchFamily="2" charset="2"/>
              </a:rPr>
              <a:t> </a:t>
            </a:r>
            <a:r>
              <a:rPr lang="en-US" dirty="0" err="1">
                <a:solidFill>
                  <a:schemeClr val="tx1"/>
                </a:solidFill>
              </a:rPr>
              <a:t>研究対象、時間帯を絞り込む必要性</a:t>
            </a:r>
            <a:endParaRPr lang="en-US" dirty="0">
              <a:solidFill>
                <a:schemeClr val="tx1"/>
              </a:solidFill>
            </a:endParaRPr>
          </a:p>
          <a:p>
            <a:r>
              <a:rPr lang="en-US" dirty="0" err="1">
                <a:solidFill>
                  <a:schemeClr val="tx1"/>
                </a:solidFill>
              </a:rPr>
              <a:t>現在の研究対象</a:t>
            </a:r>
            <a:r>
              <a:rPr lang="ja-JP" altLang="en-US">
                <a:solidFill>
                  <a:schemeClr val="tx1"/>
                </a:solidFill>
              </a:rPr>
              <a:t>　ー　ウクライナのフレーミング</a:t>
            </a:r>
            <a:endParaRPr lang="en-US" dirty="0">
              <a:solidFill>
                <a:schemeClr val="tx1"/>
              </a:solidFill>
            </a:endParaRPr>
          </a:p>
          <a:p>
            <a:pPr lvl="1"/>
            <a:r>
              <a:rPr lang="en-US" dirty="0" err="1">
                <a:solidFill>
                  <a:schemeClr val="tx1"/>
                </a:solidFill>
              </a:rPr>
              <a:t>ウクライナに対する全面侵攻</a:t>
            </a:r>
            <a:r>
              <a:rPr lang="en-US" dirty="0">
                <a:solidFill>
                  <a:schemeClr val="tx1"/>
                </a:solidFill>
              </a:rPr>
              <a:t> （2022）から現在まで追ってDiscourse </a:t>
            </a:r>
            <a:r>
              <a:rPr lang="en-US" dirty="0" err="1">
                <a:solidFill>
                  <a:schemeClr val="tx1"/>
                </a:solidFill>
              </a:rPr>
              <a:t>prototypeの変遷を調べる</a:t>
            </a:r>
            <a:endParaRPr lang="en-US" dirty="0">
              <a:solidFill>
                <a:schemeClr val="tx1"/>
              </a:solidFill>
            </a:endParaRPr>
          </a:p>
          <a:p>
            <a:pPr lvl="1"/>
            <a:r>
              <a:rPr lang="en-US" dirty="0" err="1">
                <a:solidFill>
                  <a:schemeClr val="tx1"/>
                </a:solidFill>
              </a:rPr>
              <a:t>NLPの専門家とも相談（CompanionsとCollocationデータ解釈と比較中</a:t>
            </a:r>
            <a:r>
              <a:rPr lang="en-US" dirty="0">
                <a:solidFill>
                  <a:schemeClr val="tx1"/>
                </a:solidFill>
              </a:rPr>
              <a:t>）</a:t>
            </a:r>
          </a:p>
        </p:txBody>
      </p:sp>
    </p:spTree>
    <p:extLst>
      <p:ext uri="{BB962C8B-B14F-4D97-AF65-F5344CB8AC3E}">
        <p14:creationId xmlns:p14="http://schemas.microsoft.com/office/powerpoint/2010/main" val="310063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err="1"/>
              <a:t>参考文献</a:t>
            </a:r>
            <a:endParaRPr dirty="0"/>
          </a:p>
        </p:txBody>
      </p:sp>
      <p:sp>
        <p:nvSpPr>
          <p:cNvPr id="217" name="Google Shape;217;p24"/>
          <p:cNvSpPr txBox="1">
            <a:spLocks noGrp="1"/>
          </p:cNvSpPr>
          <p:nvPr>
            <p:ph type="body" idx="1"/>
          </p:nvPr>
        </p:nvSpPr>
        <p:spPr>
          <a:xfrm>
            <a:off x="73891" y="1017726"/>
            <a:ext cx="8758409" cy="4053038"/>
          </a:xfrm>
          <a:prstGeom prst="rect">
            <a:avLst/>
          </a:prstGeom>
          <a:noFill/>
          <a:ln>
            <a:noFill/>
          </a:ln>
        </p:spPr>
        <p:txBody>
          <a:bodyPr spcFirstLastPara="1" wrap="square" lIns="91425" tIns="91425" rIns="91425" bIns="91425" anchor="t" anchorCtr="0">
            <a:normAutofit fontScale="32500" lnSpcReduction="20000"/>
          </a:bodyPr>
          <a:lstStyle/>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Baker, P. (2011). Times may change, but we will always have money: Diachronic variation in recent British English. </a:t>
            </a:r>
            <a:r>
              <a:rPr lang="en" sz="3250" i="1" dirty="0">
                <a:solidFill>
                  <a:schemeClr val="dk1"/>
                </a:solidFill>
              </a:rPr>
              <a:t>Journal of English Linguistics</a:t>
            </a:r>
            <a:r>
              <a:rPr lang="en" sz="3250" dirty="0">
                <a:solidFill>
                  <a:schemeClr val="dk1"/>
                </a:solidFill>
              </a:rPr>
              <a:t>, 39(65). 65-88.</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Cvrček V. &amp; Fidler, M. (2022): No Keyword is an Island: In search of covert associations. Corpora 17(2). pp. 259-290. </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Cvrček, V. &amp; Fidler, M. (2024). </a:t>
            </a:r>
            <a:r>
              <a:rPr lang="en" sz="3250" dirty="0">
                <a:solidFill>
                  <a:schemeClr val="dk1"/>
                </a:solidFill>
                <a:highlight>
                  <a:srgbClr val="FFFFFF"/>
                </a:highlight>
              </a:rPr>
              <a:t>From news to disinformation: unpacking a parasitic discursive practice of Czech pro-Kremlin media.</a:t>
            </a:r>
            <a:r>
              <a:rPr lang="en" sz="3250"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 </a:t>
            </a:r>
            <a:r>
              <a:rPr lang="en" sz="3250" i="1"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Scando-Slavica</a:t>
            </a:r>
            <a:r>
              <a:rPr lang="en" sz="3250" dirty="0">
                <a:solidFill>
                  <a:schemeClr val="dk1"/>
                </a:solidFill>
                <a:highlight>
                  <a:srgbClr val="FFFFFF"/>
                </a:highlight>
              </a:rPr>
              <a:t>, 70(1), 32-54.</a:t>
            </a:r>
            <a:r>
              <a:rPr lang="en" sz="3250" u="sng" dirty="0">
                <a:solidFill>
                  <a:schemeClr val="dk1"/>
                </a:solidFill>
                <a:highlight>
                  <a:srgbClr val="FFFFFF"/>
                </a:highlight>
                <a:hlinkClick r:id="rId3">
                  <a:extLst>
                    <a:ext uri="{A12FA001-AC4F-418D-AE19-62706E023703}">
                      <ahyp:hlinkClr xmlns:ahyp="http://schemas.microsoft.com/office/drawing/2018/hyperlinkcolor" val="tx"/>
                    </a:ext>
                  </a:extLst>
                </a:hlinkClick>
              </a:rPr>
              <a:t>https://www.tandfonline.com/doi/full/10.1080/00806765.2024.2317374?src=exp-la</a:t>
            </a:r>
            <a:r>
              <a:rPr lang="en" sz="3250" dirty="0">
                <a:solidFill>
                  <a:schemeClr val="dk1"/>
                </a:solidFill>
                <a:highlight>
                  <a:srgbClr val="FFFFFF"/>
                </a:highlight>
              </a:rPr>
              <a:t>)</a:t>
            </a:r>
            <a:endParaRPr sz="3250" dirty="0">
              <a:solidFill>
                <a:schemeClr val="dk1"/>
              </a:solidFill>
              <a:highlight>
                <a:srgbClr val="FFFFFF"/>
              </a:highlight>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highlight>
                  <a:srgbClr val="FFFFFF"/>
                </a:highlight>
              </a:rPr>
              <a:t>Egbert, J. &amp; Biber, D. (2019): Incorporating text dispersion into keyword analyses. Corpora 14(1), 77–104.</a:t>
            </a:r>
            <a:endParaRPr sz="3250" dirty="0">
              <a:solidFill>
                <a:schemeClr val="dk1"/>
              </a:solidFill>
              <a:highlight>
                <a:srgbClr val="FFFFFF"/>
              </a:highlight>
            </a:endParaRPr>
          </a:p>
          <a:p>
            <a:pPr marL="360000" lvl="0" indent="-360000" algn="l" rtl="0">
              <a:lnSpc>
                <a:spcPct val="100000"/>
              </a:lnSpc>
              <a:spcBef>
                <a:spcPts val="0"/>
              </a:spcBef>
              <a:spcAft>
                <a:spcPts val="0"/>
              </a:spcAft>
              <a:buClr>
                <a:schemeClr val="dk1"/>
              </a:buClr>
              <a:buSzPct val="33846"/>
              <a:buFont typeface="Arial"/>
              <a:buNone/>
            </a:pPr>
            <a:r>
              <a:rPr lang="en" sz="3250" dirty="0">
                <a:solidFill>
                  <a:schemeClr val="dk1"/>
                </a:solidFill>
              </a:rPr>
              <a:t>Fidler, M. and V. </a:t>
            </a:r>
            <a:r>
              <a:rPr lang="en" sz="3250" dirty="0" err="1">
                <a:solidFill>
                  <a:schemeClr val="dk1"/>
                </a:solidFill>
              </a:rPr>
              <a:t>Cvrček</a:t>
            </a:r>
            <a:r>
              <a:rPr lang="en" sz="3250" dirty="0">
                <a:solidFill>
                  <a:schemeClr val="dk1"/>
                </a:solidFill>
              </a:rPr>
              <a:t>. 2023. Discourse profiling of East-West in Czech journalistic texts. Slavic Linguistics Association Conference. June 3, 2023. Harvard University. (</a:t>
            </a:r>
            <a:r>
              <a:rPr lang="en" sz="3250" dirty="0">
                <a:solidFill>
                  <a:schemeClr val="dk1"/>
                </a:solidFill>
                <a:highlight>
                  <a:srgbClr val="FFFFFF"/>
                </a:highlight>
              </a:rPr>
              <a:t>Book of abstracts </a:t>
            </a:r>
            <a:r>
              <a:rPr lang="en" sz="3250" dirty="0">
                <a:solidFill>
                  <a:schemeClr val="dk1"/>
                </a:solidFill>
              </a:rPr>
              <a:t>https://</a:t>
            </a:r>
            <a:r>
              <a:rPr lang="en" sz="3250" dirty="0" err="1">
                <a:solidFill>
                  <a:schemeClr val="dk1"/>
                </a:solidFill>
              </a:rPr>
              <a:t>slavic.fas.harvard.edu</a:t>
            </a:r>
            <a:r>
              <a:rPr lang="en" sz="3250" dirty="0">
                <a:solidFill>
                  <a:schemeClr val="dk1"/>
                </a:solidFill>
              </a:rPr>
              <a:t>/sites/</a:t>
            </a:r>
            <a:r>
              <a:rPr lang="en" sz="3250" dirty="0" err="1">
                <a:solidFill>
                  <a:schemeClr val="dk1"/>
                </a:solidFill>
              </a:rPr>
              <a:t>hwpi.harvard.edu</a:t>
            </a:r>
            <a:r>
              <a:rPr lang="en" sz="3250" dirty="0">
                <a:solidFill>
                  <a:schemeClr val="dk1"/>
                </a:solidFill>
              </a:rPr>
              <a:t>/files/</a:t>
            </a:r>
            <a:r>
              <a:rPr lang="en" sz="3250" dirty="0" err="1">
                <a:solidFill>
                  <a:schemeClr val="dk1"/>
                </a:solidFill>
              </a:rPr>
              <a:t>slavic</a:t>
            </a:r>
            <a:r>
              <a:rPr lang="en" sz="3250" dirty="0">
                <a:solidFill>
                  <a:schemeClr val="dk1"/>
                </a:solidFill>
              </a:rPr>
              <a:t>/files/sclc_2023_book_of_abstracts.pdf?m=1682453053)</a:t>
            </a:r>
            <a:endParaRPr sz="3250" dirty="0">
              <a:solidFill>
                <a:schemeClr val="dk1"/>
              </a:solidFill>
              <a:highlight>
                <a:srgbClr val="FFFFFF"/>
              </a:highlight>
            </a:endParaRPr>
          </a:p>
          <a:p>
            <a:pPr marL="360000" lvl="0" indent="-360000" algn="just" rtl="0">
              <a:lnSpc>
                <a:spcPct val="100000"/>
              </a:lnSpc>
              <a:spcBef>
                <a:spcPts val="0"/>
              </a:spcBef>
              <a:spcAft>
                <a:spcPts val="0"/>
              </a:spcAft>
              <a:buClr>
                <a:schemeClr val="dk1"/>
              </a:buClr>
              <a:buSzPct val="33846"/>
              <a:buFont typeface="Arial"/>
              <a:buNone/>
            </a:pPr>
            <a:r>
              <a:rPr lang="en" sz="3250" dirty="0" err="1">
                <a:solidFill>
                  <a:schemeClr val="dk1"/>
                </a:solidFill>
              </a:rPr>
              <a:t>Gabrielatos</a:t>
            </a:r>
            <a:r>
              <a:rPr lang="en" sz="3250" dirty="0">
                <a:solidFill>
                  <a:schemeClr val="dk1"/>
                </a:solidFill>
              </a:rPr>
              <a:t>, C., McEnery, T., Diggle, P. J. &amp; P. Baker. (2012). The peaks and troughs of corpus-based contextual analysis. </a:t>
            </a:r>
            <a:r>
              <a:rPr lang="en" sz="3250" i="1" dirty="0">
                <a:solidFill>
                  <a:schemeClr val="dk1"/>
                </a:solidFill>
              </a:rPr>
              <a:t>International Journal of Corpus Linguistics</a:t>
            </a:r>
            <a:r>
              <a:rPr lang="en" sz="3250" dirty="0">
                <a:solidFill>
                  <a:schemeClr val="dk1"/>
                </a:solidFill>
              </a:rPr>
              <a:t>, 37(2). 151-175.</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Gries, S. Th. (2024): Frequency, Dispersion, Association, and Keyness. Revising and </a:t>
            </a:r>
            <a:r>
              <a:rPr lang="en" sz="3250" dirty="0" err="1">
                <a:solidFill>
                  <a:schemeClr val="dk1"/>
                </a:solidFill>
              </a:rPr>
              <a:t>tupleizing</a:t>
            </a:r>
            <a:r>
              <a:rPr lang="en" sz="3250" dirty="0">
                <a:solidFill>
                  <a:schemeClr val="dk1"/>
                </a:solidFill>
              </a:rPr>
              <a:t> corpus-linguistic measures. John Benjamins.</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Hart, Ch. (2010). Conceptualization. In Ch. Hart (Ed.), </a:t>
            </a:r>
            <a:r>
              <a:rPr lang="en" sz="3250" i="1" dirty="0">
                <a:solidFill>
                  <a:schemeClr val="dk1"/>
                </a:solidFill>
              </a:rPr>
              <a:t>Critical discourse analysis and cognitive science</a:t>
            </a:r>
            <a:r>
              <a:rPr lang="en" sz="3250" dirty="0">
                <a:solidFill>
                  <a:schemeClr val="dk1"/>
                </a:solidFill>
              </a:rPr>
              <a:t> (pp. 105-124). Palgrave Macmillan.</a:t>
            </a:r>
          </a:p>
          <a:p>
            <a:pPr marL="360000" lvl="0" indent="-360000" algn="just">
              <a:lnSpc>
                <a:spcPct val="100000"/>
              </a:lnSpc>
              <a:buClr>
                <a:schemeClr val="dk1"/>
              </a:buClr>
              <a:buSzPct val="33846"/>
              <a:buNone/>
            </a:pPr>
            <a:r>
              <a:rPr lang="en" sz="3250" dirty="0">
                <a:solidFill>
                  <a:schemeClr val="dk1"/>
                </a:solidFill>
              </a:rPr>
              <a:t>Kučera, R. (2011). </a:t>
            </a:r>
            <a:r>
              <a:rPr lang="en" sz="3250" dirty="0" err="1">
                <a:solidFill>
                  <a:schemeClr val="dk1"/>
                </a:solidFill>
              </a:rPr>
              <a:t>Středovýchodní</a:t>
            </a:r>
            <a:r>
              <a:rPr lang="en" sz="3250" dirty="0">
                <a:solidFill>
                  <a:schemeClr val="dk1"/>
                </a:solidFill>
              </a:rPr>
              <a:t>, </a:t>
            </a:r>
            <a:r>
              <a:rPr lang="en" sz="3250" dirty="0" err="1">
                <a:solidFill>
                  <a:schemeClr val="dk1"/>
                </a:solidFill>
              </a:rPr>
              <a:t>střední</a:t>
            </a:r>
            <a:r>
              <a:rPr lang="en" sz="3250" dirty="0">
                <a:solidFill>
                  <a:schemeClr val="dk1"/>
                </a:solidFill>
              </a:rPr>
              <a:t>, </a:t>
            </a:r>
            <a:r>
              <a:rPr lang="en" sz="3250" dirty="0" err="1">
                <a:solidFill>
                  <a:schemeClr val="dk1"/>
                </a:solidFill>
              </a:rPr>
              <a:t>centrální</a:t>
            </a:r>
            <a:r>
              <a:rPr lang="en" sz="3250" dirty="0">
                <a:solidFill>
                  <a:schemeClr val="dk1"/>
                </a:solidFill>
              </a:rPr>
              <a:t>. Střední Evropa v </a:t>
            </a:r>
            <a:r>
              <a:rPr lang="en" sz="3250" dirty="0" err="1">
                <a:solidFill>
                  <a:schemeClr val="dk1"/>
                </a:solidFill>
              </a:rPr>
              <a:t>německojazyčné</a:t>
            </a:r>
            <a:r>
              <a:rPr lang="en" sz="3250" dirty="0">
                <a:solidFill>
                  <a:schemeClr val="dk1"/>
                </a:solidFill>
              </a:rPr>
              <a:t> </a:t>
            </a:r>
            <a:r>
              <a:rPr lang="en" sz="3250" dirty="0" err="1">
                <a:solidFill>
                  <a:schemeClr val="dk1"/>
                </a:solidFill>
              </a:rPr>
              <a:t>historiografii</a:t>
            </a:r>
            <a:r>
              <a:rPr lang="en" sz="3250" dirty="0">
                <a:solidFill>
                  <a:schemeClr val="dk1"/>
                </a:solidFill>
              </a:rPr>
              <a:t> 1950-2010. </a:t>
            </a:r>
            <a:r>
              <a:rPr lang="en" sz="3250" dirty="0" err="1">
                <a:solidFill>
                  <a:schemeClr val="dk1"/>
                </a:solidFill>
              </a:rPr>
              <a:t>Slovo</a:t>
            </a:r>
            <a:r>
              <a:rPr lang="en" sz="3250" dirty="0">
                <a:solidFill>
                  <a:schemeClr val="dk1"/>
                </a:solidFill>
              </a:rPr>
              <a:t> a </a:t>
            </a:r>
            <a:r>
              <a:rPr lang="en" sz="3250" dirty="0" err="1">
                <a:solidFill>
                  <a:schemeClr val="dk1"/>
                </a:solidFill>
              </a:rPr>
              <a:t>smysl</a:t>
            </a:r>
            <a:r>
              <a:rPr lang="en" sz="3250" dirty="0">
                <a:solidFill>
                  <a:schemeClr val="dk1"/>
                </a:solidFill>
              </a:rPr>
              <a:t> 16.</a:t>
            </a:r>
            <a:r>
              <a:rPr lang="en-US" sz="3250" dirty="0">
                <a:solidFill>
                  <a:schemeClr val="dk1"/>
                </a:solidFill>
              </a:rPr>
              <a:t>, http://</a:t>
            </a:r>
            <a:r>
              <a:rPr lang="en-US" sz="3250" dirty="0" err="1">
                <a:solidFill>
                  <a:schemeClr val="dk1"/>
                </a:solidFill>
              </a:rPr>
              <a:t>slovoasmysl.ff.cuni.cz</a:t>
            </a:r>
            <a:r>
              <a:rPr lang="en-US" sz="3250" dirty="0">
                <a:solidFill>
                  <a:schemeClr val="dk1"/>
                </a:solidFill>
              </a:rPr>
              <a:t>/node/450 last accessed May 12, 2026-</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Lakoff, G. (1987). </a:t>
            </a:r>
            <a:r>
              <a:rPr lang="en" sz="3250" i="1" dirty="0">
                <a:solidFill>
                  <a:schemeClr val="dk1"/>
                </a:solidFill>
              </a:rPr>
              <a:t>Women, fire, and dangerous things: What categories reveal about the mind</a:t>
            </a:r>
            <a:r>
              <a:rPr lang="en" sz="3250" dirty="0">
                <a:solidFill>
                  <a:schemeClr val="dk1"/>
                </a:solidFill>
              </a:rPr>
              <a:t>.  University of Chicago Press.</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Lakoff, G, &amp; Johnson, M. (1980). </a:t>
            </a:r>
            <a:r>
              <a:rPr lang="en" sz="3250" i="1" dirty="0">
                <a:solidFill>
                  <a:schemeClr val="dk1"/>
                </a:solidFill>
              </a:rPr>
              <a:t>Metaphors we live by</a:t>
            </a:r>
            <a:r>
              <a:rPr lang="en" sz="3250" dirty="0">
                <a:solidFill>
                  <a:schemeClr val="dk1"/>
                </a:solidFill>
              </a:rPr>
              <a:t>. Chicago: University of Chicago Press.</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err="1">
                <a:solidFill>
                  <a:schemeClr val="dk1"/>
                </a:solidFill>
              </a:rPr>
              <a:t>Langacker</a:t>
            </a:r>
            <a:r>
              <a:rPr lang="en" sz="3250" dirty="0">
                <a:solidFill>
                  <a:schemeClr val="dk1"/>
                </a:solidFill>
              </a:rPr>
              <a:t>, R. W. (1987). </a:t>
            </a:r>
            <a:r>
              <a:rPr lang="en" sz="3250" i="1" dirty="0">
                <a:solidFill>
                  <a:schemeClr val="dk1"/>
                </a:solidFill>
              </a:rPr>
              <a:t>Foundations of cognitive grammar</a:t>
            </a:r>
            <a:r>
              <a:rPr lang="en" sz="3250" dirty="0">
                <a:solidFill>
                  <a:schemeClr val="dk1"/>
                </a:solidFill>
              </a:rPr>
              <a:t>. Stanford, Calif: Stanford University Press, 1987.</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err="1">
                <a:solidFill>
                  <a:schemeClr val="dk1"/>
                </a:solidFill>
              </a:rPr>
              <a:t>Langacker</a:t>
            </a:r>
            <a:r>
              <a:rPr lang="en" sz="3250" dirty="0">
                <a:solidFill>
                  <a:schemeClr val="dk1"/>
                </a:solidFill>
              </a:rPr>
              <a:t>, R. W. (1991). </a:t>
            </a:r>
            <a:r>
              <a:rPr lang="en" sz="3250" i="1" dirty="0">
                <a:solidFill>
                  <a:schemeClr val="dk1"/>
                </a:solidFill>
              </a:rPr>
              <a:t>Concept, image, and symbol: The cognitive basis of grammar</a:t>
            </a:r>
            <a:r>
              <a:rPr lang="en" sz="3250" dirty="0">
                <a:solidFill>
                  <a:schemeClr val="dk1"/>
                </a:solidFill>
              </a:rPr>
              <a:t>. 2nd ed. Mouton de Gruyter.</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err="1">
                <a:solidFill>
                  <a:schemeClr val="dk1"/>
                </a:solidFill>
              </a:rPr>
              <a:t>Langacker</a:t>
            </a:r>
            <a:r>
              <a:rPr lang="en" sz="3250" dirty="0">
                <a:solidFill>
                  <a:schemeClr val="dk1"/>
                </a:solidFill>
              </a:rPr>
              <a:t>, R. W. (1999/2010). </a:t>
            </a:r>
            <a:r>
              <a:rPr lang="en" sz="3250" i="1" dirty="0">
                <a:solidFill>
                  <a:schemeClr val="dk1"/>
                </a:solidFill>
              </a:rPr>
              <a:t>Grammar and Conceptualization</a:t>
            </a:r>
            <a:r>
              <a:rPr lang="en" sz="3250" dirty="0">
                <a:solidFill>
                  <a:schemeClr val="dk1"/>
                </a:solidFill>
              </a:rPr>
              <a:t>. Berlin: De Gruyter Mouton.</a:t>
            </a:r>
            <a:endParaRPr sz="3250" dirty="0">
              <a:solidFill>
                <a:schemeClr val="dk1"/>
              </a:solidFill>
            </a:endParaRPr>
          </a:p>
          <a:p>
            <a:pPr marL="360000" lvl="0" indent="-360000" algn="just" rtl="0">
              <a:lnSpc>
                <a:spcPct val="100000"/>
              </a:lnSpc>
              <a:spcBef>
                <a:spcPts val="0"/>
              </a:spcBef>
              <a:spcAft>
                <a:spcPts val="0"/>
              </a:spcAft>
              <a:buClr>
                <a:schemeClr val="dk1"/>
              </a:buClr>
              <a:buSzPct val="33846"/>
              <a:buFont typeface="Arial"/>
              <a:buNone/>
            </a:pPr>
            <a:r>
              <a:rPr lang="en" sz="3250" dirty="0">
                <a:solidFill>
                  <a:schemeClr val="dk1"/>
                </a:solidFill>
              </a:rPr>
              <a:t>McEnery, T., Brezina, V., &amp;  Baker, H. (2019). Usage fluctuation analysis A new way of </a:t>
            </a:r>
            <a:r>
              <a:rPr lang="en" sz="3250" dirty="0" err="1">
                <a:solidFill>
                  <a:schemeClr val="dk1"/>
                </a:solidFill>
              </a:rPr>
              <a:t>analysing</a:t>
            </a:r>
            <a:r>
              <a:rPr lang="en" sz="3250" dirty="0">
                <a:solidFill>
                  <a:schemeClr val="dk1"/>
                </a:solidFill>
              </a:rPr>
              <a:t> shifts in historical discourse. </a:t>
            </a:r>
            <a:r>
              <a:rPr lang="en" sz="3250" i="1" dirty="0">
                <a:solidFill>
                  <a:schemeClr val="dk1"/>
                </a:solidFill>
              </a:rPr>
              <a:t>International Journal of Corpus Linguistics</a:t>
            </a:r>
            <a:r>
              <a:rPr lang="en" sz="3250" dirty="0">
                <a:solidFill>
                  <a:schemeClr val="dk1"/>
                </a:solidFill>
              </a:rPr>
              <a:t>,</a:t>
            </a:r>
            <a:r>
              <a:rPr lang="en" sz="3250" i="1" dirty="0">
                <a:solidFill>
                  <a:schemeClr val="dk1"/>
                </a:solidFill>
              </a:rPr>
              <a:t> </a:t>
            </a:r>
            <a:r>
              <a:rPr lang="en" sz="3250" dirty="0">
                <a:solidFill>
                  <a:schemeClr val="dk1"/>
                </a:solidFill>
              </a:rPr>
              <a:t>24(4). 413–444</a:t>
            </a:r>
            <a:endParaRPr dirty="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endParaRPr dirty="0"/>
          </a:p>
          <a:p>
            <a:pPr marL="0" marR="38100" lvl="0" indent="0" algn="l" rtl="0">
              <a:lnSpc>
                <a:spcPct val="114285"/>
              </a:lnSpc>
              <a:spcBef>
                <a:spcPts val="1200"/>
              </a:spcBef>
              <a:spcAft>
                <a:spcPts val="0"/>
              </a:spcAft>
              <a:buClr>
                <a:schemeClr val="dk1"/>
              </a:buClr>
              <a:buSzPts val="1100"/>
              <a:buFont typeface="Arial"/>
              <a:buNone/>
            </a:pPr>
            <a:r>
              <a:rPr lang="en" sz="2100" dirty="0" err="1">
                <a:solidFill>
                  <a:schemeClr val="dk1"/>
                </a:solidFill>
              </a:rPr>
              <a:t>ご清聴ありがとうございました</a:t>
            </a:r>
            <a:r>
              <a:rPr lang="en" sz="2100" dirty="0">
                <a:solidFill>
                  <a:schemeClr val="dk1"/>
                </a:solidFill>
              </a:rPr>
              <a:t>!</a:t>
            </a:r>
          </a:p>
          <a:p>
            <a:pPr marL="0" marR="38100" indent="0">
              <a:lnSpc>
                <a:spcPct val="114285"/>
              </a:lnSpc>
              <a:spcBef>
                <a:spcPts val="1200"/>
              </a:spcBef>
              <a:buClr>
                <a:schemeClr val="dk1"/>
              </a:buClr>
              <a:buSzPts val="1100"/>
              <a:buNone/>
            </a:pPr>
            <a:r>
              <a:rPr lang="en-US" sz="2000" dirty="0" err="1">
                <a:solidFill>
                  <a:schemeClr val="dk1"/>
                </a:solidFill>
              </a:rPr>
              <a:t>Děkujeme</a:t>
            </a:r>
            <a:r>
              <a:rPr lang="en-US" sz="2000" dirty="0">
                <a:solidFill>
                  <a:schemeClr val="dk1"/>
                </a:solidFill>
              </a:rPr>
              <a:t> za </a:t>
            </a:r>
            <a:r>
              <a:rPr lang="en-US" sz="2000" dirty="0" err="1">
                <a:solidFill>
                  <a:schemeClr val="dk1"/>
                </a:solidFill>
              </a:rPr>
              <a:t>pozornost</a:t>
            </a:r>
            <a:r>
              <a:rPr lang="en-US" sz="2000" dirty="0">
                <a:solidFill>
                  <a:schemeClr val="dk1"/>
                </a:solidFill>
              </a:rPr>
              <a:t>!</a:t>
            </a:r>
            <a:endParaRPr sz="2100" dirty="0">
              <a:solidFill>
                <a:schemeClr val="dk1"/>
              </a:solidFill>
            </a:endParaRPr>
          </a:p>
          <a:p>
            <a:pPr marL="0" lvl="0" indent="0" algn="l" rtl="0">
              <a:lnSpc>
                <a:spcPct val="115000"/>
              </a:lnSpc>
              <a:spcBef>
                <a:spcPts val="0"/>
              </a:spcBef>
              <a:spcAft>
                <a:spcPts val="1200"/>
              </a:spcAft>
              <a:buSzPts val="1800"/>
              <a:buNone/>
            </a:pPr>
            <a:endParaRPr sz="24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4756</TotalTime>
  <Words>2746</Words>
  <Application>Microsoft Macintosh PowerPoint</Application>
  <PresentationFormat>On-screen Show (16:9)</PresentationFormat>
  <Paragraphs>363</Paragraphs>
  <Slides>31</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Consolas</vt:lpstr>
      <vt:lpstr>Noto Sans JP</vt:lpstr>
      <vt:lpstr>Wingdings</vt:lpstr>
      <vt:lpstr>Cambria</vt:lpstr>
      <vt:lpstr>Simple Light</vt:lpstr>
      <vt:lpstr>言語コーパスでテキストのフレーミングを探る–  チェコメデイアでの東と西の概念</vt:lpstr>
      <vt:lpstr>お話の流れ</vt:lpstr>
      <vt:lpstr>はじめに</vt:lpstr>
      <vt:lpstr>研究方法とデータ</vt:lpstr>
      <vt:lpstr>Corpora used</vt:lpstr>
      <vt:lpstr>コーパスに使われる方法</vt:lpstr>
      <vt:lpstr>Collocation analysis (CA)　</vt:lpstr>
      <vt:lpstr>キーワード分析 (Keyword Analysis, KWA) </vt:lpstr>
      <vt:lpstr>マーケットバスケット分析(MBA)</vt:lpstr>
      <vt:lpstr>Associative links and associative arrays</vt:lpstr>
      <vt:lpstr>Companions</vt:lpstr>
      <vt:lpstr>メソッドを組み合わせる</vt:lpstr>
      <vt:lpstr>コロケートがMBAのデータを理解する上で役にたつ例</vt:lpstr>
      <vt:lpstr>Discourse prototypesを取得する過程</vt:lpstr>
      <vt:lpstr>結果について</vt:lpstr>
      <vt:lpstr>西: Top 10 持続するアソシエーション</vt:lpstr>
      <vt:lpstr>rhoが比較的低い場合のアソシエーション（ rho= 0.57)  Seed word Western &amp; association USD → collocates of USD </vt:lpstr>
      <vt:lpstr>rhoが比較的低い場合のアソシエーション　（rho=0.48)  Seed word West  &amp; association supported [by...] (→ collocates of supported [by...] </vt:lpstr>
      <vt:lpstr>rhoが比較的高い場合のアソシエーション　 (rho=0.702) 　 Seed word Western  &amp; association separatist (n) →  collocates of separatist </vt:lpstr>
      <vt:lpstr>rhoが比較的高い場合のアソシエーション (rho=0.73)  Seed word West &amp; association Kremlin → collocates of Kremlin</vt:lpstr>
      <vt:lpstr>東: Top 10 持続するアソシエーション</vt:lpstr>
      <vt:lpstr>rhoが比較的低い場合のアソシエーション (rho=0.47)  Seed Word 東（名詞） &amp; association to import → collocates of association to import</vt:lpstr>
      <vt:lpstr>rhoが比較的高い場合のアソシエーション  Seed word 東（形容詞） &amp; association business (rho=0.87) → collocates of association business</vt:lpstr>
      <vt:lpstr>rhoが比較的高い場合のアソシエーション  特に注目すべきコロケート Seed word 東（形容詞） &amp; association East-European (rho=0.87) → collocates of association East-European </vt:lpstr>
      <vt:lpstr>結論 および 未だ解決していない問題</vt:lpstr>
      <vt:lpstr>研究方法についての結論</vt:lpstr>
      <vt:lpstr>データについての結論 チェコの主要なメデイアで扱われている東と西の談話 レベルでのPrototypes</vt:lpstr>
      <vt:lpstr>PowerPoint Presentation</vt:lpstr>
      <vt:lpstr>これからの課題 </vt:lpstr>
      <vt:lpstr>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Masako Fidler</cp:lastModifiedBy>
  <cp:revision>53</cp:revision>
  <dcterms:modified xsi:type="dcterms:W3CDTF">2026-05-17T12:10:11Z</dcterms:modified>
</cp:coreProperties>
</file>